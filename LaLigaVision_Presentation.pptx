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45c4fd74-8987-7730-d87c-ec910c46621a}">
          <p14:sldIdLst>
            <p14:sldId id="256"/>
          </p14:sldIdLst>
        </p14:section>
        <p14:section name="Problem" id="{d2a74ff9-165c-4b64-c166-451c2041aeed}">
          <p14:sldIdLst/>
        </p14:section>
        <p14:section name="Default-1" id="{31c81f9a-84f3-21d3-8cf8-3a8de35e7cf3}">
          <p14:sldIdLst>
            <p14:sldId id="257"/>
            <p14:sldId id="258"/>
            <p14:sldId id="259"/>
          </p14:sldIdLst>
        </p14:section>
        <p14:section name="Data" id="{53864608-ffa0-40c6-3a47-d81df71b11ca}">
          <p14:sldIdLst/>
        </p14:section>
        <p14:section name="Default-2" id="{730d6216-43e3-1a5a-a5d4-484144b5386a}">
          <p14:sldIdLst>
            <p14:sldId id="260"/>
            <p14:sldId id="261"/>
            <p14:sldId id="262"/>
          </p14:sldIdLst>
        </p14:section>
        <p14:section name="Model" id="{3f504e9b-691d-b854-213f-e3e74361b9db}">
          <p14:sldIdLst/>
        </p14:section>
        <p14:section name="Default-3" id="{7cf82f4e-37e6-5c3b-2705-5c72d188dde1}">
          <p14:sldIdLst>
            <p14:sldId id="263"/>
            <p14:sldId id="264"/>
            <p14:sldId id="265"/>
            <p14:sldId id="266"/>
          </p14:sldIdLst>
        </p14:section>
        <p14:section name="Results" id="{3cc90981-6f60-043d-bb16-41136da44ff7}">
          <p14:sldIdLst/>
        </p14:section>
        <p14:section name="Default-4" id="{c4c35de6-c68d-0823-6b83-28df5f08e08c}">
          <p14:sldIdLst>
            <p14:sldId id="267"/>
            <p14:sldId id="268"/>
            <p14:sldId id="269"/>
          </p14:sldIdLst>
        </p14:section>
        <p14:section name="Outlook" id="{8984462f-76f8-71be-6850-948aa12f2084}">
          <p14:sldIdLst/>
        </p14:section>
        <p14:section name="Default-5" id="{c2c5b435-e508-9785-61df-628b5ccfbb67}">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Train</c:v>
                </c:pt>
              </c:strCache>
            </c:strRef>
          </c:tx>
          <c:spPr>
            <a:solidFill>
              <a:srgbClr val="3B82F6"/>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Athletic Bilbao</c:v>
                  </c:pt>
                  <c:pt idx="1">
                    <c:v>Atletico Madrid</c:v>
                  </c:pt>
                  <c:pt idx="2">
                    <c:v>Barcelona</c:v>
                  </c:pt>
                  <c:pt idx="3">
                    <c:v>Celta Vigo</c:v>
                  </c:pt>
                  <c:pt idx="4">
                    <c:v>Deportivo Alaves</c:v>
                  </c:pt>
                  <c:pt idx="5">
                    <c:v>Espanyol</c:v>
                  </c:pt>
                  <c:pt idx="6">
                    <c:v>Getafe</c:v>
                  </c:pt>
                  <c:pt idx="7">
                    <c:v>Girona</c:v>
                  </c:pt>
                  <c:pt idx="8">
                    <c:v>Las Palmas</c:v>
                  </c:pt>
                  <c:pt idx="9">
                    <c:v>Leganes</c:v>
                  </c:pt>
                  <c:pt idx="10">
                    <c:v>Mallorca</c:v>
                  </c:pt>
                  <c:pt idx="11">
                    <c:v>Osasuna</c:v>
                  </c:pt>
                  <c:pt idx="12">
                    <c:v>Rayo Vallecano</c:v>
                  </c:pt>
                  <c:pt idx="13">
                    <c:v>Real Betis</c:v>
                  </c:pt>
                  <c:pt idx="14">
                    <c:v>Real Madrid</c:v>
                  </c:pt>
                  <c:pt idx="15">
                    <c:v>Real Sociedad</c:v>
                  </c:pt>
                  <c:pt idx="16">
                    <c:v>Real Valladolid</c:v>
                  </c:pt>
                  <c:pt idx="17">
                    <c:v>Sevilla</c:v>
                  </c:pt>
                  <c:pt idx="18">
                    <c:v>Valencia</c:v>
                  </c:pt>
                  <c:pt idx="19">
                    <c:v>Villarreal</c:v>
                  </c:pt>
                </c:lvl>
              </c:multiLvlStrCache>
            </c:multiLvlStrRef>
          </c:cat>
          <c:val>
            <c:numRef>
              <c:f>Sheet1!$B$2:$B$21</c:f>
              <c:numCache>
                <c:formatCode>General</c:formatCode>
                <c:ptCount val="20"/>
                <c:pt idx="0">
                  <c:v>70</c:v>
                </c:pt>
                <c:pt idx="1">
                  <c:v>70</c:v>
                </c:pt>
                <c:pt idx="2">
                  <c:v>70</c:v>
                </c:pt>
                <c:pt idx="3">
                  <c:v>70</c:v>
                </c:pt>
                <c:pt idx="4">
                  <c:v>70</c:v>
                </c:pt>
                <c:pt idx="5">
                  <c:v>70</c:v>
                </c:pt>
                <c:pt idx="6">
                  <c:v>70</c:v>
                </c:pt>
                <c:pt idx="7">
                  <c:v>69</c:v>
                </c:pt>
                <c:pt idx="8">
                  <c:v>70</c:v>
                </c:pt>
                <c:pt idx="9">
                  <c:v>70</c:v>
                </c:pt>
                <c:pt idx="10">
                  <c:v>70</c:v>
                </c:pt>
                <c:pt idx="11">
                  <c:v>70</c:v>
                </c:pt>
                <c:pt idx="12">
                  <c:v>70</c:v>
                </c:pt>
                <c:pt idx="13">
                  <c:v>70</c:v>
                </c:pt>
                <c:pt idx="14">
                  <c:v>70</c:v>
                </c:pt>
                <c:pt idx="15">
                  <c:v>70</c:v>
                </c:pt>
                <c:pt idx="16">
                  <c:v>70</c:v>
                </c:pt>
                <c:pt idx="17">
                  <c:v>70</c:v>
                </c:pt>
                <c:pt idx="18">
                  <c:v>70</c:v>
                </c:pt>
                <c:pt idx="19">
                  <c:v>70</c:v>
                </c:pt>
              </c:numCache>
            </c:numRef>
          </c:val>
        </c:ser>
        <c:ser>
          <c:idx val="1"/>
          <c:order val="1"/>
          <c:tx>
            <c:strRef>
              <c:f>Sheet1!$C$1</c:f>
              <c:strCache>
                <c:ptCount val="1"/>
                <c:pt idx="0">
                  <c:v>Validation</c:v>
                </c:pt>
              </c:strCache>
            </c:strRef>
          </c:tx>
          <c:spPr>
            <a:solidFill>
              <a:srgbClr val="22C55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Athletic Bilbao</c:v>
                  </c:pt>
                  <c:pt idx="1">
                    <c:v>Atletico Madrid</c:v>
                  </c:pt>
                  <c:pt idx="2">
                    <c:v>Barcelona</c:v>
                  </c:pt>
                  <c:pt idx="3">
                    <c:v>Celta Vigo</c:v>
                  </c:pt>
                  <c:pt idx="4">
                    <c:v>Deportivo Alaves</c:v>
                  </c:pt>
                  <c:pt idx="5">
                    <c:v>Espanyol</c:v>
                  </c:pt>
                  <c:pt idx="6">
                    <c:v>Getafe</c:v>
                  </c:pt>
                  <c:pt idx="7">
                    <c:v>Girona</c:v>
                  </c:pt>
                  <c:pt idx="8">
                    <c:v>Las Palmas</c:v>
                  </c:pt>
                  <c:pt idx="9">
                    <c:v>Leganes</c:v>
                  </c:pt>
                  <c:pt idx="10">
                    <c:v>Mallorca</c:v>
                  </c:pt>
                  <c:pt idx="11">
                    <c:v>Osasuna</c:v>
                  </c:pt>
                  <c:pt idx="12">
                    <c:v>Rayo Vallecano</c:v>
                  </c:pt>
                  <c:pt idx="13">
                    <c:v>Real Betis</c:v>
                  </c:pt>
                  <c:pt idx="14">
                    <c:v>Real Madrid</c:v>
                  </c:pt>
                  <c:pt idx="15">
                    <c:v>Real Sociedad</c:v>
                  </c:pt>
                  <c:pt idx="16">
                    <c:v>Real Valladolid</c:v>
                  </c:pt>
                  <c:pt idx="17">
                    <c:v>Sevilla</c:v>
                  </c:pt>
                  <c:pt idx="18">
                    <c:v>Valencia</c:v>
                  </c:pt>
                  <c:pt idx="19">
                    <c:v>Villarreal</c:v>
                  </c:pt>
                </c:lvl>
              </c:multiLvlStrCache>
            </c:multiLvlStrRef>
          </c:cat>
          <c:val>
            <c:numRef>
              <c:f>Sheet1!$C$2:$C$21</c:f>
              <c:numCache>
                <c:formatCode>General</c:formatCode>
                <c:ptCount val="20"/>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numCache>
            </c:numRef>
          </c:val>
        </c:ser>
        <c:ser>
          <c:idx val="2"/>
          <c:order val="2"/>
          <c:tx>
            <c:strRef>
              <c:f>Sheet1!$D$1</c:f>
              <c:strCache>
                <c:ptCount val="1"/>
                <c:pt idx="0">
                  <c:v>Test</c:v>
                </c:pt>
              </c:strCache>
            </c:strRef>
          </c:tx>
          <c:spPr>
            <a:solidFill>
              <a:srgbClr val="F59E0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Sheet1!$A$2:$A$21</c:f>
              <c:multiLvlStrCache>
                <c:ptCount val="20"/>
                <c:lvl>
                  <c:pt idx="0">
                    <c:v>Athletic Bilbao</c:v>
                  </c:pt>
                  <c:pt idx="1">
                    <c:v>Atletico Madrid</c:v>
                  </c:pt>
                  <c:pt idx="2">
                    <c:v>Barcelona</c:v>
                  </c:pt>
                  <c:pt idx="3">
                    <c:v>Celta Vigo</c:v>
                  </c:pt>
                  <c:pt idx="4">
                    <c:v>Deportivo Alaves</c:v>
                  </c:pt>
                  <c:pt idx="5">
                    <c:v>Espanyol</c:v>
                  </c:pt>
                  <c:pt idx="6">
                    <c:v>Getafe</c:v>
                  </c:pt>
                  <c:pt idx="7">
                    <c:v>Girona</c:v>
                  </c:pt>
                  <c:pt idx="8">
                    <c:v>Las Palmas</c:v>
                  </c:pt>
                  <c:pt idx="9">
                    <c:v>Leganes</c:v>
                  </c:pt>
                  <c:pt idx="10">
                    <c:v>Mallorca</c:v>
                  </c:pt>
                  <c:pt idx="11">
                    <c:v>Osasuna</c:v>
                  </c:pt>
                  <c:pt idx="12">
                    <c:v>Rayo Vallecano</c:v>
                  </c:pt>
                  <c:pt idx="13">
                    <c:v>Real Betis</c:v>
                  </c:pt>
                  <c:pt idx="14">
                    <c:v>Real Madrid</c:v>
                  </c:pt>
                  <c:pt idx="15">
                    <c:v>Real Sociedad</c:v>
                  </c:pt>
                  <c:pt idx="16">
                    <c:v>Real Valladolid</c:v>
                  </c:pt>
                  <c:pt idx="17">
                    <c:v>Sevilla</c:v>
                  </c:pt>
                  <c:pt idx="18">
                    <c:v>Valencia</c:v>
                  </c:pt>
                  <c:pt idx="19">
                    <c:v>Villarreal</c:v>
                  </c:pt>
                </c:lvl>
              </c:multiLvlStrCache>
            </c:multiLvlStrRef>
          </c:cat>
          <c:val>
            <c:numRef>
              <c:f>Sheet1!$D$2:$D$21</c:f>
              <c:numCache>
                <c:formatCode>General</c:formatCode>
                <c:ptCount val="20"/>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C9D6F2"/>
                </a:solidFill>
                <a:latin typeface="+mn-lt"/>
              </a:defRPr>
            </a:pPr>
            <a:endParaRPr lang="en-US"/>
          </a:p>
        </c:txPr>
        <c:crossAx val="2094734552"/>
        <c:crosses val="autoZero"/>
        <c:auto val="1"/>
        <c:lblAlgn val="ctr"/>
        <c:noMultiLvlLbl val="1"/>
      </c:catAx>
      <c:valAx>
        <c:axId val="2094734552"/>
        <c:scaling>
          <c:orientation val="minMax"/>
          <c:max val="100"/>
        </c:scaling>
        <c:delete val="0"/>
        <c:axPos val="b"/>
        <c:majorGridlines>
          <c:spPr>
            <a:ln w="6350" cap="flat">
              <a:solidFill>
                <a:srgbClr val="24396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C9D6F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C9D6F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Accuracy</a:t>
            </a:r>
          </a:p>
        </c:rich>
      </c:tx>
      <c:layout/>
      <c:overlay val="0"/>
    </c:title>
    <c:autoTitleDeleted val="0"/>
    <c:plotArea>
      <c:layout/>
      <c:lineChart>
        <c:varyColors val="0"/>
        <c:ser>
          <c:idx val="0"/>
          <c:order val="0"/>
          <c:tx>
            <c:strRef>
              <c:f>Sheet1!$B$1</c:f>
              <c:strCache>
                <c:ptCount val="1"/>
                <c:pt idx="0">
                  <c:v>Training accuracy</c:v>
                </c:pt>
              </c:strCache>
            </c:strRef>
          </c:tx>
          <c:spPr>
            <a:solidFill>
              <a:srgbClr val="3B82F6"/>
            </a:solidFill>
            <a:ln w="31750" cap="flat">
              <a:solidFill>
                <a:srgbClr val="3B82F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3B82F6"/>
              </a:solidFill>
              <a:ln w="9525" cap="flat">
                <a:solidFill>
                  <a:srgbClr val="3B82F6"/>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Sheet1!$B$2:$B$31</c:f>
              <c:numCache>
                <c:formatCode>General</c:formatCode>
                <c:ptCount val="30"/>
                <c:pt idx="0">
                  <c:v>0.1058</c:v>
                </c:pt>
                <c:pt idx="1">
                  <c:v>0.2888</c:v>
                </c:pt>
                <c:pt idx="2">
                  <c:v>0.5468</c:v>
                </c:pt>
                <c:pt idx="3">
                  <c:v>0.7076</c:v>
                </c:pt>
                <c:pt idx="4">
                  <c:v>0.8292</c:v>
                </c:pt>
                <c:pt idx="5">
                  <c:v>0.8921</c:v>
                </c:pt>
                <c:pt idx="6">
                  <c:v>0.9364</c:v>
                </c:pt>
                <c:pt idx="7">
                  <c:v>0.9571</c:v>
                </c:pt>
                <c:pt idx="8">
                  <c:v>0.9757</c:v>
                </c:pt>
                <c:pt idx="9">
                  <c:v>0.9628</c:v>
                </c:pt>
                <c:pt idx="10">
                  <c:v>0.9807</c:v>
                </c:pt>
                <c:pt idx="11">
                  <c:v>0.98</c:v>
                </c:pt>
                <c:pt idx="12">
                  <c:v>0.9843</c:v>
                </c:pt>
                <c:pt idx="13">
                  <c:v>0.9943</c:v>
                </c:pt>
                <c:pt idx="14">
                  <c:v>0.9893</c:v>
                </c:pt>
                <c:pt idx="15">
                  <c:v>0.9921</c:v>
                </c:pt>
                <c:pt idx="16">
                  <c:v>0.9907</c:v>
                </c:pt>
                <c:pt idx="17">
                  <c:v>0.9957</c:v>
                </c:pt>
                <c:pt idx="18">
                  <c:v>0.9936</c:v>
                </c:pt>
                <c:pt idx="19">
                  <c:v>0.9964</c:v>
                </c:pt>
                <c:pt idx="20">
                  <c:v>0.9979</c:v>
                </c:pt>
                <c:pt idx="21">
                  <c:v>0.9971</c:v>
                </c:pt>
                <c:pt idx="22">
                  <c:v>0.9957</c:v>
                </c:pt>
                <c:pt idx="23">
                  <c:v>0.9971</c:v>
                </c:pt>
                <c:pt idx="24">
                  <c:v>0.9986</c:v>
                </c:pt>
                <c:pt idx="25">
                  <c:v>0.9979</c:v>
                </c:pt>
                <c:pt idx="26">
                  <c:v>0.9971</c:v>
                </c:pt>
                <c:pt idx="27">
                  <c:v>0.9971</c:v>
                </c:pt>
                <c:pt idx="28">
                  <c:v>0.9979</c:v>
                </c:pt>
                <c:pt idx="29">
                  <c:v>1</c:v>
                </c:pt>
              </c:numCache>
            </c:numRef>
          </c:val>
          <c:smooth val="0"/>
        </c:ser>
        <c:ser>
          <c:idx val="1"/>
          <c:order val="1"/>
          <c:tx>
            <c:strRef>
              <c:f>Sheet1!$C$1</c:f>
              <c:strCache>
                <c:ptCount val="1"/>
                <c:pt idx="0">
                  <c:v>Validation accuracy</c:v>
                </c:pt>
              </c:strCache>
            </c:strRef>
          </c:tx>
          <c:spPr>
            <a:solidFill>
              <a:srgbClr val="22C55E"/>
            </a:solidFill>
            <a:ln w="31750" cap="flat">
              <a:solidFill>
                <a:srgbClr val="22C55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2C55E"/>
              </a:solidFill>
              <a:ln w="9525" cap="flat">
                <a:solidFill>
                  <a:srgbClr val="22C55E"/>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Sheet1!$C$2:$C$31</c:f>
              <c:numCache>
                <c:formatCode>General</c:formatCode>
                <c:ptCount val="30"/>
                <c:pt idx="0">
                  <c:v>0.2667</c:v>
                </c:pt>
                <c:pt idx="1">
                  <c:v>0.72</c:v>
                </c:pt>
                <c:pt idx="2">
                  <c:v>0.7333</c:v>
                </c:pt>
                <c:pt idx="3">
                  <c:v>0.88</c:v>
                </c:pt>
                <c:pt idx="4">
                  <c:v>0.9933</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C9D6F2"/>
                    </a:solidFill>
                    <a:latin typeface="+mn-lt"/>
                  </a:defRPr>
                </a:pPr>
                <a:r>
                  <a:rPr sz="1100" b="0" i="0" u="none" strike="noStrike">
                    <a:solidFill>
                      <a:srgbClr val="C9D6F2"/>
                    </a:solidFill>
                    <a:latin typeface="+mn-lt"/>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9D6F2"/>
                </a:solidFill>
                <a:latin typeface="+mn-lt"/>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24396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C9D6F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C9D6F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FFFFF"/>
                </a:solidFill>
                <a:latin typeface="+mn-lt"/>
              </a:defRPr>
            </a:pPr>
            <a:r>
              <a:rPr sz="1400" b="0" i="0" u="none" strike="noStrike">
                <a:solidFill>
                  <a:srgbClr val="FFFFFF"/>
                </a:solidFill>
                <a:latin typeface="+mn-lt"/>
              </a:rPr>
              <a:t>Loss</a:t>
            </a:r>
          </a:p>
        </c:rich>
      </c:tx>
      <c:layout/>
      <c:overlay val="0"/>
    </c:title>
    <c:autoTitleDeleted val="0"/>
    <c:plotArea>
      <c:layout/>
      <c:lineChart>
        <c:varyColors val="0"/>
        <c:ser>
          <c:idx val="0"/>
          <c:order val="0"/>
          <c:tx>
            <c:strRef>
              <c:f>Sheet1!$B$1</c:f>
              <c:strCache>
                <c:ptCount val="1"/>
                <c:pt idx="0">
                  <c:v>Training loss</c:v>
                </c:pt>
              </c:strCache>
            </c:strRef>
          </c:tx>
          <c:spPr>
            <a:solidFill>
              <a:srgbClr val="3B82F6"/>
            </a:solidFill>
            <a:ln w="31750" cap="flat">
              <a:solidFill>
                <a:srgbClr val="3B82F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3B82F6"/>
              </a:solidFill>
              <a:ln w="9525" cap="flat">
                <a:solidFill>
                  <a:srgbClr val="3B82F6"/>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Sheet1!$B$2:$B$31</c:f>
              <c:numCache>
                <c:formatCode>General</c:formatCode>
                <c:ptCount val="30"/>
                <c:pt idx="0">
                  <c:v>2.8773</c:v>
                </c:pt>
                <c:pt idx="1">
                  <c:v>2.1516</c:v>
                </c:pt>
                <c:pt idx="2">
                  <c:v>1.2881</c:v>
                </c:pt>
                <c:pt idx="3">
                  <c:v>0.8099</c:v>
                </c:pt>
                <c:pt idx="4">
                  <c:v>0.5109</c:v>
                </c:pt>
                <c:pt idx="5">
                  <c:v>0.3258</c:v>
                </c:pt>
                <c:pt idx="6">
                  <c:v>0.2003</c:v>
                </c:pt>
                <c:pt idx="7">
                  <c:v>0.1565</c:v>
                </c:pt>
                <c:pt idx="8">
                  <c:v>0.1021</c:v>
                </c:pt>
                <c:pt idx="9">
                  <c:v>0.1224</c:v>
                </c:pt>
                <c:pt idx="10">
                  <c:v>0.0762</c:v>
                </c:pt>
                <c:pt idx="11">
                  <c:v>0.0725</c:v>
                </c:pt>
                <c:pt idx="12">
                  <c:v>0.0525</c:v>
                </c:pt>
                <c:pt idx="13">
                  <c:v>0.0396</c:v>
                </c:pt>
                <c:pt idx="14">
                  <c:v>0.0366</c:v>
                </c:pt>
                <c:pt idx="15">
                  <c:v>0.0296</c:v>
                </c:pt>
                <c:pt idx="16">
                  <c:v>0.0303</c:v>
                </c:pt>
                <c:pt idx="17">
                  <c:v>0.016</c:v>
                </c:pt>
                <c:pt idx="18">
                  <c:v>0.0296</c:v>
                </c:pt>
                <c:pt idx="19">
                  <c:v>0.0176</c:v>
                </c:pt>
                <c:pt idx="20">
                  <c:v>0.0113</c:v>
                </c:pt>
                <c:pt idx="21">
                  <c:v>0.0125</c:v>
                </c:pt>
                <c:pt idx="22">
                  <c:v>0.0153</c:v>
                </c:pt>
                <c:pt idx="23">
                  <c:v>0.0115</c:v>
                </c:pt>
                <c:pt idx="24">
                  <c:v>0.0096</c:v>
                </c:pt>
                <c:pt idx="25">
                  <c:v>0.0116</c:v>
                </c:pt>
                <c:pt idx="26">
                  <c:v>0.0089</c:v>
                </c:pt>
                <c:pt idx="27">
                  <c:v>0.0115</c:v>
                </c:pt>
                <c:pt idx="28">
                  <c:v>0.0126</c:v>
                </c:pt>
                <c:pt idx="29">
                  <c:v>0.0078</c:v>
                </c:pt>
              </c:numCache>
            </c:numRef>
          </c:val>
          <c:smooth val="0"/>
        </c:ser>
        <c:ser>
          <c:idx val="1"/>
          <c:order val="1"/>
          <c:tx>
            <c:strRef>
              <c:f>Sheet1!$C$1</c:f>
              <c:strCache>
                <c:ptCount val="1"/>
                <c:pt idx="0">
                  <c:v>Validation loss</c:v>
                </c:pt>
              </c:strCache>
            </c:strRef>
          </c:tx>
          <c:spPr>
            <a:solidFill>
              <a:srgbClr val="22C55E"/>
            </a:solidFill>
            <a:ln w="31750" cap="flat">
              <a:solidFill>
                <a:srgbClr val="22C55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22C55E"/>
              </a:solidFill>
              <a:ln w="9525" cap="flat">
                <a:solidFill>
                  <a:srgbClr val="22C55E"/>
                </a:solidFill>
                <a:prstDash val="solid"/>
                <a:round/>
              </a:ln>
              <a:effectLst/>
            </c:spPr>
          </c:marker>
          <c:cat>
            <c:multiLvlStrRef>
              <c:f>Sheet1!$A$2:$A$31</c:f>
              <c:multiLvlStrCache>
                <c:ptCount val="3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lvl>
              </c:multiLvlStrCache>
            </c:multiLvlStrRef>
          </c:cat>
          <c:val>
            <c:numRef>
              <c:f>Sheet1!$C$2:$C$31</c:f>
              <c:numCache>
                <c:formatCode>General</c:formatCode>
                <c:ptCount val="30"/>
                <c:pt idx="0">
                  <c:v>2.4288</c:v>
                </c:pt>
                <c:pt idx="1">
                  <c:v>1.3832</c:v>
                </c:pt>
                <c:pt idx="2">
                  <c:v>0.7034</c:v>
                </c:pt>
                <c:pt idx="3">
                  <c:v>0.3867</c:v>
                </c:pt>
                <c:pt idx="4">
                  <c:v>0.1542</c:v>
                </c:pt>
                <c:pt idx="5">
                  <c:v>0.0847</c:v>
                </c:pt>
                <c:pt idx="6">
                  <c:v>0.0352</c:v>
                </c:pt>
                <c:pt idx="7">
                  <c:v>0.03</c:v>
                </c:pt>
                <c:pt idx="8">
                  <c:v>0.0488</c:v>
                </c:pt>
                <c:pt idx="9">
                  <c:v>0.0149</c:v>
                </c:pt>
                <c:pt idx="10">
                  <c:v>0.0056</c:v>
                </c:pt>
                <c:pt idx="11">
                  <c:v>0.003</c:v>
                </c:pt>
                <c:pt idx="12">
                  <c:v>0.0042</c:v>
                </c:pt>
                <c:pt idx="13">
                  <c:v>0.0012</c:v>
                </c:pt>
                <c:pt idx="14">
                  <c:v>0.001</c:v>
                </c:pt>
                <c:pt idx="15">
                  <c:v>0.00081687</c:v>
                </c:pt>
                <c:pt idx="16">
                  <c:v>0.0022</c:v>
                </c:pt>
                <c:pt idx="17">
                  <c:v>0.00050599</c:v>
                </c:pt>
                <c:pt idx="18">
                  <c:v>0.0027</c:v>
                </c:pt>
                <c:pt idx="19">
                  <c:v>0.00071382</c:v>
                </c:pt>
                <c:pt idx="20">
                  <c:v>0.00025463</c:v>
                </c:pt>
                <c:pt idx="21">
                  <c:v>0.00012554</c:v>
                </c:pt>
                <c:pt idx="22">
                  <c:v>0.00028676</c:v>
                </c:pt>
                <c:pt idx="23">
                  <c:v>0.00028689</c:v>
                </c:pt>
                <c:pt idx="24">
                  <c:v>0.0011</c:v>
                </c:pt>
                <c:pt idx="25">
                  <c:v>0.0012</c:v>
                </c:pt>
                <c:pt idx="26">
                  <c:v>0.00012181</c:v>
                </c:pt>
                <c:pt idx="27">
                  <c:v>0.00015346</c:v>
                </c:pt>
                <c:pt idx="28">
                  <c:v>0.00023461</c:v>
                </c:pt>
                <c:pt idx="29">
                  <c:v>0.00033422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C9D6F2"/>
                    </a:solidFill>
                    <a:latin typeface="+mn-lt"/>
                  </a:defRPr>
                </a:pPr>
                <a:r>
                  <a:rPr sz="1100" b="0" i="0" u="none" strike="noStrike">
                    <a:solidFill>
                      <a:srgbClr val="C9D6F2"/>
                    </a:solidFill>
                    <a:latin typeface="+mn-lt"/>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C9D6F2"/>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24396B"/>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C9D6F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C9D6F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 custom convolutional neural network, built in TensorFlow/Keras, that classifies club crests into 20 LaLiga teams. Everything in this deck is taken from the project notebook; where the notebook is silent, the slide says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builds a CNN that classifies club logos into 20 LaLiga teams. It covers preprocessing, data inspection, augmentation, model development, training, evaluation, and prediction on uploaded images. The model returns the predicted team plus softmax scores over the 20 known classes.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Motivation points are general use cases, not features implemented in the notebook. The challenges listed are visible in the notebook's own sample plot: crests share motifs such as shields, stripes, crowns and balls, and the images vary in size and 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objectives are taken from the notebook's own project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Kaggle dataset gorororororo23/laliga-team-logos-dataset-for-cnn, downloaded with kagglehub. The scan found 20 class folders with exactly 100 images each (2,000 total), no corrupted files, and all images in RGB mode. Image sizes vary; the two most common sizes are 225×225 and 194×260 (200 images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12-image grid is the notebook's own random sample (seed 42). Exact-duplicate detection used SHA-256 hashes of file bytes: one duplicate pair (Girona/img20.jpg and Girona/img48.jpg) was found, and the second file was dropped from the working list, leaving 1,999 images. The grid shows rotated crops, black fill regions and some inverted or mirrored-looking orientations. That is our visual reading of the plot, not a result the notebook states, but it supports the near-duplicate concern raised later. Only exact duplicates were checked, not perceptually similar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tf.data pipeline: read file, decode to 3 channels, resize to 224×224, scale to [0,1], batch 32, prefetch. The training set is shuffled with seed 42 (buffer = dataset size). Splits come from two stratified train_test_split calls with random_state=42: 70% train, then the remaining 30% divided 50/50 into validation and test. Girona has 69 training images because of the removed duplicate. Overlap checks compared file paths only; they do not detect near-duplicate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Augmentation is built as the first layer group inside the model, so it is applied on the fly during training only (Keras random layers are inactive at inference). The figure shows originals (top) and augmented versions (bottom, titled with the class). The notebook excluded horizontal flipping to preserve logo orientation, and the dataset samples already contain rotated variants, so the augmentation is applied on top of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refresher for a technical audience. A convolution slides small learnable filters over the image to detect local patterns. ReLU adds non-linearity. Max pooling halves spatial size and keeps the strongest responses. Stacked blocks move from edges to shapes to larger crest parts. Global average pooling collapses each feature map to one number. Dense layers and softmax turn those features into class probabilities.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layer sequence from model.summary(). Convolutions use 3×3 kernels with 'same' padding and ReLU; each is followed by 2×2 max pooling. Parameter counts: Conv2D 896 + 18,496 + 73,856, Dense 16,512, output Dense 2,580; total 112,340 (438.83 KB), all trainable. The augmentation block adds no parameters and is active only during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come from the compile and fit cells. EarlyStopping (patience 6) never fired: the run completed all 30 epochs, and best weights were restored from epoch 27. ReduceLROnPlateau reduced the learning rate five times (after epochs 20, 24, 26, 28 and 30). ModelCheckpoint saved best_laliga_cnn.keras by validation loss. The notebook does not specify a weight initialiser or hardware, so neither is claimed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Curves are rebuilt as native charts from the per-epoch values printed in the notebook's training log (30 epochs). Validation accuracy first reaches 0.9933 at epoch 5 and is 1.0000 from epoch 6 onward. Best validation loss: 1.2181e-04 at epoch 27 (restored). Training metrics are averaged over each epoch with augmentation and dropout active, which is why they trail validation values early on. Validation accuracy saturating at 100% from epoch 6 means the validation set no longer discriminates between epochs, so it should not be read as proof of real-world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Evaluated once on the held-out 300-image test set (15 per class). Test accuracy 100.0000%, test loss 0.000125; precision, recall and F1 are 1.0000 for all 20 classes, and the model predicted exactly 15 images per class, so the confusion matrix is purely diagonal. These numbers describe this particular split only. Because the dataset appears to contain many near-identical variants of each crest, the test set may not be independent of training; a perfect score here should not be read as proof of generalisation.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images were uploaded in Colab (img12.jpg, img1.jpg, img13.jpg, img18.jpg) and passed through the same preprocessing. The model returned Leganes, Athletic Bilbao, Barcelona (99.98%) and Real Madrid, and each prediction agrees with the crest visible in the image. However, the notebook does not record ground-truth labels or the origin of these files; the filenames follow the dataset's imgN.jpg naming and the images show the same rotated, black-filled look as dataset samples. They may therefore come from the dataset itself, so we do not present them as independent external validation. Softmax scores are relative confidence among the 20 classes, not a guarantee of correctness.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column: findings documented in or directly visible in the notebook. Right column: concerns that follow from them but have not been measured in the notebook. The central issue is that the test score is perfect and validation hit 100% by epoch 6, while the dataset samples look like many variants of one crest per club. A split that places similar variants in both training and test sets can overstate generalisation. This was not quantified, so it is stated as a concern.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slide is proposed future work taken from the notebook's own recommendations; none of it has been done. Grouped splitting means clustering near-duplicates (e.g. by perceptual hash or embedding similarity) and keeping each cluster inside a single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an end-to-end TensorFlow/Keras workflow with a small custom CNN (112,340 parameters), a clean stratified split, augmentation and callbacks. The model reached 100% test accuracy on the current split. The honest takeaway is that this validates the pipeline, while real-world generalisation still needs independent testing and a similarity-aware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invite questions. Likely questions: why 100% accuracy (near-duplicate concern), why no horizontal flip (orientation of logo details), and what the next evaluation step would be (grouped split plus truly external crests).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B1530"/>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B153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indent="0" marL="0">
              <a:buNone/>
            </a:pPr>
            <a:r>
              <a:rPr lang="en-US" sz="1000" dirty="0">
                <a:solidFill>
                  <a:srgbClr val="C9D6F2"/>
                </a:solidFill>
              </a:rPr>
              <a:t>LaLigaVision  |  CNN-Based Football Club Logo Classification</a:t>
            </a:r>
            <a:endParaRPr lang="en-US" sz="10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3.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3.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7223760" y="822960"/>
            <a:ext cx="4754880" cy="4754880"/>
          </a:xfrm>
          <a:prstGeom prst="ellipse">
            <a:avLst/>
          </a:prstGeom>
          <a:ln w="25400">
            <a:solidFill>
              <a:srgbClr val="24396B"/>
            </a:solidFill>
            <a:prstDash val="solid"/>
          </a:ln>
        </p:spPr>
      </p:sp>
      <p:sp>
        <p:nvSpPr>
          <p:cNvPr id="3" name="Shape 1"/>
          <p:cNvSpPr/>
          <p:nvPr/>
        </p:nvSpPr>
        <p:spPr>
          <a:xfrm>
            <a:off x="9601200" y="0"/>
            <a:ext cx="0" cy="6858000"/>
          </a:xfrm>
          <a:prstGeom prst="line">
            <a:avLst/>
          </a:prstGeom>
          <a:noFill/>
          <a:ln w="25400">
            <a:solidFill>
              <a:srgbClr val="24396B"/>
            </a:solidFill>
            <a:prstDash val="solid"/>
          </a:ln>
        </p:spPr>
      </p:sp>
      <p:sp>
        <p:nvSpPr>
          <p:cNvPr id="4" name="Shape 2"/>
          <p:cNvSpPr/>
          <p:nvPr/>
        </p:nvSpPr>
        <p:spPr>
          <a:xfrm>
            <a:off x="10424160" y="2011680"/>
            <a:ext cx="1828800" cy="2834640"/>
          </a:xfrm>
          <a:prstGeom prst="rect">
            <a:avLst/>
          </a:prstGeom>
          <a:ln w="25400">
            <a:solidFill>
              <a:srgbClr val="24396B"/>
            </a:solidFill>
            <a:prstDash val="solid"/>
          </a:ln>
        </p:spPr>
      </p:sp>
      <p:sp>
        <p:nvSpPr>
          <p:cNvPr id="5" name="Feature map 1"/>
          <p:cNvSpPr/>
          <p:nvPr/>
        </p:nvSpPr>
        <p:spPr>
          <a:xfrm>
            <a:off x="7863840" y="1920240"/>
            <a:ext cx="2103120" cy="2103120"/>
          </a:xfrm>
          <a:prstGeom prst="roundRect">
            <a:avLst>
              <a:gd name="adj" fmla="val 4348"/>
            </a:avLst>
          </a:prstGeom>
          <a:solidFill>
            <a:srgbClr val="14234A"/>
          </a:solidFill>
          <a:ln w="19050">
            <a:solidFill>
              <a:srgbClr val="3B82F6"/>
            </a:solidFill>
            <a:prstDash val="solid"/>
          </a:ln>
        </p:spPr>
      </p:sp>
      <p:sp>
        <p:nvSpPr>
          <p:cNvPr id="6" name="Feature map 2"/>
          <p:cNvSpPr/>
          <p:nvPr/>
        </p:nvSpPr>
        <p:spPr>
          <a:xfrm>
            <a:off x="8321040" y="2377440"/>
            <a:ext cx="1737360" cy="1737360"/>
          </a:xfrm>
          <a:prstGeom prst="roundRect">
            <a:avLst>
              <a:gd name="adj" fmla="val 5263"/>
            </a:avLst>
          </a:prstGeom>
          <a:solidFill>
            <a:srgbClr val="14234A"/>
          </a:solidFill>
          <a:ln w="19050">
            <a:solidFill>
              <a:srgbClr val="3B82F6"/>
            </a:solidFill>
            <a:prstDash val="solid"/>
          </a:ln>
        </p:spPr>
      </p:sp>
      <p:sp>
        <p:nvSpPr>
          <p:cNvPr id="7" name="Feature map 3"/>
          <p:cNvSpPr/>
          <p:nvPr/>
        </p:nvSpPr>
        <p:spPr>
          <a:xfrm>
            <a:off x="8732520" y="2788920"/>
            <a:ext cx="1371600" cy="1371600"/>
          </a:xfrm>
          <a:prstGeom prst="roundRect">
            <a:avLst>
              <a:gd name="adj" fmla="val 6667"/>
            </a:avLst>
          </a:prstGeom>
          <a:solidFill>
            <a:srgbClr val="22C55E"/>
          </a:solidFill>
          <a:ln w="19050">
            <a:solidFill>
              <a:srgbClr val="22C55E"/>
            </a:solidFill>
            <a:prstDash val="solid"/>
          </a:ln>
        </p:spPr>
      </p:sp>
      <p:pic>
        <p:nvPicPr>
          <p:cNvPr id="8" name="Image 0" descr="preencoded.png">    </p:cNvPr>
          <p:cNvPicPr>
            <a:picLocks noChangeAspect="1"/>
          </p:cNvPicPr>
          <p:nvPr/>
        </p:nvPicPr>
        <p:blipFill>
          <a:blip r:embed="rId1"/>
          <a:stretch>
            <a:fillRect/>
          </a:stretch>
        </p:blipFill>
        <p:spPr>
          <a:xfrm>
            <a:off x="9098280" y="3154680"/>
            <a:ext cx="640080" cy="640080"/>
          </a:xfrm>
          <a:prstGeom prst="rect">
            <a:avLst/>
          </a:prstGeom>
        </p:spPr>
      </p:pic>
      <p:sp>
        <p:nvSpPr>
          <p:cNvPr id="9" name="Text 6"/>
          <p:cNvSpPr txBox="1"/>
          <p:nvPr/>
        </p:nvSpPr>
        <p:spPr>
          <a:xfrm>
            <a:off x="731520" y="1417320"/>
            <a:ext cx="6400800" cy="320040"/>
          </a:xfrm>
          <a:prstGeom prst="rect">
            <a:avLst/>
          </a:prstGeom>
          <a:noFill/>
          <a:ln/>
        </p:spPr>
        <p:txBody>
          <a:bodyPr wrap="square" lIns="0" tIns="0" rIns="0" bIns="0" rtlCol="0" anchor="ctr"/>
          <a:lstStyle/>
          <a:p>
            <a:pPr indent="0" marL="0">
              <a:buNone/>
            </a:pPr>
            <a:r>
              <a:rPr lang="en-US" sz="1300" b="1" spc="400" kern="0" dirty="0">
                <a:solidFill>
                  <a:schemeClr val="accent1"/>
                </a:solidFill>
              </a:rPr>
              <a:t>LALIGA  ·  COMPUTER VISION  ·  DEEP LEARNING</a:t>
            </a:r>
            <a:endParaRPr lang="en-US" sz="1300" dirty="0"/>
          </a:p>
        </p:txBody>
      </p:sp>
      <p:sp>
        <p:nvSpPr>
          <p:cNvPr id="10" name="Text 7"/>
          <p:cNvSpPr txBox="1"/>
          <p:nvPr/>
        </p:nvSpPr>
        <p:spPr>
          <a:xfrm>
            <a:off x="731520" y="1920240"/>
            <a:ext cx="6583680" cy="118872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LaLigaVision</a:t>
            </a:r>
            <a:endParaRPr lang="en-US" sz="6600" dirty="0"/>
          </a:p>
        </p:txBody>
      </p:sp>
      <p:sp>
        <p:nvSpPr>
          <p:cNvPr id="11" name="Text 8"/>
          <p:cNvSpPr txBox="1"/>
          <p:nvPr/>
        </p:nvSpPr>
        <p:spPr>
          <a:xfrm>
            <a:off x="731520" y="3200400"/>
            <a:ext cx="6217920" cy="914400"/>
          </a:xfrm>
          <a:prstGeom prst="rect">
            <a:avLst/>
          </a:prstGeom>
          <a:noFill/>
          <a:ln/>
        </p:spPr>
        <p:txBody>
          <a:bodyPr wrap="square" lIns="0" tIns="0" rIns="0" bIns="0" rtlCol="0" anchor="t"/>
          <a:lstStyle/>
          <a:p>
            <a:pPr indent="0" marL="0">
              <a:buNone/>
            </a:pPr>
            <a:r>
              <a:rPr lang="en-US" sz="2600" dirty="0">
                <a:solidFill>
                  <a:schemeClr val="bg2"/>
                </a:solidFill>
              </a:rPr>
              <a:t>CNN-Based Football Club Logo Classification</a:t>
            </a:r>
            <a:endParaRPr lang="en-US" sz="2600" dirty="0"/>
          </a:p>
        </p:txBody>
      </p:sp>
      <p:sp>
        <p:nvSpPr>
          <p:cNvPr id="12" name="Text 9"/>
          <p:cNvSpPr txBox="1"/>
          <p:nvPr/>
        </p:nvSpPr>
        <p:spPr>
          <a:xfrm>
            <a:off x="731520" y="4572000"/>
            <a:ext cx="6400800" cy="365760"/>
          </a:xfrm>
          <a:prstGeom prst="rect">
            <a:avLst/>
          </a:prstGeom>
          <a:noFill/>
          <a:ln/>
        </p:spPr>
        <p:txBody>
          <a:bodyPr wrap="square" lIns="0" tIns="0" rIns="0" bIns="0" rtlCol="0" anchor="ctr"/>
          <a:lstStyle/>
          <a:p>
            <a:pPr indent="0" marL="0">
              <a:buNone/>
            </a:pPr>
            <a:r>
              <a:rPr lang="en-US" sz="1600" dirty="0">
                <a:solidFill>
                  <a:schemeClr val="bg2"/>
                </a:solidFill>
              </a:rPr>
              <a:t>20 LaLiga clubs  |  1,999 images  |  Custom TensorFlow / Keras CNN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Project Overview</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OVERVIEW</a:t>
            </a:r>
            <a:endParaRPr lang="en-US" sz="1200" dirty="0"/>
          </a:p>
        </p:txBody>
      </p:sp>
      <p:sp>
        <p:nvSpPr>
          <p:cNvPr id="5" name="Flow card 1"/>
          <p:cNvSpPr/>
          <p:nvPr/>
        </p:nvSpPr>
        <p:spPr>
          <a:xfrm>
            <a:off x="548640" y="1600200"/>
            <a:ext cx="2423160" cy="2011680"/>
          </a:xfrm>
          <a:prstGeom prst="roundRect">
            <a:avLst>
              <a:gd name="adj" fmla="val 5455"/>
            </a:avLst>
          </a:prstGeom>
          <a:solidFill>
            <a:schemeClr val="tx2"/>
          </a:solidFill>
          <a:ln w="9525">
            <a:solidFill>
              <a:srgbClr val="24396B"/>
            </a:solidFill>
            <a:prstDash val="solid"/>
          </a:ln>
        </p:spPr>
      </p:sp>
      <p:sp>
        <p:nvSpPr>
          <p:cNvPr id="6" name="Shape 3"/>
          <p:cNvSpPr/>
          <p:nvPr/>
        </p:nvSpPr>
        <p:spPr>
          <a:xfrm>
            <a:off x="822960" y="1828800"/>
            <a:ext cx="594360" cy="594360"/>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953719" y="1959559"/>
            <a:ext cx="332842" cy="332842"/>
          </a:xfrm>
          <a:prstGeom prst="rect">
            <a:avLst/>
          </a:prstGeom>
        </p:spPr>
      </p:pic>
      <p:sp>
        <p:nvSpPr>
          <p:cNvPr id="8" name="Text 4"/>
          <p:cNvSpPr txBox="1"/>
          <p:nvPr/>
        </p:nvSpPr>
        <p:spPr>
          <a:xfrm>
            <a:off x="822960" y="2560320"/>
            <a:ext cx="1965960" cy="365760"/>
          </a:xfrm>
          <a:prstGeom prst="rect">
            <a:avLst/>
          </a:prstGeom>
          <a:noFill/>
          <a:ln/>
        </p:spPr>
        <p:txBody>
          <a:bodyPr wrap="square" lIns="0" tIns="0" rIns="0" bIns="0" rtlCol="0" anchor="t"/>
          <a:lstStyle/>
          <a:p>
            <a:pPr indent="0" marL="0">
              <a:buNone/>
            </a:pPr>
            <a:r>
              <a:rPr lang="en-US" sz="2000" b="1" dirty="0">
                <a:solidFill>
                  <a:schemeClr val="bg1"/>
                </a:solidFill>
              </a:rPr>
              <a:t>Logo image</a:t>
            </a:r>
            <a:endParaRPr lang="en-US" sz="2000" dirty="0"/>
          </a:p>
        </p:txBody>
      </p:sp>
      <p:sp>
        <p:nvSpPr>
          <p:cNvPr id="9" name="Text 5"/>
          <p:cNvSpPr txBox="1"/>
          <p:nvPr/>
        </p:nvSpPr>
        <p:spPr>
          <a:xfrm>
            <a:off x="822960" y="2926080"/>
            <a:ext cx="1965960" cy="548640"/>
          </a:xfrm>
          <a:prstGeom prst="rect">
            <a:avLst/>
          </a:prstGeom>
          <a:noFill/>
          <a:ln/>
        </p:spPr>
        <p:txBody>
          <a:bodyPr wrap="square" lIns="0" tIns="0" rIns="0" bIns="0" rtlCol="0" anchor="t"/>
          <a:lstStyle/>
          <a:p>
            <a:pPr indent="0" marL="0">
              <a:buNone/>
            </a:pPr>
            <a:r>
              <a:rPr lang="en-US" sz="1400" dirty="0">
                <a:solidFill>
                  <a:schemeClr val="bg2"/>
                </a:solidFill>
              </a:rPr>
              <a:t>Any RGB crest image</a:t>
            </a:r>
            <a:endParaRPr lang="en-US" sz="1400" dirty="0"/>
          </a:p>
        </p:txBody>
      </p:sp>
      <p:pic>
        <p:nvPicPr>
          <p:cNvPr id="10" name="Image 1" descr="preencoded.png">    </p:cNvPr>
          <p:cNvPicPr>
            <a:picLocks noChangeAspect="1"/>
          </p:cNvPicPr>
          <p:nvPr/>
        </p:nvPicPr>
        <p:blipFill>
          <a:blip r:embed="rId2"/>
          <a:stretch>
            <a:fillRect/>
          </a:stretch>
        </p:blipFill>
        <p:spPr>
          <a:xfrm>
            <a:off x="3081528" y="2468880"/>
            <a:ext cx="237744" cy="237744"/>
          </a:xfrm>
          <a:prstGeom prst="rect">
            <a:avLst/>
          </a:prstGeom>
        </p:spPr>
      </p:pic>
      <p:sp>
        <p:nvSpPr>
          <p:cNvPr id="11" name="Flow card 2"/>
          <p:cNvSpPr/>
          <p:nvPr/>
        </p:nvSpPr>
        <p:spPr>
          <a:xfrm>
            <a:off x="3429000" y="1600200"/>
            <a:ext cx="2423160" cy="2011680"/>
          </a:xfrm>
          <a:prstGeom prst="roundRect">
            <a:avLst>
              <a:gd name="adj" fmla="val 5455"/>
            </a:avLst>
          </a:prstGeom>
          <a:solidFill>
            <a:schemeClr val="tx2"/>
          </a:solidFill>
          <a:ln w="9525">
            <a:solidFill>
              <a:srgbClr val="24396B"/>
            </a:solidFill>
            <a:prstDash val="solid"/>
          </a:ln>
        </p:spPr>
      </p:sp>
      <p:sp>
        <p:nvSpPr>
          <p:cNvPr id="12" name="Shape 7"/>
          <p:cNvSpPr/>
          <p:nvPr/>
        </p:nvSpPr>
        <p:spPr>
          <a:xfrm>
            <a:off x="3703320" y="1828800"/>
            <a:ext cx="594360" cy="594360"/>
          </a:xfrm>
          <a:prstGeom prst="ellipse">
            <a:avLst/>
          </a:prstGeom>
          <a:solidFill>
            <a:schemeClr val="accent2"/>
          </a:solidFill>
          <a:ln/>
        </p:spPr>
      </p:sp>
      <p:pic>
        <p:nvPicPr>
          <p:cNvPr id="13" name="Image 2" descr="preencoded.png">    </p:cNvPr>
          <p:cNvPicPr>
            <a:picLocks noChangeAspect="1"/>
          </p:cNvPicPr>
          <p:nvPr/>
        </p:nvPicPr>
        <p:blipFill>
          <a:blip r:embed="rId3"/>
          <a:stretch>
            <a:fillRect/>
          </a:stretch>
        </p:blipFill>
        <p:spPr>
          <a:xfrm>
            <a:off x="3834079" y="1959559"/>
            <a:ext cx="332842" cy="332842"/>
          </a:xfrm>
          <a:prstGeom prst="rect">
            <a:avLst/>
          </a:prstGeom>
        </p:spPr>
      </p:pic>
      <p:sp>
        <p:nvSpPr>
          <p:cNvPr id="14" name="Text 8"/>
          <p:cNvSpPr txBox="1"/>
          <p:nvPr/>
        </p:nvSpPr>
        <p:spPr>
          <a:xfrm>
            <a:off x="3703320" y="2560320"/>
            <a:ext cx="1965960" cy="365760"/>
          </a:xfrm>
          <a:prstGeom prst="rect">
            <a:avLst/>
          </a:prstGeom>
          <a:noFill/>
          <a:ln/>
        </p:spPr>
        <p:txBody>
          <a:bodyPr wrap="square" lIns="0" tIns="0" rIns="0" bIns="0" rtlCol="0" anchor="t"/>
          <a:lstStyle/>
          <a:p>
            <a:pPr indent="0" marL="0">
              <a:buNone/>
            </a:pPr>
            <a:r>
              <a:rPr lang="en-US" sz="2000" b="1" dirty="0">
                <a:solidFill>
                  <a:schemeClr val="bg1"/>
                </a:solidFill>
              </a:rPr>
              <a:t>Preprocess</a:t>
            </a:r>
            <a:endParaRPr lang="en-US" sz="2000" dirty="0"/>
          </a:p>
        </p:txBody>
      </p:sp>
      <p:sp>
        <p:nvSpPr>
          <p:cNvPr id="15" name="Text 9"/>
          <p:cNvSpPr txBox="1"/>
          <p:nvPr/>
        </p:nvSpPr>
        <p:spPr>
          <a:xfrm>
            <a:off x="3703320" y="2926080"/>
            <a:ext cx="1965960" cy="548640"/>
          </a:xfrm>
          <a:prstGeom prst="rect">
            <a:avLst/>
          </a:prstGeom>
          <a:noFill/>
          <a:ln/>
        </p:spPr>
        <p:txBody>
          <a:bodyPr wrap="square" lIns="0" tIns="0" rIns="0" bIns="0" rtlCol="0" anchor="t"/>
          <a:lstStyle/>
          <a:p>
            <a:pPr indent="0" marL="0">
              <a:buNone/>
            </a:pPr>
            <a:r>
              <a:rPr lang="en-US" sz="1400" dirty="0">
                <a:solidFill>
                  <a:schemeClr val="bg2"/>
                </a:solidFill>
              </a:rPr>
              <a:t>Resize 224×224, scale to [0, 1]</a:t>
            </a:r>
            <a:endParaRPr lang="en-US" sz="1400" dirty="0"/>
          </a:p>
        </p:txBody>
      </p:sp>
      <p:pic>
        <p:nvPicPr>
          <p:cNvPr id="16" name="Image 3" descr="preencoded.png">    </p:cNvPr>
          <p:cNvPicPr>
            <a:picLocks noChangeAspect="1"/>
          </p:cNvPicPr>
          <p:nvPr/>
        </p:nvPicPr>
        <p:blipFill>
          <a:blip r:embed="rId4"/>
          <a:stretch>
            <a:fillRect/>
          </a:stretch>
        </p:blipFill>
        <p:spPr>
          <a:xfrm>
            <a:off x="5961888" y="2468880"/>
            <a:ext cx="237744" cy="237744"/>
          </a:xfrm>
          <a:prstGeom prst="rect">
            <a:avLst/>
          </a:prstGeom>
        </p:spPr>
      </p:pic>
      <p:sp>
        <p:nvSpPr>
          <p:cNvPr id="17" name="Flow card 3"/>
          <p:cNvSpPr/>
          <p:nvPr/>
        </p:nvSpPr>
        <p:spPr>
          <a:xfrm>
            <a:off x="6309360" y="1600200"/>
            <a:ext cx="2423160" cy="2011680"/>
          </a:xfrm>
          <a:prstGeom prst="roundRect">
            <a:avLst>
              <a:gd name="adj" fmla="val 5455"/>
            </a:avLst>
          </a:prstGeom>
          <a:solidFill>
            <a:schemeClr val="tx2"/>
          </a:solidFill>
          <a:ln w="9525">
            <a:solidFill>
              <a:srgbClr val="24396B"/>
            </a:solidFill>
            <a:prstDash val="solid"/>
          </a:ln>
        </p:spPr>
      </p:sp>
      <p:sp>
        <p:nvSpPr>
          <p:cNvPr id="18" name="Shape 11"/>
          <p:cNvSpPr/>
          <p:nvPr/>
        </p:nvSpPr>
        <p:spPr>
          <a:xfrm>
            <a:off x="6583680" y="1828800"/>
            <a:ext cx="594360" cy="594360"/>
          </a:xfrm>
          <a:prstGeom prst="ellipse">
            <a:avLst/>
          </a:prstGeom>
          <a:solidFill>
            <a:schemeClr val="accent2"/>
          </a:solidFill>
          <a:ln/>
        </p:spPr>
      </p:sp>
      <p:pic>
        <p:nvPicPr>
          <p:cNvPr id="19" name="Image 4" descr="preencoded.png">    </p:cNvPr>
          <p:cNvPicPr>
            <a:picLocks noChangeAspect="1"/>
          </p:cNvPicPr>
          <p:nvPr/>
        </p:nvPicPr>
        <p:blipFill>
          <a:blip r:embed="rId5"/>
          <a:stretch>
            <a:fillRect/>
          </a:stretch>
        </p:blipFill>
        <p:spPr>
          <a:xfrm>
            <a:off x="6714439" y="1959559"/>
            <a:ext cx="332842" cy="332842"/>
          </a:xfrm>
          <a:prstGeom prst="rect">
            <a:avLst/>
          </a:prstGeom>
        </p:spPr>
      </p:pic>
      <p:sp>
        <p:nvSpPr>
          <p:cNvPr id="20" name="Text 12"/>
          <p:cNvSpPr txBox="1"/>
          <p:nvPr/>
        </p:nvSpPr>
        <p:spPr>
          <a:xfrm>
            <a:off x="6583680" y="2560320"/>
            <a:ext cx="1965960" cy="365760"/>
          </a:xfrm>
          <a:prstGeom prst="rect">
            <a:avLst/>
          </a:prstGeom>
          <a:noFill/>
          <a:ln/>
        </p:spPr>
        <p:txBody>
          <a:bodyPr wrap="square" lIns="0" tIns="0" rIns="0" bIns="0" rtlCol="0" anchor="t"/>
          <a:lstStyle/>
          <a:p>
            <a:pPr indent="0" marL="0">
              <a:buNone/>
            </a:pPr>
            <a:r>
              <a:rPr lang="en-US" sz="2000" b="1" dirty="0">
                <a:solidFill>
                  <a:schemeClr val="bg1"/>
                </a:solidFill>
              </a:rPr>
              <a:t>Custom CNN</a:t>
            </a:r>
            <a:endParaRPr lang="en-US" sz="2000" dirty="0"/>
          </a:p>
        </p:txBody>
      </p:sp>
      <p:sp>
        <p:nvSpPr>
          <p:cNvPr id="21" name="Text 13"/>
          <p:cNvSpPr txBox="1"/>
          <p:nvPr/>
        </p:nvSpPr>
        <p:spPr>
          <a:xfrm>
            <a:off x="6583680" y="2926080"/>
            <a:ext cx="1965960" cy="548640"/>
          </a:xfrm>
          <a:prstGeom prst="rect">
            <a:avLst/>
          </a:prstGeom>
          <a:noFill/>
          <a:ln/>
        </p:spPr>
        <p:txBody>
          <a:bodyPr wrap="square" lIns="0" tIns="0" rIns="0" bIns="0" rtlCol="0" anchor="t"/>
          <a:lstStyle/>
          <a:p>
            <a:pPr indent="0" marL="0">
              <a:buNone/>
            </a:pPr>
            <a:r>
              <a:rPr lang="en-US" sz="1400" dirty="0">
                <a:solidFill>
                  <a:schemeClr val="bg2"/>
                </a:solidFill>
              </a:rPr>
              <a:t>3 conv blocks + dense head</a:t>
            </a:r>
            <a:endParaRPr lang="en-US" sz="1400" dirty="0"/>
          </a:p>
        </p:txBody>
      </p:sp>
      <p:pic>
        <p:nvPicPr>
          <p:cNvPr id="22" name="Image 5" descr="preencoded.png">    </p:cNvPr>
          <p:cNvPicPr>
            <a:picLocks noChangeAspect="1"/>
          </p:cNvPicPr>
          <p:nvPr/>
        </p:nvPicPr>
        <p:blipFill>
          <a:blip r:embed="rId6"/>
          <a:stretch>
            <a:fillRect/>
          </a:stretch>
        </p:blipFill>
        <p:spPr>
          <a:xfrm>
            <a:off x="8842248" y="2468880"/>
            <a:ext cx="237744" cy="237744"/>
          </a:xfrm>
          <a:prstGeom prst="rect">
            <a:avLst/>
          </a:prstGeom>
        </p:spPr>
      </p:pic>
      <p:sp>
        <p:nvSpPr>
          <p:cNvPr id="23" name="Flow card 4"/>
          <p:cNvSpPr/>
          <p:nvPr/>
        </p:nvSpPr>
        <p:spPr>
          <a:xfrm>
            <a:off x="9189720" y="1600200"/>
            <a:ext cx="2423160" cy="2011680"/>
          </a:xfrm>
          <a:prstGeom prst="roundRect">
            <a:avLst>
              <a:gd name="adj" fmla="val 5455"/>
            </a:avLst>
          </a:prstGeom>
          <a:solidFill>
            <a:schemeClr val="tx2"/>
          </a:solidFill>
          <a:ln w="9525">
            <a:solidFill>
              <a:srgbClr val="24396B"/>
            </a:solidFill>
            <a:prstDash val="solid"/>
          </a:ln>
        </p:spPr>
      </p:sp>
      <p:sp>
        <p:nvSpPr>
          <p:cNvPr id="24" name="Shape 15"/>
          <p:cNvSpPr/>
          <p:nvPr/>
        </p:nvSpPr>
        <p:spPr>
          <a:xfrm>
            <a:off x="9464040" y="1828800"/>
            <a:ext cx="594360" cy="594360"/>
          </a:xfrm>
          <a:prstGeom prst="ellipse">
            <a:avLst/>
          </a:prstGeom>
          <a:solidFill>
            <a:schemeClr val="accent1"/>
          </a:solidFill>
          <a:ln/>
        </p:spPr>
      </p:sp>
      <p:pic>
        <p:nvPicPr>
          <p:cNvPr id="25" name="Image 6" descr="preencoded.png">    </p:cNvPr>
          <p:cNvPicPr>
            <a:picLocks noChangeAspect="1"/>
          </p:cNvPicPr>
          <p:nvPr/>
        </p:nvPicPr>
        <p:blipFill>
          <a:blip r:embed="rId7"/>
          <a:stretch>
            <a:fillRect/>
          </a:stretch>
        </p:blipFill>
        <p:spPr>
          <a:xfrm>
            <a:off x="9594799" y="1959559"/>
            <a:ext cx="332842" cy="332842"/>
          </a:xfrm>
          <a:prstGeom prst="rect">
            <a:avLst/>
          </a:prstGeom>
        </p:spPr>
      </p:pic>
      <p:sp>
        <p:nvSpPr>
          <p:cNvPr id="26" name="Text 16"/>
          <p:cNvSpPr txBox="1"/>
          <p:nvPr/>
        </p:nvSpPr>
        <p:spPr>
          <a:xfrm>
            <a:off x="9464040" y="2560320"/>
            <a:ext cx="1965960" cy="365760"/>
          </a:xfrm>
          <a:prstGeom prst="rect">
            <a:avLst/>
          </a:prstGeom>
          <a:noFill/>
          <a:ln/>
        </p:spPr>
        <p:txBody>
          <a:bodyPr wrap="square" lIns="0" tIns="0" rIns="0" bIns="0" rtlCol="0" anchor="t"/>
          <a:lstStyle/>
          <a:p>
            <a:pPr indent="0" marL="0">
              <a:buNone/>
            </a:pPr>
            <a:r>
              <a:rPr lang="en-US" sz="2000" b="1" dirty="0">
                <a:solidFill>
                  <a:schemeClr val="bg1"/>
                </a:solidFill>
              </a:rPr>
              <a:t>Prediction</a:t>
            </a:r>
            <a:endParaRPr lang="en-US" sz="2000" dirty="0"/>
          </a:p>
        </p:txBody>
      </p:sp>
      <p:sp>
        <p:nvSpPr>
          <p:cNvPr id="27" name="Text 17"/>
          <p:cNvSpPr txBox="1"/>
          <p:nvPr/>
        </p:nvSpPr>
        <p:spPr>
          <a:xfrm>
            <a:off x="9464040" y="2926080"/>
            <a:ext cx="1965960" cy="548640"/>
          </a:xfrm>
          <a:prstGeom prst="rect">
            <a:avLst/>
          </a:prstGeom>
          <a:noFill/>
          <a:ln/>
        </p:spPr>
        <p:txBody>
          <a:bodyPr wrap="square" lIns="0" tIns="0" rIns="0" bIns="0" rtlCol="0" anchor="t"/>
          <a:lstStyle/>
          <a:p>
            <a:pPr indent="0" marL="0">
              <a:buNone/>
            </a:pPr>
            <a:r>
              <a:rPr lang="en-US" sz="1400" dirty="0">
                <a:solidFill>
                  <a:schemeClr val="bg2"/>
                </a:solidFill>
              </a:rPr>
              <a:t>Team name + softmax scores</a:t>
            </a:r>
            <a:endParaRPr lang="en-US" sz="1400" dirty="0"/>
          </a:p>
        </p:txBody>
      </p:sp>
      <p:sp>
        <p:nvSpPr>
          <p:cNvPr id="28" name="Text 18"/>
          <p:cNvSpPr txBox="1"/>
          <p:nvPr/>
        </p:nvSpPr>
        <p:spPr>
          <a:xfrm>
            <a:off x="548640" y="4114800"/>
            <a:ext cx="11064240" cy="1737360"/>
          </a:xfrm>
          <a:prstGeom prst="rect">
            <a:avLst/>
          </a:prstGeom>
          <a:noFill/>
          <a:ln/>
        </p:spPr>
        <p:txBody>
          <a:bodyPr wrap="square" lIns="0" tIns="0" rIns="0" bIns="0" rtlCol="0" anchor="t"/>
          <a:lstStyle/>
          <a:p>
            <a:pPr indent="0" marL="0">
              <a:spcAft>
                <a:spcPts val="1200"/>
              </a:spcAft>
              <a:buNone/>
            </a:pPr>
            <a:r>
              <a:rPr lang="en-US" sz="1800" b="1" dirty="0">
                <a:solidFill>
                  <a:schemeClr val="accent1"/>
                </a:solidFill>
              </a:rPr>
              <a:t>Problem addressed  </a:t>
            </a:r>
            <a:pPr indent="0" marL="0">
              <a:spcAft>
                <a:spcPts val="1200"/>
              </a:spcAft>
              <a:buNone/>
            </a:pPr>
            <a:r>
              <a:rPr lang="en-US" sz="1800" dirty="0">
                <a:solidFill>
                  <a:schemeClr val="bg1"/>
                </a:solidFill>
              </a:rPr>
              <a:t>Automatically recognising which of 20 LaLiga clubs a crest image shows.</a:t>
            </a:r>
            <a:endParaRPr lang="en-US" sz="1800" dirty="0"/>
          </a:p>
          <a:p>
            <a:pPr indent="0" marL="0">
              <a:spcAft>
                <a:spcPts val="1200"/>
              </a:spcAft>
              <a:buNone/>
            </a:pPr>
            <a:r>
              <a:rPr lang="en-US" sz="1800" b="1" dirty="0">
                <a:solidFill>
                  <a:schemeClr val="accent1"/>
                </a:solidFill>
              </a:rPr>
              <a:t>Expected output  </a:t>
            </a:r>
            <a:pPr indent="0" marL="0">
              <a:spcAft>
                <a:spcPts val="1200"/>
              </a:spcAft>
              <a:buNone/>
            </a:pPr>
            <a:r>
              <a:rPr lang="en-US" sz="1800" dirty="0">
                <a:solidFill>
                  <a:schemeClr val="bg1"/>
                </a:solidFill>
              </a:rPr>
              <a:t>One predicted club per image, with a softmax score for each of the 20 classes.</a:t>
            </a:r>
            <a:endParaRPr lang="en-US" sz="1800" dirty="0"/>
          </a:p>
          <a:p>
            <a:pPr indent="0" marL="0">
              <a:spcAft>
                <a:spcPts val="1200"/>
              </a:spcAft>
              <a:buNone/>
            </a:pPr>
            <a:r>
              <a:rPr lang="en-US" sz="1800" b="1" dirty="0">
                <a:solidFill>
                  <a:schemeClr val="accent1"/>
                </a:solidFill>
              </a:rPr>
              <a:t>Scope  </a:t>
            </a:r>
            <a:pPr indent="0" marL="0">
              <a:spcAft>
                <a:spcPts val="1200"/>
              </a:spcAft>
              <a:buNone/>
            </a:pPr>
            <a:r>
              <a:rPr lang="en-US" sz="1800" dirty="0">
                <a:solidFill>
                  <a:schemeClr val="bg1"/>
                </a:solidFill>
              </a:rPr>
              <a:t>End-to-end workflow: data → augmentation → training → evaluation → predictions.</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Problem Statement and Motivation</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WHY IT MATTERS</a:t>
            </a:r>
            <a:endParaRPr lang="en-US" sz="1200" dirty="0"/>
          </a:p>
        </p:txBody>
      </p:sp>
      <p:sp>
        <p:nvSpPr>
          <p:cNvPr id="5" name="Motivation card"/>
          <p:cNvSpPr/>
          <p:nvPr/>
        </p:nvSpPr>
        <p:spPr>
          <a:xfrm>
            <a:off x="548640" y="1600200"/>
            <a:ext cx="5394960" cy="4297680"/>
          </a:xfrm>
          <a:prstGeom prst="roundRect">
            <a:avLst>
              <a:gd name="adj" fmla="val 2553"/>
            </a:avLst>
          </a:prstGeom>
          <a:solidFill>
            <a:schemeClr val="tx2"/>
          </a:solidFill>
          <a:ln w="9525">
            <a:solidFill>
              <a:srgbClr val="24396B"/>
            </a:solidFill>
            <a:prstDash val="solid"/>
          </a:ln>
        </p:spPr>
      </p:sp>
      <p:sp>
        <p:nvSpPr>
          <p:cNvPr id="6" name="Text 3"/>
          <p:cNvSpPr txBox="1"/>
          <p:nvPr/>
        </p:nvSpPr>
        <p:spPr>
          <a:xfrm>
            <a:off x="868680" y="1828800"/>
            <a:ext cx="4754880" cy="457200"/>
          </a:xfrm>
          <a:prstGeom prst="rect">
            <a:avLst/>
          </a:prstGeom>
          <a:noFill/>
          <a:ln/>
        </p:spPr>
        <p:txBody>
          <a:bodyPr wrap="square" lIns="0" tIns="0" rIns="0" bIns="0" rtlCol="0" anchor="t"/>
          <a:lstStyle/>
          <a:p>
            <a:pPr indent="0" marL="0">
              <a:buNone/>
            </a:pPr>
            <a:r>
              <a:rPr lang="en-US" sz="2200" b="1" dirty="0">
                <a:solidFill>
                  <a:schemeClr val="accent1"/>
                </a:solidFill>
              </a:rPr>
              <a:t>Potential uses</a:t>
            </a:r>
            <a:endParaRPr lang="en-US" sz="2200" dirty="0"/>
          </a:p>
        </p:txBody>
      </p:sp>
      <p:sp>
        <p:nvSpPr>
          <p:cNvPr id="7" name="Text 4"/>
          <p:cNvSpPr txBox="1"/>
          <p:nvPr/>
        </p:nvSpPr>
        <p:spPr>
          <a:xfrm>
            <a:off x="868680" y="2423160"/>
            <a:ext cx="4754880" cy="329184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bg1"/>
                </a:solidFill>
              </a:rPr>
              <a:t>Tagging club imagery in media libraries</a:t>
            </a:r>
            <a:endParaRPr lang="en-US" sz="1900" dirty="0"/>
          </a:p>
          <a:p>
            <a:pPr marL="342900" indent="-342900">
              <a:spcAft>
                <a:spcPts val="800"/>
              </a:spcAft>
              <a:buSzPct val="100000"/>
              <a:buChar char="•"/>
            </a:pPr>
            <a:r>
              <a:rPr lang="en-US" sz="1900" dirty="0">
                <a:solidFill>
                  <a:schemeClr val="bg1"/>
                </a:solidFill>
              </a:rPr>
              <a:t>Fan-facing apps that identify a crest from a photo</a:t>
            </a:r>
            <a:endParaRPr lang="en-US" sz="1900" dirty="0"/>
          </a:p>
          <a:p>
            <a:pPr marL="342900" indent="-342900">
              <a:spcAft>
                <a:spcPts val="800"/>
              </a:spcAft>
              <a:buSzPct val="100000"/>
              <a:buChar char="•"/>
            </a:pPr>
            <a:r>
              <a:rPr lang="en-US" sz="1900" dirty="0">
                <a:solidFill>
                  <a:schemeClr val="bg1"/>
                </a:solidFill>
              </a:rPr>
              <a:t>Cleaning and organising sports data pipelines</a:t>
            </a:r>
            <a:endParaRPr lang="en-US" sz="1900" dirty="0"/>
          </a:p>
          <a:p>
            <a:pPr marL="342900" indent="-342900">
              <a:spcAft>
                <a:spcPts val="800"/>
              </a:spcAft>
              <a:buSzPct val="100000"/>
              <a:buChar char="•"/>
            </a:pPr>
            <a:r>
              <a:rPr lang="en-US" sz="1900" dirty="0">
                <a:solidFill>
                  <a:schemeClr val="bg1"/>
                </a:solidFill>
              </a:rPr>
              <a:t>A compact teaching example of multiclass image classification</a:t>
            </a:r>
            <a:endParaRPr lang="en-US" sz="1900" dirty="0"/>
          </a:p>
        </p:txBody>
      </p:sp>
      <p:sp>
        <p:nvSpPr>
          <p:cNvPr id="8" name="Challenges card"/>
          <p:cNvSpPr/>
          <p:nvPr/>
        </p:nvSpPr>
        <p:spPr>
          <a:xfrm>
            <a:off x="6263640" y="1600200"/>
            <a:ext cx="5394960" cy="4297680"/>
          </a:xfrm>
          <a:prstGeom prst="roundRect">
            <a:avLst>
              <a:gd name="adj" fmla="val 2553"/>
            </a:avLst>
          </a:prstGeom>
          <a:solidFill>
            <a:schemeClr val="tx2"/>
          </a:solidFill>
          <a:ln w="9525">
            <a:solidFill>
              <a:srgbClr val="24396B"/>
            </a:solidFill>
            <a:prstDash val="solid"/>
          </a:ln>
        </p:spPr>
      </p:sp>
      <p:sp>
        <p:nvSpPr>
          <p:cNvPr id="9" name="Text 6"/>
          <p:cNvSpPr txBox="1"/>
          <p:nvPr/>
        </p:nvSpPr>
        <p:spPr>
          <a:xfrm>
            <a:off x="6583680" y="1828800"/>
            <a:ext cx="4754880" cy="457200"/>
          </a:xfrm>
          <a:prstGeom prst="rect">
            <a:avLst/>
          </a:prstGeom>
          <a:noFill/>
          <a:ln/>
        </p:spPr>
        <p:txBody>
          <a:bodyPr wrap="square" lIns="0" tIns="0" rIns="0" bIns="0" rtlCol="0" anchor="t"/>
          <a:lstStyle/>
          <a:p>
            <a:pPr indent="0" marL="0">
              <a:buNone/>
            </a:pPr>
            <a:r>
              <a:rPr lang="en-US" sz="2200" b="1" dirty="0">
                <a:solidFill>
                  <a:schemeClr val="accent3"/>
                </a:solidFill>
              </a:rPr>
              <a:t>Why it is hard</a:t>
            </a:r>
            <a:endParaRPr lang="en-US" sz="2200" dirty="0"/>
          </a:p>
        </p:txBody>
      </p:sp>
      <p:sp>
        <p:nvSpPr>
          <p:cNvPr id="10" name="Text 7"/>
          <p:cNvSpPr txBox="1"/>
          <p:nvPr/>
        </p:nvSpPr>
        <p:spPr>
          <a:xfrm>
            <a:off x="6583680" y="2423160"/>
            <a:ext cx="4754880" cy="3291840"/>
          </a:xfrm>
          <a:prstGeom prst="rect">
            <a:avLst/>
          </a:prstGeom>
          <a:noFill/>
          <a:ln/>
        </p:spPr>
        <p:txBody>
          <a:bodyPr wrap="square" lIns="0" tIns="0" rIns="0" bIns="0" rtlCol="0" anchor="t"/>
          <a:lstStyle/>
          <a:p>
            <a:pPr marL="342900" indent="-342900">
              <a:spcAft>
                <a:spcPts val="800"/>
              </a:spcAft>
              <a:buSzPct val="100000"/>
              <a:buChar char="•"/>
            </a:pPr>
            <a:r>
              <a:rPr lang="en-US" sz="1900" dirty="0">
                <a:solidFill>
                  <a:schemeClr val="bg1"/>
                </a:solidFill>
              </a:rPr>
              <a:t>Crests reuse motifs: shields, stripes, crowns, balls</a:t>
            </a:r>
            <a:endParaRPr lang="en-US" sz="1900" dirty="0"/>
          </a:p>
          <a:p>
            <a:pPr marL="342900" indent="-342900">
              <a:spcAft>
                <a:spcPts val="800"/>
              </a:spcAft>
              <a:buSzPct val="100000"/>
              <a:buChar char="•"/>
            </a:pPr>
            <a:r>
              <a:rPr lang="en-US" sz="1900" dirty="0">
                <a:solidFill>
                  <a:schemeClr val="bg1"/>
                </a:solidFill>
              </a:rPr>
              <a:t>Several clubs share colour schemes (e.g. blue/white, red/white)</a:t>
            </a:r>
            <a:endParaRPr lang="en-US" sz="1900" dirty="0"/>
          </a:p>
          <a:p>
            <a:pPr marL="342900" indent="-342900">
              <a:spcAft>
                <a:spcPts val="800"/>
              </a:spcAft>
              <a:buSzPct val="100000"/>
              <a:buChar char="•"/>
            </a:pPr>
            <a:r>
              <a:rPr lang="en-US" sz="1900" dirty="0">
                <a:solidFill>
                  <a:schemeClr val="bg1"/>
                </a:solidFill>
              </a:rPr>
              <a:t>Images differ in size, from 169×299 to 225×225 pixels among the most common</a:t>
            </a:r>
            <a:endParaRPr lang="en-US" sz="1900" dirty="0"/>
          </a:p>
          <a:p>
            <a:pPr marL="342900" indent="-342900">
              <a:spcAft>
                <a:spcPts val="800"/>
              </a:spcAft>
              <a:buSzPct val="100000"/>
              <a:buChar char="•"/>
            </a:pPr>
            <a:r>
              <a:rPr lang="en-US" sz="1900" dirty="0">
                <a:solidFill>
                  <a:schemeClr val="bg1"/>
                </a:solidFill>
              </a:rPr>
              <a:t>Rotations and black fill areas appear in the dataset samples</a:t>
            </a:r>
            <a:endParaRPr lang="en-US" sz="19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Project Objectives</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GOALS</a:t>
            </a:r>
            <a:endParaRPr lang="en-US" sz="1200" dirty="0"/>
          </a:p>
        </p:txBody>
      </p:sp>
      <p:sp>
        <p:nvSpPr>
          <p:cNvPr id="5" name="Objective 1"/>
          <p:cNvSpPr/>
          <p:nvPr/>
        </p:nvSpPr>
        <p:spPr>
          <a:xfrm>
            <a:off x="548640" y="1600200"/>
            <a:ext cx="3566160" cy="2011680"/>
          </a:xfrm>
          <a:prstGeom prst="roundRect">
            <a:avLst>
              <a:gd name="adj" fmla="val 5455"/>
            </a:avLst>
          </a:prstGeom>
          <a:solidFill>
            <a:schemeClr val="tx2"/>
          </a:solidFill>
          <a:ln w="9525">
            <a:solidFill>
              <a:srgbClr val="24396B"/>
            </a:solidFill>
            <a:prstDash val="solid"/>
          </a:ln>
        </p:spPr>
      </p:sp>
      <p:sp>
        <p:nvSpPr>
          <p:cNvPr id="6" name="Shape 3"/>
          <p:cNvSpPr/>
          <p:nvPr/>
        </p:nvSpPr>
        <p:spPr>
          <a:xfrm>
            <a:off x="822960" y="1874520"/>
            <a:ext cx="566928" cy="56692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47684" y="1999244"/>
            <a:ext cx="317480" cy="317480"/>
          </a:xfrm>
          <a:prstGeom prst="rect">
            <a:avLst/>
          </a:prstGeom>
        </p:spPr>
      </p:pic>
      <p:sp>
        <p:nvSpPr>
          <p:cNvPr id="8" name="Text 4"/>
          <p:cNvSpPr txBox="1"/>
          <p:nvPr/>
        </p:nvSpPr>
        <p:spPr>
          <a:xfrm>
            <a:off x="1554480" y="1920240"/>
            <a:ext cx="2377440" cy="502920"/>
          </a:xfrm>
          <a:prstGeom prst="rect">
            <a:avLst/>
          </a:prstGeom>
          <a:noFill/>
          <a:ln/>
        </p:spPr>
        <p:txBody>
          <a:bodyPr wrap="square" lIns="0" tIns="0" rIns="0" bIns="0" rtlCol="0" anchor="ctr"/>
          <a:lstStyle/>
          <a:p>
            <a:pPr indent="0" marL="0">
              <a:buNone/>
            </a:pPr>
            <a:r>
              <a:rPr lang="en-US" sz="1900" b="1" dirty="0">
                <a:solidFill>
                  <a:schemeClr val="bg1"/>
                </a:solidFill>
              </a:rPr>
              <a:t>Prepare the data</a:t>
            </a:r>
            <a:endParaRPr lang="en-US" sz="1900" dirty="0"/>
          </a:p>
        </p:txBody>
      </p:sp>
      <p:sp>
        <p:nvSpPr>
          <p:cNvPr id="9" name="Text 5"/>
          <p:cNvSpPr txBox="1"/>
          <p:nvPr/>
        </p:nvSpPr>
        <p:spPr>
          <a:xfrm>
            <a:off x="822960" y="2697480"/>
            <a:ext cx="3063240" cy="777240"/>
          </a:xfrm>
          <a:prstGeom prst="rect">
            <a:avLst/>
          </a:prstGeom>
          <a:noFill/>
          <a:ln/>
        </p:spPr>
        <p:txBody>
          <a:bodyPr wrap="square" lIns="0" tIns="0" rIns="0" bIns="0" rtlCol="0" anchor="t"/>
          <a:lstStyle/>
          <a:p>
            <a:pPr indent="0" marL="0">
              <a:buNone/>
            </a:pPr>
            <a:r>
              <a:rPr lang="en-US" sz="1500" dirty="0">
                <a:solidFill>
                  <a:schemeClr val="bg2"/>
                </a:solidFill>
              </a:rPr>
              <a:t>Prepare and organise the image dataset</a:t>
            </a:r>
            <a:endParaRPr lang="en-US" sz="1500" dirty="0"/>
          </a:p>
        </p:txBody>
      </p:sp>
      <p:sp>
        <p:nvSpPr>
          <p:cNvPr id="10" name="Objective 2"/>
          <p:cNvSpPr/>
          <p:nvPr/>
        </p:nvSpPr>
        <p:spPr>
          <a:xfrm>
            <a:off x="4297680" y="1600200"/>
            <a:ext cx="3566160" cy="2011680"/>
          </a:xfrm>
          <a:prstGeom prst="roundRect">
            <a:avLst>
              <a:gd name="adj" fmla="val 5455"/>
            </a:avLst>
          </a:prstGeom>
          <a:solidFill>
            <a:schemeClr val="tx2"/>
          </a:solidFill>
          <a:ln w="9525">
            <a:solidFill>
              <a:srgbClr val="24396B"/>
            </a:solidFill>
            <a:prstDash val="solid"/>
          </a:ln>
        </p:spPr>
      </p:sp>
      <p:sp>
        <p:nvSpPr>
          <p:cNvPr id="11" name="Shape 7"/>
          <p:cNvSpPr/>
          <p:nvPr/>
        </p:nvSpPr>
        <p:spPr>
          <a:xfrm>
            <a:off x="4572000" y="1874520"/>
            <a:ext cx="566928" cy="566928"/>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4696724" y="1999244"/>
            <a:ext cx="317480" cy="317480"/>
          </a:xfrm>
          <a:prstGeom prst="rect">
            <a:avLst/>
          </a:prstGeom>
        </p:spPr>
      </p:pic>
      <p:sp>
        <p:nvSpPr>
          <p:cNvPr id="13" name="Text 8"/>
          <p:cNvSpPr txBox="1"/>
          <p:nvPr/>
        </p:nvSpPr>
        <p:spPr>
          <a:xfrm>
            <a:off x="5303520" y="1920240"/>
            <a:ext cx="2377440" cy="502920"/>
          </a:xfrm>
          <a:prstGeom prst="rect">
            <a:avLst/>
          </a:prstGeom>
          <a:noFill/>
          <a:ln/>
        </p:spPr>
        <p:txBody>
          <a:bodyPr wrap="square" lIns="0" tIns="0" rIns="0" bIns="0" rtlCol="0" anchor="ctr"/>
          <a:lstStyle/>
          <a:p>
            <a:pPr indent="0" marL="0">
              <a:buNone/>
            </a:pPr>
            <a:r>
              <a:rPr lang="en-US" sz="1900" b="1" dirty="0">
                <a:solidFill>
                  <a:schemeClr val="bg1"/>
                </a:solidFill>
              </a:rPr>
              <a:t>Create splits</a:t>
            </a:r>
            <a:endParaRPr lang="en-US" sz="1900" dirty="0"/>
          </a:p>
        </p:txBody>
      </p:sp>
      <p:sp>
        <p:nvSpPr>
          <p:cNvPr id="14" name="Text 9"/>
          <p:cNvSpPr txBox="1"/>
          <p:nvPr/>
        </p:nvSpPr>
        <p:spPr>
          <a:xfrm>
            <a:off x="4572000" y="2697480"/>
            <a:ext cx="3063240" cy="777240"/>
          </a:xfrm>
          <a:prstGeom prst="rect">
            <a:avLst/>
          </a:prstGeom>
          <a:noFill/>
          <a:ln/>
        </p:spPr>
        <p:txBody>
          <a:bodyPr wrap="square" lIns="0" tIns="0" rIns="0" bIns="0" rtlCol="0" anchor="t"/>
          <a:lstStyle/>
          <a:p>
            <a:pPr indent="0" marL="0">
              <a:buNone/>
            </a:pPr>
            <a:r>
              <a:rPr lang="en-US" sz="1500" dirty="0">
                <a:solidFill>
                  <a:schemeClr val="bg2"/>
                </a:solidFill>
              </a:rPr>
              <a:t>Build training, validation and test sets</a:t>
            </a:r>
            <a:endParaRPr lang="en-US" sz="1500" dirty="0"/>
          </a:p>
        </p:txBody>
      </p:sp>
      <p:sp>
        <p:nvSpPr>
          <p:cNvPr id="15" name="Objective 3"/>
          <p:cNvSpPr/>
          <p:nvPr/>
        </p:nvSpPr>
        <p:spPr>
          <a:xfrm>
            <a:off x="8046720" y="1600200"/>
            <a:ext cx="3566160" cy="2011680"/>
          </a:xfrm>
          <a:prstGeom prst="roundRect">
            <a:avLst>
              <a:gd name="adj" fmla="val 5455"/>
            </a:avLst>
          </a:prstGeom>
          <a:solidFill>
            <a:schemeClr val="tx2"/>
          </a:solidFill>
          <a:ln w="9525">
            <a:solidFill>
              <a:srgbClr val="24396B"/>
            </a:solidFill>
            <a:prstDash val="solid"/>
          </a:ln>
        </p:spPr>
      </p:sp>
      <p:sp>
        <p:nvSpPr>
          <p:cNvPr id="16" name="Shape 11"/>
          <p:cNvSpPr/>
          <p:nvPr/>
        </p:nvSpPr>
        <p:spPr>
          <a:xfrm>
            <a:off x="8321040" y="1874520"/>
            <a:ext cx="566928" cy="566928"/>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45764" y="1999244"/>
            <a:ext cx="317480" cy="317480"/>
          </a:xfrm>
          <a:prstGeom prst="rect">
            <a:avLst/>
          </a:prstGeom>
        </p:spPr>
      </p:pic>
      <p:sp>
        <p:nvSpPr>
          <p:cNvPr id="18" name="Text 12"/>
          <p:cNvSpPr txBox="1"/>
          <p:nvPr/>
        </p:nvSpPr>
        <p:spPr>
          <a:xfrm>
            <a:off x="9052560" y="1920240"/>
            <a:ext cx="2377440" cy="502920"/>
          </a:xfrm>
          <a:prstGeom prst="rect">
            <a:avLst/>
          </a:prstGeom>
          <a:noFill/>
          <a:ln/>
        </p:spPr>
        <p:txBody>
          <a:bodyPr wrap="square" lIns="0" tIns="0" rIns="0" bIns="0" rtlCol="0" anchor="ctr"/>
          <a:lstStyle/>
          <a:p>
            <a:pPr indent="0" marL="0">
              <a:buNone/>
            </a:pPr>
            <a:r>
              <a:rPr lang="en-US" sz="1900" b="1" dirty="0">
                <a:solidFill>
                  <a:schemeClr val="bg1"/>
                </a:solidFill>
              </a:rPr>
              <a:t>Improve generalisation</a:t>
            </a:r>
            <a:endParaRPr lang="en-US" sz="1900" dirty="0"/>
          </a:p>
        </p:txBody>
      </p:sp>
      <p:sp>
        <p:nvSpPr>
          <p:cNvPr id="19" name="Text 13"/>
          <p:cNvSpPr txBox="1"/>
          <p:nvPr/>
        </p:nvSpPr>
        <p:spPr>
          <a:xfrm>
            <a:off x="8321040" y="2697480"/>
            <a:ext cx="3063240" cy="777240"/>
          </a:xfrm>
          <a:prstGeom prst="rect">
            <a:avLst/>
          </a:prstGeom>
          <a:noFill/>
          <a:ln/>
        </p:spPr>
        <p:txBody>
          <a:bodyPr wrap="square" lIns="0" tIns="0" rIns="0" bIns="0" rtlCol="0" anchor="t"/>
          <a:lstStyle/>
          <a:p>
            <a:pPr indent="0" marL="0">
              <a:buNone/>
            </a:pPr>
            <a:r>
              <a:rPr lang="en-US" sz="1500" dirty="0">
                <a:solidFill>
                  <a:schemeClr val="bg2"/>
                </a:solidFill>
              </a:rPr>
              <a:t>Apply data augmentation</a:t>
            </a:r>
            <a:endParaRPr lang="en-US" sz="1500" dirty="0"/>
          </a:p>
        </p:txBody>
      </p:sp>
      <p:sp>
        <p:nvSpPr>
          <p:cNvPr id="20" name="Objective 4"/>
          <p:cNvSpPr/>
          <p:nvPr/>
        </p:nvSpPr>
        <p:spPr>
          <a:xfrm>
            <a:off x="548640" y="3840480"/>
            <a:ext cx="3566160" cy="2011680"/>
          </a:xfrm>
          <a:prstGeom prst="roundRect">
            <a:avLst>
              <a:gd name="adj" fmla="val 5455"/>
            </a:avLst>
          </a:prstGeom>
          <a:solidFill>
            <a:schemeClr val="tx2"/>
          </a:solidFill>
          <a:ln w="9525">
            <a:solidFill>
              <a:srgbClr val="24396B"/>
            </a:solidFill>
            <a:prstDash val="solid"/>
          </a:ln>
        </p:spPr>
      </p:sp>
      <p:sp>
        <p:nvSpPr>
          <p:cNvPr id="21" name="Shape 15"/>
          <p:cNvSpPr/>
          <p:nvPr/>
        </p:nvSpPr>
        <p:spPr>
          <a:xfrm>
            <a:off x="822960" y="4114800"/>
            <a:ext cx="566928" cy="566928"/>
          </a:xfrm>
          <a:prstGeom prst="ellipse">
            <a:avLst/>
          </a:prstGeom>
          <a:solidFill>
            <a:schemeClr val="accent2"/>
          </a:solidFill>
          <a:ln/>
        </p:spPr>
      </p:sp>
      <p:pic>
        <p:nvPicPr>
          <p:cNvPr id="22" name="Image 3" descr="preencoded.png">    </p:cNvPr>
          <p:cNvPicPr>
            <a:picLocks noChangeAspect="1"/>
          </p:cNvPicPr>
          <p:nvPr/>
        </p:nvPicPr>
        <p:blipFill>
          <a:blip r:embed="rId4"/>
          <a:stretch>
            <a:fillRect/>
          </a:stretch>
        </p:blipFill>
        <p:spPr>
          <a:xfrm>
            <a:off x="947684" y="4239524"/>
            <a:ext cx="317480" cy="317480"/>
          </a:xfrm>
          <a:prstGeom prst="rect">
            <a:avLst/>
          </a:prstGeom>
        </p:spPr>
      </p:pic>
      <p:sp>
        <p:nvSpPr>
          <p:cNvPr id="23" name="Text 16"/>
          <p:cNvSpPr txBox="1"/>
          <p:nvPr/>
        </p:nvSpPr>
        <p:spPr>
          <a:xfrm>
            <a:off x="1554480" y="4160520"/>
            <a:ext cx="2377440" cy="502920"/>
          </a:xfrm>
          <a:prstGeom prst="rect">
            <a:avLst/>
          </a:prstGeom>
          <a:noFill/>
          <a:ln/>
        </p:spPr>
        <p:txBody>
          <a:bodyPr wrap="square" lIns="0" tIns="0" rIns="0" bIns="0" rtlCol="0" anchor="ctr"/>
          <a:lstStyle/>
          <a:p>
            <a:pPr indent="0" marL="0">
              <a:buNone/>
            </a:pPr>
            <a:r>
              <a:rPr lang="en-US" sz="1900" b="1" dirty="0">
                <a:solidFill>
                  <a:schemeClr val="bg1"/>
                </a:solidFill>
              </a:rPr>
              <a:t>Train a CNN</a:t>
            </a:r>
            <a:endParaRPr lang="en-US" sz="1900" dirty="0"/>
          </a:p>
        </p:txBody>
      </p:sp>
      <p:sp>
        <p:nvSpPr>
          <p:cNvPr id="24" name="Text 17"/>
          <p:cNvSpPr txBox="1"/>
          <p:nvPr/>
        </p:nvSpPr>
        <p:spPr>
          <a:xfrm>
            <a:off x="822960" y="4937760"/>
            <a:ext cx="3063240" cy="777240"/>
          </a:xfrm>
          <a:prstGeom prst="rect">
            <a:avLst/>
          </a:prstGeom>
          <a:noFill/>
          <a:ln/>
        </p:spPr>
        <p:txBody>
          <a:bodyPr wrap="square" lIns="0" tIns="0" rIns="0" bIns="0" rtlCol="0" anchor="t"/>
          <a:lstStyle/>
          <a:p>
            <a:pPr indent="0" marL="0">
              <a:buNone/>
            </a:pPr>
            <a:r>
              <a:rPr lang="en-US" sz="1500" dirty="0">
                <a:solidFill>
                  <a:schemeClr val="bg2"/>
                </a:solidFill>
              </a:rPr>
              <a:t>Develop a CNN for multiclass classification</a:t>
            </a:r>
            <a:endParaRPr lang="en-US" sz="1500" dirty="0"/>
          </a:p>
        </p:txBody>
      </p:sp>
      <p:sp>
        <p:nvSpPr>
          <p:cNvPr id="25" name="Objective 5"/>
          <p:cNvSpPr/>
          <p:nvPr/>
        </p:nvSpPr>
        <p:spPr>
          <a:xfrm>
            <a:off x="4297680" y="3840480"/>
            <a:ext cx="3566160" cy="2011680"/>
          </a:xfrm>
          <a:prstGeom prst="roundRect">
            <a:avLst>
              <a:gd name="adj" fmla="val 5455"/>
            </a:avLst>
          </a:prstGeom>
          <a:solidFill>
            <a:schemeClr val="tx2"/>
          </a:solidFill>
          <a:ln w="9525">
            <a:solidFill>
              <a:srgbClr val="24396B"/>
            </a:solidFill>
            <a:prstDash val="solid"/>
          </a:ln>
        </p:spPr>
      </p:sp>
      <p:sp>
        <p:nvSpPr>
          <p:cNvPr id="26" name="Shape 19"/>
          <p:cNvSpPr/>
          <p:nvPr/>
        </p:nvSpPr>
        <p:spPr>
          <a:xfrm>
            <a:off x="4572000" y="4114800"/>
            <a:ext cx="566928" cy="566928"/>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4696724" y="4239524"/>
            <a:ext cx="317480" cy="317480"/>
          </a:xfrm>
          <a:prstGeom prst="rect">
            <a:avLst/>
          </a:prstGeom>
        </p:spPr>
      </p:pic>
      <p:sp>
        <p:nvSpPr>
          <p:cNvPr id="28" name="Text 20"/>
          <p:cNvSpPr txBox="1"/>
          <p:nvPr/>
        </p:nvSpPr>
        <p:spPr>
          <a:xfrm>
            <a:off x="5303520" y="4160520"/>
            <a:ext cx="2377440" cy="502920"/>
          </a:xfrm>
          <a:prstGeom prst="rect">
            <a:avLst/>
          </a:prstGeom>
          <a:noFill/>
          <a:ln/>
        </p:spPr>
        <p:txBody>
          <a:bodyPr wrap="square" lIns="0" tIns="0" rIns="0" bIns="0" rtlCol="0" anchor="ctr"/>
          <a:lstStyle/>
          <a:p>
            <a:pPr indent="0" marL="0">
              <a:buNone/>
            </a:pPr>
            <a:r>
              <a:rPr lang="en-US" sz="1900" b="1" dirty="0">
                <a:solidFill>
                  <a:schemeClr val="bg1"/>
                </a:solidFill>
              </a:rPr>
              <a:t>Evaluate rigorously</a:t>
            </a:r>
            <a:endParaRPr lang="en-US" sz="1900" dirty="0"/>
          </a:p>
        </p:txBody>
      </p:sp>
      <p:sp>
        <p:nvSpPr>
          <p:cNvPr id="29" name="Text 21"/>
          <p:cNvSpPr txBox="1"/>
          <p:nvPr/>
        </p:nvSpPr>
        <p:spPr>
          <a:xfrm>
            <a:off x="4572000" y="4937760"/>
            <a:ext cx="3063240" cy="777240"/>
          </a:xfrm>
          <a:prstGeom prst="rect">
            <a:avLst/>
          </a:prstGeom>
          <a:noFill/>
          <a:ln/>
        </p:spPr>
        <p:txBody>
          <a:bodyPr wrap="square" lIns="0" tIns="0" rIns="0" bIns="0" rtlCol="0" anchor="t"/>
          <a:lstStyle/>
          <a:p>
            <a:pPr indent="0" marL="0">
              <a:buNone/>
            </a:pPr>
            <a:r>
              <a:rPr lang="en-US" sz="1500" dirty="0">
                <a:solidFill>
                  <a:schemeClr val="bg2"/>
                </a:solidFill>
              </a:rPr>
              <a:t>Accuracy, loss, classification metrics</a:t>
            </a:r>
            <a:endParaRPr lang="en-US" sz="1500" dirty="0"/>
          </a:p>
        </p:txBody>
      </p:sp>
      <p:sp>
        <p:nvSpPr>
          <p:cNvPr id="30" name="Objective 6"/>
          <p:cNvSpPr/>
          <p:nvPr/>
        </p:nvSpPr>
        <p:spPr>
          <a:xfrm>
            <a:off x="8046720" y="3840480"/>
            <a:ext cx="3566160" cy="2011680"/>
          </a:xfrm>
          <a:prstGeom prst="roundRect">
            <a:avLst>
              <a:gd name="adj" fmla="val 5455"/>
            </a:avLst>
          </a:prstGeom>
          <a:solidFill>
            <a:schemeClr val="tx2"/>
          </a:solidFill>
          <a:ln w="9525">
            <a:solidFill>
              <a:srgbClr val="24396B"/>
            </a:solidFill>
            <a:prstDash val="solid"/>
          </a:ln>
        </p:spPr>
      </p:sp>
      <p:sp>
        <p:nvSpPr>
          <p:cNvPr id="31" name="Shape 23"/>
          <p:cNvSpPr/>
          <p:nvPr/>
        </p:nvSpPr>
        <p:spPr>
          <a:xfrm>
            <a:off x="8321040" y="4114800"/>
            <a:ext cx="566928" cy="566928"/>
          </a:xfrm>
          <a:prstGeom prst="ellipse">
            <a:avLst/>
          </a:prstGeom>
          <a:solidFill>
            <a:schemeClr val="accent2"/>
          </a:solidFill>
          <a:ln/>
        </p:spPr>
      </p:sp>
      <p:pic>
        <p:nvPicPr>
          <p:cNvPr id="32" name="Image 5" descr="preencoded.png">    </p:cNvPr>
          <p:cNvPicPr>
            <a:picLocks noChangeAspect="1"/>
          </p:cNvPicPr>
          <p:nvPr/>
        </p:nvPicPr>
        <p:blipFill>
          <a:blip r:embed="rId6"/>
          <a:stretch>
            <a:fillRect/>
          </a:stretch>
        </p:blipFill>
        <p:spPr>
          <a:xfrm>
            <a:off x="8445764" y="4239524"/>
            <a:ext cx="317480" cy="317480"/>
          </a:xfrm>
          <a:prstGeom prst="rect">
            <a:avLst/>
          </a:prstGeom>
        </p:spPr>
      </p:pic>
      <p:sp>
        <p:nvSpPr>
          <p:cNvPr id="33" name="Text 24"/>
          <p:cNvSpPr txBox="1"/>
          <p:nvPr/>
        </p:nvSpPr>
        <p:spPr>
          <a:xfrm>
            <a:off x="9052560" y="4160520"/>
            <a:ext cx="2377440" cy="502920"/>
          </a:xfrm>
          <a:prstGeom prst="rect">
            <a:avLst/>
          </a:prstGeom>
          <a:noFill/>
          <a:ln/>
        </p:spPr>
        <p:txBody>
          <a:bodyPr wrap="square" lIns="0" tIns="0" rIns="0" bIns="0" rtlCol="0" anchor="ctr"/>
          <a:lstStyle/>
          <a:p>
            <a:pPr indent="0" marL="0">
              <a:buNone/>
            </a:pPr>
            <a:r>
              <a:rPr lang="en-US" sz="1900" b="1" dirty="0">
                <a:solidFill>
                  <a:schemeClr val="bg1"/>
                </a:solidFill>
              </a:rPr>
              <a:t>Test on new images</a:t>
            </a:r>
            <a:endParaRPr lang="en-US" sz="1900" dirty="0"/>
          </a:p>
        </p:txBody>
      </p:sp>
      <p:sp>
        <p:nvSpPr>
          <p:cNvPr id="34" name="Text 25"/>
          <p:cNvSpPr txBox="1"/>
          <p:nvPr/>
        </p:nvSpPr>
        <p:spPr>
          <a:xfrm>
            <a:off x="8321040" y="4937760"/>
            <a:ext cx="3063240" cy="777240"/>
          </a:xfrm>
          <a:prstGeom prst="rect">
            <a:avLst/>
          </a:prstGeom>
          <a:noFill/>
          <a:ln/>
        </p:spPr>
        <p:txBody>
          <a:bodyPr wrap="square" lIns="0" tIns="0" rIns="0" bIns="0" rtlCol="0" anchor="t"/>
          <a:lstStyle/>
          <a:p>
            <a:pPr indent="0" marL="0">
              <a:buNone/>
            </a:pPr>
            <a:r>
              <a:rPr lang="en-US" sz="1500" dirty="0">
                <a:solidFill>
                  <a:schemeClr val="bg2"/>
                </a:solidFill>
              </a:rPr>
              <a:t>Predict on images uploaded outside the training pipeline</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Dataset Overview</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DATA</a:t>
            </a:r>
            <a:endParaRPr lang="en-US" sz="1200" dirty="0"/>
          </a:p>
        </p:txBody>
      </p:sp>
      <p:sp>
        <p:nvSpPr>
          <p:cNvPr id="5" name="Stat 1"/>
          <p:cNvSpPr/>
          <p:nvPr/>
        </p:nvSpPr>
        <p:spPr>
          <a:xfrm>
            <a:off x="548640" y="1554480"/>
            <a:ext cx="2651760" cy="1417320"/>
          </a:xfrm>
          <a:prstGeom prst="roundRect">
            <a:avLst>
              <a:gd name="adj" fmla="val 7742"/>
            </a:avLst>
          </a:prstGeom>
          <a:solidFill>
            <a:schemeClr val="tx2"/>
          </a:solidFill>
          <a:ln w="9525">
            <a:solidFill>
              <a:srgbClr val="24396B"/>
            </a:solidFill>
            <a:prstDash val="solid"/>
          </a:ln>
        </p:spPr>
      </p:sp>
      <p:sp>
        <p:nvSpPr>
          <p:cNvPr id="6" name="Text 3"/>
          <p:cNvSpPr txBox="1"/>
          <p:nvPr/>
        </p:nvSpPr>
        <p:spPr>
          <a:xfrm>
            <a:off x="777240" y="1645920"/>
            <a:ext cx="219456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20</a:t>
            </a:r>
            <a:endParaRPr lang="en-US" sz="4400" dirty="0"/>
          </a:p>
        </p:txBody>
      </p:sp>
      <p:sp>
        <p:nvSpPr>
          <p:cNvPr id="7" name="Text 4"/>
          <p:cNvSpPr txBox="1"/>
          <p:nvPr/>
        </p:nvSpPr>
        <p:spPr>
          <a:xfrm>
            <a:off x="777240" y="2423160"/>
            <a:ext cx="2194560" cy="365760"/>
          </a:xfrm>
          <a:prstGeom prst="rect">
            <a:avLst/>
          </a:prstGeom>
          <a:noFill/>
          <a:ln/>
        </p:spPr>
        <p:txBody>
          <a:bodyPr wrap="square" lIns="0" tIns="0" rIns="0" bIns="0" rtlCol="0" anchor="t"/>
          <a:lstStyle/>
          <a:p>
            <a:pPr indent="0" marL="0">
              <a:buNone/>
            </a:pPr>
            <a:r>
              <a:rPr lang="en-US" sz="1500" dirty="0">
                <a:solidFill>
                  <a:schemeClr val="bg2"/>
                </a:solidFill>
              </a:rPr>
              <a:t>club classes</a:t>
            </a:r>
            <a:endParaRPr lang="en-US" sz="1500" dirty="0"/>
          </a:p>
        </p:txBody>
      </p:sp>
      <p:sp>
        <p:nvSpPr>
          <p:cNvPr id="8" name="Stat 2"/>
          <p:cNvSpPr/>
          <p:nvPr/>
        </p:nvSpPr>
        <p:spPr>
          <a:xfrm>
            <a:off x="3364992" y="1554480"/>
            <a:ext cx="2651760" cy="1417320"/>
          </a:xfrm>
          <a:prstGeom prst="roundRect">
            <a:avLst>
              <a:gd name="adj" fmla="val 7742"/>
            </a:avLst>
          </a:prstGeom>
          <a:solidFill>
            <a:schemeClr val="tx2"/>
          </a:solidFill>
          <a:ln w="9525">
            <a:solidFill>
              <a:srgbClr val="24396B"/>
            </a:solidFill>
            <a:prstDash val="solid"/>
          </a:ln>
        </p:spPr>
      </p:sp>
      <p:sp>
        <p:nvSpPr>
          <p:cNvPr id="9" name="Text 6"/>
          <p:cNvSpPr txBox="1"/>
          <p:nvPr/>
        </p:nvSpPr>
        <p:spPr>
          <a:xfrm>
            <a:off x="3593592" y="1645920"/>
            <a:ext cx="219456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2,000</a:t>
            </a:r>
            <a:endParaRPr lang="en-US" sz="4400" dirty="0"/>
          </a:p>
        </p:txBody>
      </p:sp>
      <p:sp>
        <p:nvSpPr>
          <p:cNvPr id="10" name="Text 7"/>
          <p:cNvSpPr txBox="1"/>
          <p:nvPr/>
        </p:nvSpPr>
        <p:spPr>
          <a:xfrm>
            <a:off x="3593592" y="2423160"/>
            <a:ext cx="2194560" cy="365760"/>
          </a:xfrm>
          <a:prstGeom prst="rect">
            <a:avLst/>
          </a:prstGeom>
          <a:noFill/>
          <a:ln/>
        </p:spPr>
        <p:txBody>
          <a:bodyPr wrap="square" lIns="0" tIns="0" rIns="0" bIns="0" rtlCol="0" anchor="t"/>
          <a:lstStyle/>
          <a:p>
            <a:pPr indent="0" marL="0">
              <a:buNone/>
            </a:pPr>
            <a:r>
              <a:rPr lang="en-US" sz="1500" dirty="0">
                <a:solidFill>
                  <a:schemeClr val="bg2"/>
                </a:solidFill>
              </a:rPr>
              <a:t>images scanned</a:t>
            </a:r>
            <a:endParaRPr lang="en-US" sz="1500" dirty="0"/>
          </a:p>
        </p:txBody>
      </p:sp>
      <p:sp>
        <p:nvSpPr>
          <p:cNvPr id="11" name="Stat 3"/>
          <p:cNvSpPr/>
          <p:nvPr/>
        </p:nvSpPr>
        <p:spPr>
          <a:xfrm>
            <a:off x="6181344" y="1554480"/>
            <a:ext cx="2651760" cy="1417320"/>
          </a:xfrm>
          <a:prstGeom prst="roundRect">
            <a:avLst>
              <a:gd name="adj" fmla="val 7742"/>
            </a:avLst>
          </a:prstGeom>
          <a:solidFill>
            <a:schemeClr val="tx2"/>
          </a:solidFill>
          <a:ln w="9525">
            <a:solidFill>
              <a:srgbClr val="24396B"/>
            </a:solidFill>
            <a:prstDash val="solid"/>
          </a:ln>
        </p:spPr>
      </p:sp>
      <p:sp>
        <p:nvSpPr>
          <p:cNvPr id="12" name="Text 9"/>
          <p:cNvSpPr txBox="1"/>
          <p:nvPr/>
        </p:nvSpPr>
        <p:spPr>
          <a:xfrm>
            <a:off x="6409944" y="1645920"/>
            <a:ext cx="219456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100</a:t>
            </a:r>
            <a:endParaRPr lang="en-US" sz="4400" dirty="0"/>
          </a:p>
        </p:txBody>
      </p:sp>
      <p:sp>
        <p:nvSpPr>
          <p:cNvPr id="13" name="Text 10"/>
          <p:cNvSpPr txBox="1"/>
          <p:nvPr/>
        </p:nvSpPr>
        <p:spPr>
          <a:xfrm>
            <a:off x="6409944" y="2423160"/>
            <a:ext cx="2194560" cy="365760"/>
          </a:xfrm>
          <a:prstGeom prst="rect">
            <a:avLst/>
          </a:prstGeom>
          <a:noFill/>
          <a:ln/>
        </p:spPr>
        <p:txBody>
          <a:bodyPr wrap="square" lIns="0" tIns="0" rIns="0" bIns="0" rtlCol="0" anchor="t"/>
          <a:lstStyle/>
          <a:p>
            <a:pPr indent="0" marL="0">
              <a:buNone/>
            </a:pPr>
            <a:r>
              <a:rPr lang="en-US" sz="1500" dirty="0">
                <a:solidFill>
                  <a:schemeClr val="bg2"/>
                </a:solidFill>
              </a:rPr>
              <a:t>images per class</a:t>
            </a:r>
            <a:endParaRPr lang="en-US" sz="1500" dirty="0"/>
          </a:p>
        </p:txBody>
      </p:sp>
      <p:sp>
        <p:nvSpPr>
          <p:cNvPr id="14" name="Stat 4"/>
          <p:cNvSpPr/>
          <p:nvPr/>
        </p:nvSpPr>
        <p:spPr>
          <a:xfrm>
            <a:off x="8997696" y="1554480"/>
            <a:ext cx="2651760" cy="1417320"/>
          </a:xfrm>
          <a:prstGeom prst="roundRect">
            <a:avLst>
              <a:gd name="adj" fmla="val 7742"/>
            </a:avLst>
          </a:prstGeom>
          <a:solidFill>
            <a:schemeClr val="tx2"/>
          </a:solidFill>
          <a:ln w="9525">
            <a:solidFill>
              <a:srgbClr val="24396B"/>
            </a:solidFill>
            <a:prstDash val="solid"/>
          </a:ln>
        </p:spPr>
      </p:sp>
      <p:sp>
        <p:nvSpPr>
          <p:cNvPr id="15" name="Text 12"/>
          <p:cNvSpPr txBox="1"/>
          <p:nvPr/>
        </p:nvSpPr>
        <p:spPr>
          <a:xfrm>
            <a:off x="9226296" y="1645920"/>
            <a:ext cx="2194560" cy="7772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a:t>
            </a:r>
            <a:endParaRPr lang="en-US" sz="4400" dirty="0"/>
          </a:p>
        </p:txBody>
      </p:sp>
      <p:sp>
        <p:nvSpPr>
          <p:cNvPr id="16" name="Text 13"/>
          <p:cNvSpPr txBox="1"/>
          <p:nvPr/>
        </p:nvSpPr>
        <p:spPr>
          <a:xfrm>
            <a:off x="9226296" y="2423160"/>
            <a:ext cx="2194560" cy="365760"/>
          </a:xfrm>
          <a:prstGeom prst="rect">
            <a:avLst/>
          </a:prstGeom>
          <a:noFill/>
          <a:ln/>
        </p:spPr>
        <p:txBody>
          <a:bodyPr wrap="square" lIns="0" tIns="0" rIns="0" bIns="0" rtlCol="0" anchor="t"/>
          <a:lstStyle/>
          <a:p>
            <a:pPr indent="0" marL="0">
              <a:buNone/>
            </a:pPr>
            <a:r>
              <a:rPr lang="en-US" sz="1500" dirty="0">
                <a:solidFill>
                  <a:schemeClr val="bg2"/>
                </a:solidFill>
              </a:rPr>
              <a:t>corrupted files</a:t>
            </a:r>
            <a:endParaRPr lang="en-US" sz="1500" dirty="0"/>
          </a:p>
        </p:txBody>
      </p:sp>
      <p:sp>
        <p:nvSpPr>
          <p:cNvPr id="17" name="Text 14"/>
          <p:cNvSpPr txBox="1"/>
          <p:nvPr/>
        </p:nvSpPr>
        <p:spPr>
          <a:xfrm>
            <a:off x="548640" y="3246120"/>
            <a:ext cx="11064240" cy="365760"/>
          </a:xfrm>
          <a:prstGeom prst="rect">
            <a:avLst/>
          </a:prstGeom>
          <a:noFill/>
          <a:ln/>
        </p:spPr>
        <p:txBody>
          <a:bodyPr wrap="square" lIns="0" tIns="0" rIns="0" bIns="0" rtlCol="0" anchor="t"/>
          <a:lstStyle/>
          <a:p>
            <a:pPr indent="0" marL="0">
              <a:buNone/>
            </a:pPr>
            <a:r>
              <a:rPr lang="en-US" sz="1400" dirty="0">
                <a:solidFill>
                  <a:schemeClr val="bg2"/>
                </a:solidFill>
              </a:rPr>
              <a:t>Source: Kaggle — gorororororo23/laliga-team-logos-dataset-for-cnn   |   All images RGB   |   Sizes vary (most common: 225×225, 194×260)</a:t>
            </a:r>
            <a:endParaRPr lang="en-US" sz="1400" dirty="0"/>
          </a:p>
        </p:txBody>
      </p:sp>
      <p:sp>
        <p:nvSpPr>
          <p:cNvPr id="18" name="Team chip Athletic Bilbao"/>
          <p:cNvSpPr/>
          <p:nvPr/>
        </p:nvSpPr>
        <p:spPr>
          <a:xfrm>
            <a:off x="548640" y="3840480"/>
            <a:ext cx="2103120" cy="438912"/>
          </a:xfrm>
          <a:prstGeom prst="roundRect">
            <a:avLst>
              <a:gd name="adj" fmla="val 50000"/>
            </a:avLst>
          </a:prstGeom>
          <a:solidFill>
            <a:schemeClr val="tx2"/>
          </a:solidFill>
          <a:ln w="9525">
            <a:solidFill>
              <a:srgbClr val="24396B"/>
            </a:solidFill>
            <a:prstDash val="solid"/>
          </a:ln>
        </p:spPr>
      </p:sp>
      <p:sp>
        <p:nvSpPr>
          <p:cNvPr id="19" name="Text 16"/>
          <p:cNvSpPr txBox="1"/>
          <p:nvPr/>
        </p:nvSpPr>
        <p:spPr>
          <a:xfrm>
            <a:off x="548640" y="3840480"/>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Athletic Bilbao</a:t>
            </a:r>
            <a:endParaRPr lang="en-US" sz="1400" dirty="0"/>
          </a:p>
        </p:txBody>
      </p:sp>
      <p:sp>
        <p:nvSpPr>
          <p:cNvPr id="20" name="Team chip Atletico Madrid"/>
          <p:cNvSpPr/>
          <p:nvPr/>
        </p:nvSpPr>
        <p:spPr>
          <a:xfrm>
            <a:off x="2788920" y="3840480"/>
            <a:ext cx="2103120" cy="438912"/>
          </a:xfrm>
          <a:prstGeom prst="roundRect">
            <a:avLst>
              <a:gd name="adj" fmla="val 50000"/>
            </a:avLst>
          </a:prstGeom>
          <a:solidFill>
            <a:schemeClr val="tx2"/>
          </a:solidFill>
          <a:ln w="9525">
            <a:solidFill>
              <a:srgbClr val="24396B"/>
            </a:solidFill>
            <a:prstDash val="solid"/>
          </a:ln>
        </p:spPr>
      </p:sp>
      <p:sp>
        <p:nvSpPr>
          <p:cNvPr id="21" name="Text 18"/>
          <p:cNvSpPr txBox="1"/>
          <p:nvPr/>
        </p:nvSpPr>
        <p:spPr>
          <a:xfrm>
            <a:off x="2788920" y="3840480"/>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Atletico Madrid</a:t>
            </a:r>
            <a:endParaRPr lang="en-US" sz="1400" dirty="0"/>
          </a:p>
        </p:txBody>
      </p:sp>
      <p:sp>
        <p:nvSpPr>
          <p:cNvPr id="22" name="Team chip Barcelona"/>
          <p:cNvSpPr/>
          <p:nvPr/>
        </p:nvSpPr>
        <p:spPr>
          <a:xfrm>
            <a:off x="5029200" y="3840480"/>
            <a:ext cx="2103120" cy="438912"/>
          </a:xfrm>
          <a:prstGeom prst="roundRect">
            <a:avLst>
              <a:gd name="adj" fmla="val 50000"/>
            </a:avLst>
          </a:prstGeom>
          <a:solidFill>
            <a:schemeClr val="tx2"/>
          </a:solidFill>
          <a:ln w="9525">
            <a:solidFill>
              <a:srgbClr val="24396B"/>
            </a:solidFill>
            <a:prstDash val="solid"/>
          </a:ln>
        </p:spPr>
      </p:sp>
      <p:sp>
        <p:nvSpPr>
          <p:cNvPr id="23" name="Text 20"/>
          <p:cNvSpPr txBox="1"/>
          <p:nvPr/>
        </p:nvSpPr>
        <p:spPr>
          <a:xfrm>
            <a:off x="5029200" y="3840480"/>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Barcelona</a:t>
            </a:r>
            <a:endParaRPr lang="en-US" sz="1400" dirty="0"/>
          </a:p>
        </p:txBody>
      </p:sp>
      <p:sp>
        <p:nvSpPr>
          <p:cNvPr id="24" name="Team chip Celta Vigo"/>
          <p:cNvSpPr/>
          <p:nvPr/>
        </p:nvSpPr>
        <p:spPr>
          <a:xfrm>
            <a:off x="7269480" y="3840480"/>
            <a:ext cx="2103120" cy="438912"/>
          </a:xfrm>
          <a:prstGeom prst="roundRect">
            <a:avLst>
              <a:gd name="adj" fmla="val 50000"/>
            </a:avLst>
          </a:prstGeom>
          <a:solidFill>
            <a:schemeClr val="tx2"/>
          </a:solidFill>
          <a:ln w="9525">
            <a:solidFill>
              <a:srgbClr val="24396B"/>
            </a:solidFill>
            <a:prstDash val="solid"/>
          </a:ln>
        </p:spPr>
      </p:sp>
      <p:sp>
        <p:nvSpPr>
          <p:cNvPr id="25" name="Text 22"/>
          <p:cNvSpPr txBox="1"/>
          <p:nvPr/>
        </p:nvSpPr>
        <p:spPr>
          <a:xfrm>
            <a:off x="7269480" y="3840480"/>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Celta Vigo</a:t>
            </a:r>
            <a:endParaRPr lang="en-US" sz="1400" dirty="0"/>
          </a:p>
        </p:txBody>
      </p:sp>
      <p:sp>
        <p:nvSpPr>
          <p:cNvPr id="26" name="Team chip Deportivo Alaves"/>
          <p:cNvSpPr/>
          <p:nvPr/>
        </p:nvSpPr>
        <p:spPr>
          <a:xfrm>
            <a:off x="9509760" y="3840480"/>
            <a:ext cx="2103120" cy="438912"/>
          </a:xfrm>
          <a:prstGeom prst="roundRect">
            <a:avLst>
              <a:gd name="adj" fmla="val 50000"/>
            </a:avLst>
          </a:prstGeom>
          <a:solidFill>
            <a:schemeClr val="tx2"/>
          </a:solidFill>
          <a:ln w="9525">
            <a:solidFill>
              <a:srgbClr val="24396B"/>
            </a:solidFill>
            <a:prstDash val="solid"/>
          </a:ln>
        </p:spPr>
      </p:sp>
      <p:sp>
        <p:nvSpPr>
          <p:cNvPr id="27" name="Text 24"/>
          <p:cNvSpPr txBox="1"/>
          <p:nvPr/>
        </p:nvSpPr>
        <p:spPr>
          <a:xfrm>
            <a:off x="9509760" y="3840480"/>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Deportivo Alaves</a:t>
            </a:r>
            <a:endParaRPr lang="en-US" sz="1400" dirty="0"/>
          </a:p>
        </p:txBody>
      </p:sp>
      <p:sp>
        <p:nvSpPr>
          <p:cNvPr id="28" name="Team chip Espanyol"/>
          <p:cNvSpPr/>
          <p:nvPr/>
        </p:nvSpPr>
        <p:spPr>
          <a:xfrm>
            <a:off x="548640" y="4407408"/>
            <a:ext cx="2103120" cy="438912"/>
          </a:xfrm>
          <a:prstGeom prst="roundRect">
            <a:avLst>
              <a:gd name="adj" fmla="val 50000"/>
            </a:avLst>
          </a:prstGeom>
          <a:solidFill>
            <a:schemeClr val="tx2"/>
          </a:solidFill>
          <a:ln w="9525">
            <a:solidFill>
              <a:srgbClr val="24396B"/>
            </a:solidFill>
            <a:prstDash val="solid"/>
          </a:ln>
        </p:spPr>
      </p:sp>
      <p:sp>
        <p:nvSpPr>
          <p:cNvPr id="29" name="Text 26"/>
          <p:cNvSpPr txBox="1"/>
          <p:nvPr/>
        </p:nvSpPr>
        <p:spPr>
          <a:xfrm>
            <a:off x="548640" y="4407408"/>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Espanyol</a:t>
            </a:r>
            <a:endParaRPr lang="en-US" sz="1400" dirty="0"/>
          </a:p>
        </p:txBody>
      </p:sp>
      <p:sp>
        <p:nvSpPr>
          <p:cNvPr id="30" name="Team chip Getafe"/>
          <p:cNvSpPr/>
          <p:nvPr/>
        </p:nvSpPr>
        <p:spPr>
          <a:xfrm>
            <a:off x="2788920" y="4407408"/>
            <a:ext cx="2103120" cy="438912"/>
          </a:xfrm>
          <a:prstGeom prst="roundRect">
            <a:avLst>
              <a:gd name="adj" fmla="val 50000"/>
            </a:avLst>
          </a:prstGeom>
          <a:solidFill>
            <a:schemeClr val="tx2"/>
          </a:solidFill>
          <a:ln w="9525">
            <a:solidFill>
              <a:srgbClr val="24396B"/>
            </a:solidFill>
            <a:prstDash val="solid"/>
          </a:ln>
        </p:spPr>
      </p:sp>
      <p:sp>
        <p:nvSpPr>
          <p:cNvPr id="31" name="Text 28"/>
          <p:cNvSpPr txBox="1"/>
          <p:nvPr/>
        </p:nvSpPr>
        <p:spPr>
          <a:xfrm>
            <a:off x="2788920" y="4407408"/>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Getafe</a:t>
            </a:r>
            <a:endParaRPr lang="en-US" sz="1400" dirty="0"/>
          </a:p>
        </p:txBody>
      </p:sp>
      <p:sp>
        <p:nvSpPr>
          <p:cNvPr id="32" name="Team chip Girona"/>
          <p:cNvSpPr/>
          <p:nvPr/>
        </p:nvSpPr>
        <p:spPr>
          <a:xfrm>
            <a:off x="5029200" y="4407408"/>
            <a:ext cx="2103120" cy="438912"/>
          </a:xfrm>
          <a:prstGeom prst="roundRect">
            <a:avLst>
              <a:gd name="adj" fmla="val 50000"/>
            </a:avLst>
          </a:prstGeom>
          <a:solidFill>
            <a:schemeClr val="tx2"/>
          </a:solidFill>
          <a:ln w="9525">
            <a:solidFill>
              <a:srgbClr val="24396B"/>
            </a:solidFill>
            <a:prstDash val="solid"/>
          </a:ln>
        </p:spPr>
      </p:sp>
      <p:sp>
        <p:nvSpPr>
          <p:cNvPr id="33" name="Text 30"/>
          <p:cNvSpPr txBox="1"/>
          <p:nvPr/>
        </p:nvSpPr>
        <p:spPr>
          <a:xfrm>
            <a:off x="5029200" y="4407408"/>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Girona</a:t>
            </a:r>
            <a:endParaRPr lang="en-US" sz="1400" dirty="0"/>
          </a:p>
        </p:txBody>
      </p:sp>
      <p:sp>
        <p:nvSpPr>
          <p:cNvPr id="34" name="Team chip Las Palmas"/>
          <p:cNvSpPr/>
          <p:nvPr/>
        </p:nvSpPr>
        <p:spPr>
          <a:xfrm>
            <a:off x="7269480" y="4407408"/>
            <a:ext cx="2103120" cy="438912"/>
          </a:xfrm>
          <a:prstGeom prst="roundRect">
            <a:avLst>
              <a:gd name="adj" fmla="val 50000"/>
            </a:avLst>
          </a:prstGeom>
          <a:solidFill>
            <a:schemeClr val="tx2"/>
          </a:solidFill>
          <a:ln w="9525">
            <a:solidFill>
              <a:srgbClr val="24396B"/>
            </a:solidFill>
            <a:prstDash val="solid"/>
          </a:ln>
        </p:spPr>
      </p:sp>
      <p:sp>
        <p:nvSpPr>
          <p:cNvPr id="35" name="Text 32"/>
          <p:cNvSpPr txBox="1"/>
          <p:nvPr/>
        </p:nvSpPr>
        <p:spPr>
          <a:xfrm>
            <a:off x="7269480" y="4407408"/>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Las Palmas</a:t>
            </a:r>
            <a:endParaRPr lang="en-US" sz="1400" dirty="0"/>
          </a:p>
        </p:txBody>
      </p:sp>
      <p:sp>
        <p:nvSpPr>
          <p:cNvPr id="36" name="Team chip Leganes"/>
          <p:cNvSpPr/>
          <p:nvPr/>
        </p:nvSpPr>
        <p:spPr>
          <a:xfrm>
            <a:off x="9509760" y="4407408"/>
            <a:ext cx="2103120" cy="438912"/>
          </a:xfrm>
          <a:prstGeom prst="roundRect">
            <a:avLst>
              <a:gd name="adj" fmla="val 50000"/>
            </a:avLst>
          </a:prstGeom>
          <a:solidFill>
            <a:schemeClr val="tx2"/>
          </a:solidFill>
          <a:ln w="9525">
            <a:solidFill>
              <a:srgbClr val="24396B"/>
            </a:solidFill>
            <a:prstDash val="solid"/>
          </a:ln>
        </p:spPr>
      </p:sp>
      <p:sp>
        <p:nvSpPr>
          <p:cNvPr id="37" name="Text 34"/>
          <p:cNvSpPr txBox="1"/>
          <p:nvPr/>
        </p:nvSpPr>
        <p:spPr>
          <a:xfrm>
            <a:off x="9509760" y="4407408"/>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Leganes</a:t>
            </a:r>
            <a:endParaRPr lang="en-US" sz="1400" dirty="0"/>
          </a:p>
        </p:txBody>
      </p:sp>
      <p:sp>
        <p:nvSpPr>
          <p:cNvPr id="38" name="Team chip Mallorca"/>
          <p:cNvSpPr/>
          <p:nvPr/>
        </p:nvSpPr>
        <p:spPr>
          <a:xfrm>
            <a:off x="548640" y="4974336"/>
            <a:ext cx="2103120" cy="438912"/>
          </a:xfrm>
          <a:prstGeom prst="roundRect">
            <a:avLst>
              <a:gd name="adj" fmla="val 50000"/>
            </a:avLst>
          </a:prstGeom>
          <a:solidFill>
            <a:schemeClr val="tx2"/>
          </a:solidFill>
          <a:ln w="9525">
            <a:solidFill>
              <a:srgbClr val="24396B"/>
            </a:solidFill>
            <a:prstDash val="solid"/>
          </a:ln>
        </p:spPr>
      </p:sp>
      <p:sp>
        <p:nvSpPr>
          <p:cNvPr id="39" name="Text 36"/>
          <p:cNvSpPr txBox="1"/>
          <p:nvPr/>
        </p:nvSpPr>
        <p:spPr>
          <a:xfrm>
            <a:off x="548640" y="4974336"/>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Mallorca</a:t>
            </a:r>
            <a:endParaRPr lang="en-US" sz="1400" dirty="0"/>
          </a:p>
        </p:txBody>
      </p:sp>
      <p:sp>
        <p:nvSpPr>
          <p:cNvPr id="40" name="Team chip Osasuna"/>
          <p:cNvSpPr/>
          <p:nvPr/>
        </p:nvSpPr>
        <p:spPr>
          <a:xfrm>
            <a:off x="2788920" y="4974336"/>
            <a:ext cx="2103120" cy="438912"/>
          </a:xfrm>
          <a:prstGeom prst="roundRect">
            <a:avLst>
              <a:gd name="adj" fmla="val 50000"/>
            </a:avLst>
          </a:prstGeom>
          <a:solidFill>
            <a:schemeClr val="tx2"/>
          </a:solidFill>
          <a:ln w="9525">
            <a:solidFill>
              <a:srgbClr val="24396B"/>
            </a:solidFill>
            <a:prstDash val="solid"/>
          </a:ln>
        </p:spPr>
      </p:sp>
      <p:sp>
        <p:nvSpPr>
          <p:cNvPr id="41" name="Text 38"/>
          <p:cNvSpPr txBox="1"/>
          <p:nvPr/>
        </p:nvSpPr>
        <p:spPr>
          <a:xfrm>
            <a:off x="2788920" y="4974336"/>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Osasuna</a:t>
            </a:r>
            <a:endParaRPr lang="en-US" sz="1400" dirty="0"/>
          </a:p>
        </p:txBody>
      </p:sp>
      <p:sp>
        <p:nvSpPr>
          <p:cNvPr id="42" name="Team chip Rayo Vallecano"/>
          <p:cNvSpPr/>
          <p:nvPr/>
        </p:nvSpPr>
        <p:spPr>
          <a:xfrm>
            <a:off x="5029200" y="4974336"/>
            <a:ext cx="2103120" cy="438912"/>
          </a:xfrm>
          <a:prstGeom prst="roundRect">
            <a:avLst>
              <a:gd name="adj" fmla="val 50000"/>
            </a:avLst>
          </a:prstGeom>
          <a:solidFill>
            <a:schemeClr val="tx2"/>
          </a:solidFill>
          <a:ln w="9525">
            <a:solidFill>
              <a:srgbClr val="24396B"/>
            </a:solidFill>
            <a:prstDash val="solid"/>
          </a:ln>
        </p:spPr>
      </p:sp>
      <p:sp>
        <p:nvSpPr>
          <p:cNvPr id="43" name="Text 40"/>
          <p:cNvSpPr txBox="1"/>
          <p:nvPr/>
        </p:nvSpPr>
        <p:spPr>
          <a:xfrm>
            <a:off x="5029200" y="4974336"/>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Rayo Vallecano</a:t>
            </a:r>
            <a:endParaRPr lang="en-US" sz="1400" dirty="0"/>
          </a:p>
        </p:txBody>
      </p:sp>
      <p:sp>
        <p:nvSpPr>
          <p:cNvPr id="44" name="Team chip Real Betis"/>
          <p:cNvSpPr/>
          <p:nvPr/>
        </p:nvSpPr>
        <p:spPr>
          <a:xfrm>
            <a:off x="7269480" y="4974336"/>
            <a:ext cx="2103120" cy="438912"/>
          </a:xfrm>
          <a:prstGeom prst="roundRect">
            <a:avLst>
              <a:gd name="adj" fmla="val 50000"/>
            </a:avLst>
          </a:prstGeom>
          <a:solidFill>
            <a:schemeClr val="tx2"/>
          </a:solidFill>
          <a:ln w="9525">
            <a:solidFill>
              <a:srgbClr val="24396B"/>
            </a:solidFill>
            <a:prstDash val="solid"/>
          </a:ln>
        </p:spPr>
      </p:sp>
      <p:sp>
        <p:nvSpPr>
          <p:cNvPr id="45" name="Text 42"/>
          <p:cNvSpPr txBox="1"/>
          <p:nvPr/>
        </p:nvSpPr>
        <p:spPr>
          <a:xfrm>
            <a:off x="7269480" y="4974336"/>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Real Betis</a:t>
            </a:r>
            <a:endParaRPr lang="en-US" sz="1400" dirty="0"/>
          </a:p>
        </p:txBody>
      </p:sp>
      <p:sp>
        <p:nvSpPr>
          <p:cNvPr id="46" name="Team chip Real Madrid"/>
          <p:cNvSpPr/>
          <p:nvPr/>
        </p:nvSpPr>
        <p:spPr>
          <a:xfrm>
            <a:off x="9509760" y="4974336"/>
            <a:ext cx="2103120" cy="438912"/>
          </a:xfrm>
          <a:prstGeom prst="roundRect">
            <a:avLst>
              <a:gd name="adj" fmla="val 50000"/>
            </a:avLst>
          </a:prstGeom>
          <a:solidFill>
            <a:schemeClr val="tx2"/>
          </a:solidFill>
          <a:ln w="9525">
            <a:solidFill>
              <a:srgbClr val="24396B"/>
            </a:solidFill>
            <a:prstDash val="solid"/>
          </a:ln>
        </p:spPr>
      </p:sp>
      <p:sp>
        <p:nvSpPr>
          <p:cNvPr id="47" name="Text 44"/>
          <p:cNvSpPr txBox="1"/>
          <p:nvPr/>
        </p:nvSpPr>
        <p:spPr>
          <a:xfrm>
            <a:off x="9509760" y="4974336"/>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Real Madrid</a:t>
            </a:r>
            <a:endParaRPr lang="en-US" sz="1400" dirty="0"/>
          </a:p>
        </p:txBody>
      </p:sp>
      <p:sp>
        <p:nvSpPr>
          <p:cNvPr id="48" name="Team chip Real Sociedad"/>
          <p:cNvSpPr/>
          <p:nvPr/>
        </p:nvSpPr>
        <p:spPr>
          <a:xfrm>
            <a:off x="548640" y="5541264"/>
            <a:ext cx="2103120" cy="438912"/>
          </a:xfrm>
          <a:prstGeom prst="roundRect">
            <a:avLst>
              <a:gd name="adj" fmla="val 50000"/>
            </a:avLst>
          </a:prstGeom>
          <a:solidFill>
            <a:schemeClr val="tx2"/>
          </a:solidFill>
          <a:ln w="9525">
            <a:solidFill>
              <a:srgbClr val="24396B"/>
            </a:solidFill>
            <a:prstDash val="solid"/>
          </a:ln>
        </p:spPr>
      </p:sp>
      <p:sp>
        <p:nvSpPr>
          <p:cNvPr id="49" name="Text 46"/>
          <p:cNvSpPr txBox="1"/>
          <p:nvPr/>
        </p:nvSpPr>
        <p:spPr>
          <a:xfrm>
            <a:off x="548640" y="5541264"/>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Real Sociedad</a:t>
            </a:r>
            <a:endParaRPr lang="en-US" sz="1400" dirty="0"/>
          </a:p>
        </p:txBody>
      </p:sp>
      <p:sp>
        <p:nvSpPr>
          <p:cNvPr id="50" name="Team chip Real Valladolid"/>
          <p:cNvSpPr/>
          <p:nvPr/>
        </p:nvSpPr>
        <p:spPr>
          <a:xfrm>
            <a:off x="2788920" y="5541264"/>
            <a:ext cx="2103120" cy="438912"/>
          </a:xfrm>
          <a:prstGeom prst="roundRect">
            <a:avLst>
              <a:gd name="adj" fmla="val 50000"/>
            </a:avLst>
          </a:prstGeom>
          <a:solidFill>
            <a:schemeClr val="tx2"/>
          </a:solidFill>
          <a:ln w="9525">
            <a:solidFill>
              <a:srgbClr val="24396B"/>
            </a:solidFill>
            <a:prstDash val="solid"/>
          </a:ln>
        </p:spPr>
      </p:sp>
      <p:sp>
        <p:nvSpPr>
          <p:cNvPr id="51" name="Text 48"/>
          <p:cNvSpPr txBox="1"/>
          <p:nvPr/>
        </p:nvSpPr>
        <p:spPr>
          <a:xfrm>
            <a:off x="2788920" y="5541264"/>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Real Valladolid</a:t>
            </a:r>
            <a:endParaRPr lang="en-US" sz="1400" dirty="0"/>
          </a:p>
        </p:txBody>
      </p:sp>
      <p:sp>
        <p:nvSpPr>
          <p:cNvPr id="52" name="Team chip Sevilla"/>
          <p:cNvSpPr/>
          <p:nvPr/>
        </p:nvSpPr>
        <p:spPr>
          <a:xfrm>
            <a:off x="5029200" y="5541264"/>
            <a:ext cx="2103120" cy="438912"/>
          </a:xfrm>
          <a:prstGeom prst="roundRect">
            <a:avLst>
              <a:gd name="adj" fmla="val 50000"/>
            </a:avLst>
          </a:prstGeom>
          <a:solidFill>
            <a:schemeClr val="tx2"/>
          </a:solidFill>
          <a:ln w="9525">
            <a:solidFill>
              <a:srgbClr val="24396B"/>
            </a:solidFill>
            <a:prstDash val="solid"/>
          </a:ln>
        </p:spPr>
      </p:sp>
      <p:sp>
        <p:nvSpPr>
          <p:cNvPr id="53" name="Text 50"/>
          <p:cNvSpPr txBox="1"/>
          <p:nvPr/>
        </p:nvSpPr>
        <p:spPr>
          <a:xfrm>
            <a:off x="5029200" y="5541264"/>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Sevilla</a:t>
            </a:r>
            <a:endParaRPr lang="en-US" sz="1400" dirty="0"/>
          </a:p>
        </p:txBody>
      </p:sp>
      <p:sp>
        <p:nvSpPr>
          <p:cNvPr id="54" name="Team chip Valencia"/>
          <p:cNvSpPr/>
          <p:nvPr/>
        </p:nvSpPr>
        <p:spPr>
          <a:xfrm>
            <a:off x="7269480" y="5541264"/>
            <a:ext cx="2103120" cy="438912"/>
          </a:xfrm>
          <a:prstGeom prst="roundRect">
            <a:avLst>
              <a:gd name="adj" fmla="val 50000"/>
            </a:avLst>
          </a:prstGeom>
          <a:solidFill>
            <a:schemeClr val="tx2"/>
          </a:solidFill>
          <a:ln w="9525">
            <a:solidFill>
              <a:srgbClr val="24396B"/>
            </a:solidFill>
            <a:prstDash val="solid"/>
          </a:ln>
        </p:spPr>
      </p:sp>
      <p:sp>
        <p:nvSpPr>
          <p:cNvPr id="55" name="Text 52"/>
          <p:cNvSpPr txBox="1"/>
          <p:nvPr/>
        </p:nvSpPr>
        <p:spPr>
          <a:xfrm>
            <a:off x="7269480" y="5541264"/>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Valencia</a:t>
            </a:r>
            <a:endParaRPr lang="en-US" sz="1400" dirty="0"/>
          </a:p>
        </p:txBody>
      </p:sp>
      <p:sp>
        <p:nvSpPr>
          <p:cNvPr id="56" name="Team chip Villarreal"/>
          <p:cNvSpPr/>
          <p:nvPr/>
        </p:nvSpPr>
        <p:spPr>
          <a:xfrm>
            <a:off x="9509760" y="5541264"/>
            <a:ext cx="2103120" cy="438912"/>
          </a:xfrm>
          <a:prstGeom prst="roundRect">
            <a:avLst>
              <a:gd name="adj" fmla="val 50000"/>
            </a:avLst>
          </a:prstGeom>
          <a:solidFill>
            <a:schemeClr val="tx2"/>
          </a:solidFill>
          <a:ln w="9525">
            <a:solidFill>
              <a:srgbClr val="24396B"/>
            </a:solidFill>
            <a:prstDash val="solid"/>
          </a:ln>
        </p:spPr>
      </p:sp>
      <p:sp>
        <p:nvSpPr>
          <p:cNvPr id="57" name="Text 54"/>
          <p:cNvSpPr txBox="1"/>
          <p:nvPr/>
        </p:nvSpPr>
        <p:spPr>
          <a:xfrm>
            <a:off x="9509760" y="5541264"/>
            <a:ext cx="2103120" cy="438912"/>
          </a:xfrm>
          <a:prstGeom prst="rect">
            <a:avLst/>
          </a:prstGeom>
          <a:noFill/>
          <a:ln/>
        </p:spPr>
        <p:txBody>
          <a:bodyPr wrap="square" lIns="0" tIns="0" rIns="0" bIns="0" rtlCol="0" anchor="ctr"/>
          <a:lstStyle/>
          <a:p>
            <a:pPr algn="ctr" indent="0" marL="0">
              <a:buNone/>
            </a:pPr>
            <a:r>
              <a:rPr lang="en-US" sz="1400" dirty="0">
                <a:solidFill>
                  <a:schemeClr val="bg1"/>
                </a:solidFill>
              </a:rPr>
              <a:t>Villarreal</a:t>
            </a:r>
            <a:endParaRPr lang="en-US" sz="14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Exploratory Data Analysis</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DATA</a:t>
            </a:r>
            <a:endParaRPr lang="en-US" sz="1200" dirty="0"/>
          </a:p>
        </p:txBody>
      </p:sp>
      <p:pic>
        <p:nvPicPr>
          <p:cNvPr id="5" name="Image 0" descr="/home/claude/deck/c4_0.png">    </p:cNvPr>
          <p:cNvPicPr>
            <a:picLocks noChangeAspect="1"/>
          </p:cNvPicPr>
          <p:nvPr/>
        </p:nvPicPr>
        <p:blipFill>
          <a:blip r:embed="rId1"/>
          <a:stretch>
            <a:fillRect/>
          </a:stretch>
        </p:blipFill>
        <p:spPr>
          <a:xfrm>
            <a:off x="608215" y="1508760"/>
            <a:ext cx="6555971" cy="4754880"/>
          </a:xfrm>
          <a:prstGeom prst="rect">
            <a:avLst/>
          </a:prstGeom>
        </p:spPr>
      </p:pic>
      <p:sp>
        <p:nvSpPr>
          <p:cNvPr id="6" name="Findings card"/>
          <p:cNvSpPr/>
          <p:nvPr/>
        </p:nvSpPr>
        <p:spPr>
          <a:xfrm>
            <a:off x="7543800" y="1508760"/>
            <a:ext cx="4114800" cy="4754880"/>
          </a:xfrm>
          <a:prstGeom prst="roundRect">
            <a:avLst>
              <a:gd name="adj" fmla="val 2667"/>
            </a:avLst>
          </a:prstGeom>
          <a:solidFill>
            <a:schemeClr val="tx2"/>
          </a:solidFill>
          <a:ln w="9525">
            <a:solidFill>
              <a:srgbClr val="24396B"/>
            </a:solidFill>
            <a:prstDash val="solid"/>
          </a:ln>
        </p:spPr>
      </p:sp>
      <p:sp>
        <p:nvSpPr>
          <p:cNvPr id="7" name="Text 3"/>
          <p:cNvSpPr txBox="1"/>
          <p:nvPr/>
        </p:nvSpPr>
        <p:spPr>
          <a:xfrm>
            <a:off x="7818120" y="1691640"/>
            <a:ext cx="3566160" cy="411480"/>
          </a:xfrm>
          <a:prstGeom prst="rect">
            <a:avLst/>
          </a:prstGeom>
          <a:noFill/>
          <a:ln/>
        </p:spPr>
        <p:txBody>
          <a:bodyPr wrap="square" lIns="0" tIns="0" rIns="0" bIns="0" rtlCol="0" anchor="t"/>
          <a:lstStyle/>
          <a:p>
            <a:pPr indent="0" marL="0">
              <a:buNone/>
            </a:pPr>
            <a:r>
              <a:rPr lang="en-US" sz="2000" b="1" dirty="0">
                <a:solidFill>
                  <a:schemeClr val="accent1"/>
                </a:solidFill>
              </a:rPr>
              <a:t>What the scan found</a:t>
            </a:r>
            <a:endParaRPr lang="en-US" sz="2000" dirty="0"/>
          </a:p>
        </p:txBody>
      </p:sp>
      <p:sp>
        <p:nvSpPr>
          <p:cNvPr id="8" name="Text 4"/>
          <p:cNvSpPr txBox="1"/>
          <p:nvPr/>
        </p:nvSpPr>
        <p:spPr>
          <a:xfrm>
            <a:off x="7818120" y="2240280"/>
            <a:ext cx="3611880" cy="38404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bg1"/>
                </a:solidFill>
              </a:rPr>
              <a:t>Perfectly balanced: 100 images per class</a:t>
            </a:r>
            <a:endParaRPr lang="en-US" sz="1500" dirty="0"/>
          </a:p>
          <a:p>
            <a:pPr marL="342900" indent="-342900">
              <a:spcAft>
                <a:spcPts val="800"/>
              </a:spcAft>
              <a:buSzPct val="100000"/>
              <a:buChar char="•"/>
            </a:pPr>
            <a:r>
              <a:rPr lang="en-US" sz="1500" dirty="0">
                <a:solidFill>
                  <a:schemeClr val="bg1"/>
                </a:solidFill>
              </a:rPr>
              <a:t>No corrupted files; all images are RGB</a:t>
            </a:r>
            <a:endParaRPr lang="en-US" sz="1500" dirty="0"/>
          </a:p>
          <a:p>
            <a:pPr marL="342900" indent="-342900">
              <a:spcAft>
                <a:spcPts val="800"/>
              </a:spcAft>
              <a:buSzPct val="100000"/>
              <a:buChar char="•"/>
            </a:pPr>
            <a:r>
              <a:rPr lang="en-US" sz="1500" dirty="0">
                <a:solidFill>
                  <a:schemeClr val="bg1"/>
                </a:solidFill>
              </a:rPr>
              <a:t>1 exact duplicate (Girona img20 / img48) removed → 1,999 images</a:t>
            </a:r>
            <a:endParaRPr lang="en-US" sz="1500" dirty="0"/>
          </a:p>
          <a:p>
            <a:pPr marL="342900" indent="-342900">
              <a:spcAft>
                <a:spcPts val="800"/>
              </a:spcAft>
              <a:buSzPct val="100000"/>
              <a:buChar char="•"/>
            </a:pPr>
            <a:r>
              <a:rPr lang="en-US" sz="1500" dirty="0">
                <a:solidFill>
                  <a:schemeClr val="bg1"/>
                </a:solidFill>
              </a:rPr>
              <a:t>Samples show rotated crops, black fill and inverted orientations</a:t>
            </a:r>
            <a:endParaRPr lang="en-US" sz="1500" dirty="0"/>
          </a:p>
          <a:p>
            <a:pPr marL="342900" indent="-342900">
              <a:spcAft>
                <a:spcPts val="800"/>
              </a:spcAft>
              <a:buSzPct val="100000"/>
              <a:buChar char="•"/>
            </a:pPr>
            <a:r>
              <a:rPr lang="en-US" sz="1500" dirty="0">
                <a:solidFill>
                  <a:schemeClr val="bg1"/>
                </a:solidFill>
              </a:rPr>
              <a:t>Only exact duplicates were checked, not near-duplicates</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Data Preprocessing and Splitting</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DATA</a:t>
            </a:r>
            <a:endParaRPr lang="en-US" sz="1200" dirty="0"/>
          </a:p>
        </p:txBody>
      </p:sp>
      <p:sp>
        <p:nvSpPr>
          <p:cNvPr id="5" name="Step 1"/>
          <p:cNvSpPr/>
          <p:nvPr/>
        </p:nvSpPr>
        <p:spPr>
          <a:xfrm>
            <a:off x="548640" y="1554480"/>
            <a:ext cx="4754880" cy="777240"/>
          </a:xfrm>
          <a:prstGeom prst="roundRect">
            <a:avLst>
              <a:gd name="adj" fmla="val 14118"/>
            </a:avLst>
          </a:prstGeom>
          <a:solidFill>
            <a:schemeClr val="tx2"/>
          </a:solidFill>
          <a:ln w="9525">
            <a:solidFill>
              <a:srgbClr val="24396B"/>
            </a:solidFill>
            <a:prstDash val="solid"/>
          </a:ln>
        </p:spPr>
      </p:sp>
      <p:sp>
        <p:nvSpPr>
          <p:cNvPr id="6" name="Shape 3"/>
          <p:cNvSpPr/>
          <p:nvPr/>
        </p:nvSpPr>
        <p:spPr>
          <a:xfrm>
            <a:off x="731520" y="1709928"/>
            <a:ext cx="457200" cy="457200"/>
          </a:xfrm>
          <a:prstGeom prst="ellipse">
            <a:avLst/>
          </a:prstGeom>
          <a:solidFill>
            <a:schemeClr val="accent1"/>
          </a:solidFill>
          <a:ln/>
        </p:spPr>
      </p:sp>
      <p:sp>
        <p:nvSpPr>
          <p:cNvPr id="7" name="Text 4"/>
          <p:cNvSpPr txBox="1"/>
          <p:nvPr/>
        </p:nvSpPr>
        <p:spPr>
          <a:xfrm>
            <a:off x="731520" y="170992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8" name="Text 5"/>
          <p:cNvSpPr txBox="1"/>
          <p:nvPr/>
        </p:nvSpPr>
        <p:spPr>
          <a:xfrm>
            <a:off x="1371600" y="1645920"/>
            <a:ext cx="1371600" cy="594360"/>
          </a:xfrm>
          <a:prstGeom prst="rect">
            <a:avLst/>
          </a:prstGeom>
          <a:noFill/>
          <a:ln/>
        </p:spPr>
        <p:txBody>
          <a:bodyPr wrap="square" lIns="0" tIns="0" rIns="0" bIns="0" rtlCol="0" anchor="ctr"/>
          <a:lstStyle/>
          <a:p>
            <a:pPr indent="0" marL="0">
              <a:buNone/>
            </a:pPr>
            <a:r>
              <a:rPr lang="en-US" sz="1800" b="1" dirty="0">
                <a:solidFill>
                  <a:schemeClr val="bg1"/>
                </a:solidFill>
              </a:rPr>
              <a:t>Decode</a:t>
            </a:r>
            <a:endParaRPr lang="en-US" sz="1800" dirty="0"/>
          </a:p>
        </p:txBody>
      </p:sp>
      <p:sp>
        <p:nvSpPr>
          <p:cNvPr id="9" name="Text 6"/>
          <p:cNvSpPr txBox="1"/>
          <p:nvPr/>
        </p:nvSpPr>
        <p:spPr>
          <a:xfrm>
            <a:off x="2743200" y="1645920"/>
            <a:ext cx="2468880" cy="594360"/>
          </a:xfrm>
          <a:prstGeom prst="rect">
            <a:avLst/>
          </a:prstGeom>
          <a:noFill/>
          <a:ln/>
        </p:spPr>
        <p:txBody>
          <a:bodyPr wrap="square" lIns="0" tIns="0" rIns="0" bIns="0" rtlCol="0" anchor="ctr"/>
          <a:lstStyle/>
          <a:p>
            <a:pPr indent="0" marL="0">
              <a:buNone/>
            </a:pPr>
            <a:r>
              <a:rPr lang="en-US" sz="1400" dirty="0">
                <a:solidFill>
                  <a:schemeClr val="bg2"/>
                </a:solidFill>
              </a:rPr>
              <a:t>RGB, 3 channels</a:t>
            </a:r>
            <a:endParaRPr lang="en-US" sz="1400" dirty="0"/>
          </a:p>
        </p:txBody>
      </p:sp>
      <p:sp>
        <p:nvSpPr>
          <p:cNvPr id="10" name="Step 2"/>
          <p:cNvSpPr/>
          <p:nvPr/>
        </p:nvSpPr>
        <p:spPr>
          <a:xfrm>
            <a:off x="548640" y="2450592"/>
            <a:ext cx="4754880" cy="777240"/>
          </a:xfrm>
          <a:prstGeom prst="roundRect">
            <a:avLst>
              <a:gd name="adj" fmla="val 14118"/>
            </a:avLst>
          </a:prstGeom>
          <a:solidFill>
            <a:schemeClr val="tx2"/>
          </a:solidFill>
          <a:ln w="9525">
            <a:solidFill>
              <a:srgbClr val="24396B"/>
            </a:solidFill>
            <a:prstDash val="solid"/>
          </a:ln>
        </p:spPr>
      </p:sp>
      <p:sp>
        <p:nvSpPr>
          <p:cNvPr id="11" name="Shape 8"/>
          <p:cNvSpPr/>
          <p:nvPr/>
        </p:nvSpPr>
        <p:spPr>
          <a:xfrm>
            <a:off x="731520" y="2606040"/>
            <a:ext cx="457200" cy="457200"/>
          </a:xfrm>
          <a:prstGeom prst="ellipse">
            <a:avLst/>
          </a:prstGeom>
          <a:solidFill>
            <a:schemeClr val="accent2"/>
          </a:solidFill>
          <a:ln/>
        </p:spPr>
      </p:sp>
      <p:sp>
        <p:nvSpPr>
          <p:cNvPr id="12" name="Text 9"/>
          <p:cNvSpPr txBox="1"/>
          <p:nvPr/>
        </p:nvSpPr>
        <p:spPr>
          <a:xfrm>
            <a:off x="731520" y="2606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3" name="Text 10"/>
          <p:cNvSpPr txBox="1"/>
          <p:nvPr/>
        </p:nvSpPr>
        <p:spPr>
          <a:xfrm>
            <a:off x="1371600" y="2542032"/>
            <a:ext cx="1371600" cy="594360"/>
          </a:xfrm>
          <a:prstGeom prst="rect">
            <a:avLst/>
          </a:prstGeom>
          <a:noFill/>
          <a:ln/>
        </p:spPr>
        <p:txBody>
          <a:bodyPr wrap="square" lIns="0" tIns="0" rIns="0" bIns="0" rtlCol="0" anchor="ctr"/>
          <a:lstStyle/>
          <a:p>
            <a:pPr indent="0" marL="0">
              <a:buNone/>
            </a:pPr>
            <a:r>
              <a:rPr lang="en-US" sz="1800" b="1" dirty="0">
                <a:solidFill>
                  <a:schemeClr val="bg1"/>
                </a:solidFill>
              </a:rPr>
              <a:t>Resize</a:t>
            </a:r>
            <a:endParaRPr lang="en-US" sz="1800" dirty="0"/>
          </a:p>
        </p:txBody>
      </p:sp>
      <p:sp>
        <p:nvSpPr>
          <p:cNvPr id="14" name="Text 11"/>
          <p:cNvSpPr txBox="1"/>
          <p:nvPr/>
        </p:nvSpPr>
        <p:spPr>
          <a:xfrm>
            <a:off x="2743200" y="2542032"/>
            <a:ext cx="2468880" cy="594360"/>
          </a:xfrm>
          <a:prstGeom prst="rect">
            <a:avLst/>
          </a:prstGeom>
          <a:noFill/>
          <a:ln/>
        </p:spPr>
        <p:txBody>
          <a:bodyPr wrap="square" lIns="0" tIns="0" rIns="0" bIns="0" rtlCol="0" anchor="ctr"/>
          <a:lstStyle/>
          <a:p>
            <a:pPr indent="0" marL="0">
              <a:buNone/>
            </a:pPr>
            <a:r>
              <a:rPr lang="en-US" sz="1400" dirty="0">
                <a:solidFill>
                  <a:schemeClr val="bg2"/>
                </a:solidFill>
              </a:rPr>
              <a:t>224 × 224 pixels</a:t>
            </a:r>
            <a:endParaRPr lang="en-US" sz="1400" dirty="0"/>
          </a:p>
        </p:txBody>
      </p:sp>
      <p:sp>
        <p:nvSpPr>
          <p:cNvPr id="15" name="Step 3"/>
          <p:cNvSpPr/>
          <p:nvPr/>
        </p:nvSpPr>
        <p:spPr>
          <a:xfrm>
            <a:off x="548640" y="3346704"/>
            <a:ext cx="4754880" cy="777240"/>
          </a:xfrm>
          <a:prstGeom prst="roundRect">
            <a:avLst>
              <a:gd name="adj" fmla="val 14118"/>
            </a:avLst>
          </a:prstGeom>
          <a:solidFill>
            <a:schemeClr val="tx2"/>
          </a:solidFill>
          <a:ln w="9525">
            <a:solidFill>
              <a:srgbClr val="24396B"/>
            </a:solidFill>
            <a:prstDash val="solid"/>
          </a:ln>
        </p:spPr>
      </p:sp>
      <p:sp>
        <p:nvSpPr>
          <p:cNvPr id="16" name="Shape 13"/>
          <p:cNvSpPr/>
          <p:nvPr/>
        </p:nvSpPr>
        <p:spPr>
          <a:xfrm>
            <a:off x="731520" y="3502152"/>
            <a:ext cx="457200" cy="457200"/>
          </a:xfrm>
          <a:prstGeom prst="ellipse">
            <a:avLst/>
          </a:prstGeom>
          <a:solidFill>
            <a:schemeClr val="accent1"/>
          </a:solidFill>
          <a:ln/>
        </p:spPr>
      </p:sp>
      <p:sp>
        <p:nvSpPr>
          <p:cNvPr id="17" name="Text 14"/>
          <p:cNvSpPr txBox="1"/>
          <p:nvPr/>
        </p:nvSpPr>
        <p:spPr>
          <a:xfrm>
            <a:off x="731520" y="3502152"/>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18" name="Text 15"/>
          <p:cNvSpPr txBox="1"/>
          <p:nvPr/>
        </p:nvSpPr>
        <p:spPr>
          <a:xfrm>
            <a:off x="1371600" y="3438144"/>
            <a:ext cx="1371600" cy="594360"/>
          </a:xfrm>
          <a:prstGeom prst="rect">
            <a:avLst/>
          </a:prstGeom>
          <a:noFill/>
          <a:ln/>
        </p:spPr>
        <p:txBody>
          <a:bodyPr wrap="square" lIns="0" tIns="0" rIns="0" bIns="0" rtlCol="0" anchor="ctr"/>
          <a:lstStyle/>
          <a:p>
            <a:pPr indent="0" marL="0">
              <a:buNone/>
            </a:pPr>
            <a:r>
              <a:rPr lang="en-US" sz="1800" b="1" dirty="0">
                <a:solidFill>
                  <a:schemeClr val="bg1"/>
                </a:solidFill>
              </a:rPr>
              <a:t>Normalise</a:t>
            </a:r>
            <a:endParaRPr lang="en-US" sz="1800" dirty="0"/>
          </a:p>
        </p:txBody>
      </p:sp>
      <p:sp>
        <p:nvSpPr>
          <p:cNvPr id="19" name="Text 16"/>
          <p:cNvSpPr txBox="1"/>
          <p:nvPr/>
        </p:nvSpPr>
        <p:spPr>
          <a:xfrm>
            <a:off x="2743200" y="3438144"/>
            <a:ext cx="2468880" cy="594360"/>
          </a:xfrm>
          <a:prstGeom prst="rect">
            <a:avLst/>
          </a:prstGeom>
          <a:noFill/>
          <a:ln/>
        </p:spPr>
        <p:txBody>
          <a:bodyPr wrap="square" lIns="0" tIns="0" rIns="0" bIns="0" rtlCol="0" anchor="ctr"/>
          <a:lstStyle/>
          <a:p>
            <a:pPr indent="0" marL="0">
              <a:buNone/>
            </a:pPr>
            <a:r>
              <a:rPr lang="en-US" sz="1400" dirty="0">
                <a:solidFill>
                  <a:schemeClr val="bg2"/>
                </a:solidFill>
              </a:rPr>
              <a:t>Pixel values ÷ 255 → [0, 1]</a:t>
            </a:r>
            <a:endParaRPr lang="en-US" sz="1400" dirty="0"/>
          </a:p>
        </p:txBody>
      </p:sp>
      <p:sp>
        <p:nvSpPr>
          <p:cNvPr id="20" name="Step 4"/>
          <p:cNvSpPr/>
          <p:nvPr/>
        </p:nvSpPr>
        <p:spPr>
          <a:xfrm>
            <a:off x="548640" y="4242816"/>
            <a:ext cx="4754880" cy="777240"/>
          </a:xfrm>
          <a:prstGeom prst="roundRect">
            <a:avLst>
              <a:gd name="adj" fmla="val 14118"/>
            </a:avLst>
          </a:prstGeom>
          <a:solidFill>
            <a:schemeClr val="tx2"/>
          </a:solidFill>
          <a:ln w="9525">
            <a:solidFill>
              <a:srgbClr val="24396B"/>
            </a:solidFill>
            <a:prstDash val="solid"/>
          </a:ln>
        </p:spPr>
      </p:sp>
      <p:sp>
        <p:nvSpPr>
          <p:cNvPr id="21" name="Shape 18"/>
          <p:cNvSpPr/>
          <p:nvPr/>
        </p:nvSpPr>
        <p:spPr>
          <a:xfrm>
            <a:off x="731520" y="4398264"/>
            <a:ext cx="457200" cy="457200"/>
          </a:xfrm>
          <a:prstGeom prst="ellipse">
            <a:avLst/>
          </a:prstGeom>
          <a:solidFill>
            <a:schemeClr val="accent2"/>
          </a:solidFill>
          <a:ln/>
        </p:spPr>
      </p:sp>
      <p:sp>
        <p:nvSpPr>
          <p:cNvPr id="22" name="Text 19"/>
          <p:cNvSpPr txBox="1"/>
          <p:nvPr/>
        </p:nvSpPr>
        <p:spPr>
          <a:xfrm>
            <a:off x="731520" y="4398264"/>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3" name="Text 20"/>
          <p:cNvSpPr txBox="1"/>
          <p:nvPr/>
        </p:nvSpPr>
        <p:spPr>
          <a:xfrm>
            <a:off x="1371600" y="4334256"/>
            <a:ext cx="1371600" cy="594360"/>
          </a:xfrm>
          <a:prstGeom prst="rect">
            <a:avLst/>
          </a:prstGeom>
          <a:noFill/>
          <a:ln/>
        </p:spPr>
        <p:txBody>
          <a:bodyPr wrap="square" lIns="0" tIns="0" rIns="0" bIns="0" rtlCol="0" anchor="ctr"/>
          <a:lstStyle/>
          <a:p>
            <a:pPr indent="0" marL="0">
              <a:buNone/>
            </a:pPr>
            <a:r>
              <a:rPr lang="en-US" sz="1800" b="1" dirty="0">
                <a:solidFill>
                  <a:schemeClr val="bg1"/>
                </a:solidFill>
              </a:rPr>
              <a:t>Shuffle</a:t>
            </a:r>
            <a:endParaRPr lang="en-US" sz="1800" dirty="0"/>
          </a:p>
        </p:txBody>
      </p:sp>
      <p:sp>
        <p:nvSpPr>
          <p:cNvPr id="24" name="Text 21"/>
          <p:cNvSpPr txBox="1"/>
          <p:nvPr/>
        </p:nvSpPr>
        <p:spPr>
          <a:xfrm>
            <a:off x="2743200" y="4334256"/>
            <a:ext cx="2468880" cy="594360"/>
          </a:xfrm>
          <a:prstGeom prst="rect">
            <a:avLst/>
          </a:prstGeom>
          <a:noFill/>
          <a:ln/>
        </p:spPr>
        <p:txBody>
          <a:bodyPr wrap="square" lIns="0" tIns="0" rIns="0" bIns="0" rtlCol="0" anchor="ctr"/>
          <a:lstStyle/>
          <a:p>
            <a:pPr indent="0" marL="0">
              <a:buNone/>
            </a:pPr>
            <a:r>
              <a:rPr lang="en-US" sz="1400" dirty="0">
                <a:solidFill>
                  <a:schemeClr val="bg2"/>
                </a:solidFill>
              </a:rPr>
              <a:t>Training set only (seed 42)</a:t>
            </a:r>
            <a:endParaRPr lang="en-US" sz="1400" dirty="0"/>
          </a:p>
        </p:txBody>
      </p:sp>
      <p:sp>
        <p:nvSpPr>
          <p:cNvPr id="25" name="Step 5"/>
          <p:cNvSpPr/>
          <p:nvPr/>
        </p:nvSpPr>
        <p:spPr>
          <a:xfrm>
            <a:off x="548640" y="5138928"/>
            <a:ext cx="4754880" cy="777240"/>
          </a:xfrm>
          <a:prstGeom prst="roundRect">
            <a:avLst>
              <a:gd name="adj" fmla="val 14118"/>
            </a:avLst>
          </a:prstGeom>
          <a:solidFill>
            <a:schemeClr val="tx2"/>
          </a:solidFill>
          <a:ln w="9525">
            <a:solidFill>
              <a:srgbClr val="24396B"/>
            </a:solidFill>
            <a:prstDash val="solid"/>
          </a:ln>
        </p:spPr>
      </p:sp>
      <p:sp>
        <p:nvSpPr>
          <p:cNvPr id="26" name="Shape 23"/>
          <p:cNvSpPr/>
          <p:nvPr/>
        </p:nvSpPr>
        <p:spPr>
          <a:xfrm>
            <a:off x="731520" y="5294376"/>
            <a:ext cx="457200" cy="457200"/>
          </a:xfrm>
          <a:prstGeom prst="ellipse">
            <a:avLst/>
          </a:prstGeom>
          <a:solidFill>
            <a:schemeClr val="accent1"/>
          </a:solidFill>
          <a:ln/>
        </p:spPr>
      </p:sp>
      <p:sp>
        <p:nvSpPr>
          <p:cNvPr id="27" name="Text 24"/>
          <p:cNvSpPr txBox="1"/>
          <p:nvPr/>
        </p:nvSpPr>
        <p:spPr>
          <a:xfrm>
            <a:off x="731520" y="5294376"/>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rPr>
              <a:t>5</a:t>
            </a:r>
            <a:endParaRPr lang="en-US" sz="1600" dirty="0"/>
          </a:p>
        </p:txBody>
      </p:sp>
      <p:sp>
        <p:nvSpPr>
          <p:cNvPr id="28" name="Text 25"/>
          <p:cNvSpPr txBox="1"/>
          <p:nvPr/>
        </p:nvSpPr>
        <p:spPr>
          <a:xfrm>
            <a:off x="1371600" y="5230368"/>
            <a:ext cx="1371600" cy="594360"/>
          </a:xfrm>
          <a:prstGeom prst="rect">
            <a:avLst/>
          </a:prstGeom>
          <a:noFill/>
          <a:ln/>
        </p:spPr>
        <p:txBody>
          <a:bodyPr wrap="square" lIns="0" tIns="0" rIns="0" bIns="0" rtlCol="0" anchor="ctr"/>
          <a:lstStyle/>
          <a:p>
            <a:pPr indent="0" marL="0">
              <a:buNone/>
            </a:pPr>
            <a:r>
              <a:rPr lang="en-US" sz="1800" b="1" dirty="0">
                <a:solidFill>
                  <a:schemeClr val="bg1"/>
                </a:solidFill>
              </a:rPr>
              <a:t>Batch</a:t>
            </a:r>
            <a:endParaRPr lang="en-US" sz="1800" dirty="0"/>
          </a:p>
        </p:txBody>
      </p:sp>
      <p:sp>
        <p:nvSpPr>
          <p:cNvPr id="29" name="Text 26"/>
          <p:cNvSpPr txBox="1"/>
          <p:nvPr/>
        </p:nvSpPr>
        <p:spPr>
          <a:xfrm>
            <a:off x="2743200" y="5230368"/>
            <a:ext cx="2468880" cy="594360"/>
          </a:xfrm>
          <a:prstGeom prst="rect">
            <a:avLst/>
          </a:prstGeom>
          <a:noFill/>
          <a:ln/>
        </p:spPr>
        <p:txBody>
          <a:bodyPr wrap="square" lIns="0" tIns="0" rIns="0" bIns="0" rtlCol="0" anchor="ctr"/>
          <a:lstStyle/>
          <a:p>
            <a:pPr indent="0" marL="0">
              <a:buNone/>
            </a:pPr>
            <a:r>
              <a:rPr lang="en-US" sz="1400" dirty="0">
                <a:solidFill>
                  <a:schemeClr val="bg2"/>
                </a:solidFill>
              </a:rPr>
              <a:t>32 images, prefetch AUTOTUNE</a:t>
            </a:r>
            <a:endParaRPr lang="en-US" sz="1400" dirty="0"/>
          </a:p>
        </p:txBody>
      </p:sp>
      <p:sp>
        <p:nvSpPr>
          <p:cNvPr id="30" name="Split chart card"/>
          <p:cNvSpPr/>
          <p:nvPr/>
        </p:nvSpPr>
        <p:spPr>
          <a:xfrm>
            <a:off x="5577840" y="1554480"/>
            <a:ext cx="6080760" cy="4526280"/>
          </a:xfrm>
          <a:prstGeom prst="roundRect">
            <a:avLst>
              <a:gd name="adj" fmla="val 2424"/>
            </a:avLst>
          </a:prstGeom>
          <a:solidFill>
            <a:schemeClr val="tx2"/>
          </a:solidFill>
          <a:ln w="9525">
            <a:solidFill>
              <a:srgbClr val="24396B"/>
            </a:solidFill>
            <a:prstDash val="solid"/>
          </a:ln>
        </p:spPr>
      </p:sp>
      <p:graphicFrame>
        <p:nvGraphicFramePr>
          <p:cNvPr id="31" name="Chart 0" descr=""/>
          <p:cNvGraphicFramePr/>
          <p:nvPr/>
        </p:nvGraphicFramePr>
        <p:xfrm>
          <a:off x="5669280" y="2011680"/>
          <a:ext cx="5897880" cy="4023360"/>
        </p:xfrm>
        <a:graphic xmlns:a="http://schemas.openxmlformats.org/drawingml/2006/main">
          <a:graphicData uri="http://schemas.openxmlformats.org/drawingml/2006/chart">
            <c:chart xmlns:c="http://schemas.openxmlformats.org/drawingml/2006/chart" r:id="rId1"/>
          </a:graphicData>
        </a:graphic>
      </p:graphicFrame>
      <p:sp>
        <p:nvSpPr>
          <p:cNvPr id="32" name="Text 28"/>
          <p:cNvSpPr txBox="1"/>
          <p:nvPr/>
        </p:nvSpPr>
        <p:spPr>
          <a:xfrm>
            <a:off x="5852160" y="1664208"/>
            <a:ext cx="5669280" cy="365760"/>
          </a:xfrm>
          <a:prstGeom prst="rect">
            <a:avLst/>
          </a:prstGeom>
          <a:noFill/>
          <a:ln/>
        </p:spPr>
        <p:txBody>
          <a:bodyPr wrap="square" lIns="0" tIns="0" rIns="0" bIns="0" rtlCol="0" anchor="t"/>
          <a:lstStyle/>
          <a:p>
            <a:pPr indent="0" marL="0">
              <a:buNone/>
            </a:pPr>
            <a:r>
              <a:rPr lang="en-US" sz="1500" b="1" dirty="0">
                <a:solidFill>
                  <a:schemeClr val="bg1"/>
                </a:solidFill>
              </a:rPr>
              <a:t>Stratified split 70 / 15 / 15  →  Train 1,399  ·  Val 300  ·  Test 300</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Data Augmentation</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MODEL</a:t>
            </a:r>
            <a:endParaRPr lang="en-US" sz="1200" dirty="0"/>
          </a:p>
        </p:txBody>
      </p:sp>
      <p:pic>
        <p:nvPicPr>
          <p:cNvPr id="5" name="Image 0" descr="/home/claude/deck/c8_0.png">    </p:cNvPr>
          <p:cNvPicPr>
            <a:picLocks noChangeAspect="1"/>
          </p:cNvPicPr>
          <p:nvPr/>
        </p:nvPicPr>
        <p:blipFill>
          <a:blip r:embed="rId1"/>
          <a:stretch>
            <a:fillRect/>
          </a:stretch>
        </p:blipFill>
        <p:spPr>
          <a:xfrm>
            <a:off x="1730141" y="1463040"/>
            <a:ext cx="8701238" cy="2926080"/>
          </a:xfrm>
          <a:prstGeom prst="rect">
            <a:avLst/>
          </a:prstGeom>
        </p:spPr>
      </p:pic>
      <p:sp>
        <p:nvSpPr>
          <p:cNvPr id="6" name="Aug Rotation"/>
          <p:cNvSpPr/>
          <p:nvPr/>
        </p:nvSpPr>
        <p:spPr>
          <a:xfrm>
            <a:off x="548640" y="4617720"/>
            <a:ext cx="2651760" cy="914400"/>
          </a:xfrm>
          <a:prstGeom prst="roundRect">
            <a:avLst>
              <a:gd name="adj" fmla="val 12000"/>
            </a:avLst>
          </a:prstGeom>
          <a:solidFill>
            <a:schemeClr val="tx2"/>
          </a:solidFill>
          <a:ln w="9525">
            <a:solidFill>
              <a:srgbClr val="24396B"/>
            </a:solidFill>
            <a:prstDash val="solid"/>
          </a:ln>
        </p:spPr>
      </p:sp>
      <p:sp>
        <p:nvSpPr>
          <p:cNvPr id="7" name="Text 3"/>
          <p:cNvSpPr txBox="1"/>
          <p:nvPr/>
        </p:nvSpPr>
        <p:spPr>
          <a:xfrm>
            <a:off x="777240" y="4690872"/>
            <a:ext cx="2286000" cy="365760"/>
          </a:xfrm>
          <a:prstGeom prst="rect">
            <a:avLst/>
          </a:prstGeom>
          <a:noFill/>
          <a:ln/>
        </p:spPr>
        <p:txBody>
          <a:bodyPr wrap="square" lIns="0" tIns="0" rIns="0" bIns="0" rtlCol="0" anchor="t"/>
          <a:lstStyle/>
          <a:p>
            <a:pPr indent="0" marL="0">
              <a:buNone/>
            </a:pPr>
            <a:r>
              <a:rPr lang="en-US" sz="1800" b="1" dirty="0">
                <a:solidFill>
                  <a:schemeClr val="accent1"/>
                </a:solidFill>
              </a:rPr>
              <a:t>Rotation</a:t>
            </a:r>
            <a:endParaRPr lang="en-US" sz="1800" dirty="0"/>
          </a:p>
        </p:txBody>
      </p:sp>
      <p:sp>
        <p:nvSpPr>
          <p:cNvPr id="8" name="Text 4"/>
          <p:cNvSpPr txBox="1"/>
          <p:nvPr/>
        </p:nvSpPr>
        <p:spPr>
          <a:xfrm>
            <a:off x="777240" y="5074920"/>
            <a:ext cx="2286000" cy="365760"/>
          </a:xfrm>
          <a:prstGeom prst="rect">
            <a:avLst/>
          </a:prstGeom>
          <a:noFill/>
          <a:ln/>
        </p:spPr>
        <p:txBody>
          <a:bodyPr wrap="square" lIns="0" tIns="0" rIns="0" bIns="0" rtlCol="0" anchor="t"/>
          <a:lstStyle/>
          <a:p>
            <a:pPr indent="0" marL="0">
              <a:buNone/>
            </a:pPr>
            <a:r>
              <a:rPr lang="en-US" sz="1400" dirty="0">
                <a:solidFill>
                  <a:schemeClr val="bg2"/>
                </a:solidFill>
              </a:rPr>
              <a:t>factor 0.04</a:t>
            </a:r>
            <a:endParaRPr lang="en-US" sz="1400" dirty="0"/>
          </a:p>
        </p:txBody>
      </p:sp>
      <p:sp>
        <p:nvSpPr>
          <p:cNvPr id="9" name="Aug Translation"/>
          <p:cNvSpPr/>
          <p:nvPr/>
        </p:nvSpPr>
        <p:spPr>
          <a:xfrm>
            <a:off x="3364992" y="4617720"/>
            <a:ext cx="2651760" cy="914400"/>
          </a:xfrm>
          <a:prstGeom prst="roundRect">
            <a:avLst>
              <a:gd name="adj" fmla="val 12000"/>
            </a:avLst>
          </a:prstGeom>
          <a:solidFill>
            <a:schemeClr val="tx2"/>
          </a:solidFill>
          <a:ln w="9525">
            <a:solidFill>
              <a:srgbClr val="24396B"/>
            </a:solidFill>
            <a:prstDash val="solid"/>
          </a:ln>
        </p:spPr>
      </p:sp>
      <p:sp>
        <p:nvSpPr>
          <p:cNvPr id="10" name="Text 6"/>
          <p:cNvSpPr txBox="1"/>
          <p:nvPr/>
        </p:nvSpPr>
        <p:spPr>
          <a:xfrm>
            <a:off x="3593592" y="4690872"/>
            <a:ext cx="2286000" cy="365760"/>
          </a:xfrm>
          <a:prstGeom prst="rect">
            <a:avLst/>
          </a:prstGeom>
          <a:noFill/>
          <a:ln/>
        </p:spPr>
        <p:txBody>
          <a:bodyPr wrap="square" lIns="0" tIns="0" rIns="0" bIns="0" rtlCol="0" anchor="t"/>
          <a:lstStyle/>
          <a:p>
            <a:pPr indent="0" marL="0">
              <a:buNone/>
            </a:pPr>
            <a:r>
              <a:rPr lang="en-US" sz="1800" b="1" dirty="0">
                <a:solidFill>
                  <a:schemeClr val="accent1"/>
                </a:solidFill>
              </a:rPr>
              <a:t>Translation</a:t>
            </a:r>
            <a:endParaRPr lang="en-US" sz="1800" dirty="0"/>
          </a:p>
        </p:txBody>
      </p:sp>
      <p:sp>
        <p:nvSpPr>
          <p:cNvPr id="11" name="Text 7"/>
          <p:cNvSpPr txBox="1"/>
          <p:nvPr/>
        </p:nvSpPr>
        <p:spPr>
          <a:xfrm>
            <a:off x="3593592" y="5074920"/>
            <a:ext cx="2286000" cy="365760"/>
          </a:xfrm>
          <a:prstGeom prst="rect">
            <a:avLst/>
          </a:prstGeom>
          <a:noFill/>
          <a:ln/>
        </p:spPr>
        <p:txBody>
          <a:bodyPr wrap="square" lIns="0" tIns="0" rIns="0" bIns="0" rtlCol="0" anchor="t"/>
          <a:lstStyle/>
          <a:p>
            <a:pPr indent="0" marL="0">
              <a:buNone/>
            </a:pPr>
            <a:r>
              <a:rPr lang="en-US" sz="1400" dirty="0">
                <a:solidFill>
                  <a:schemeClr val="bg2"/>
                </a:solidFill>
              </a:rPr>
              <a:t>±5% height / width</a:t>
            </a:r>
            <a:endParaRPr lang="en-US" sz="1400" dirty="0"/>
          </a:p>
        </p:txBody>
      </p:sp>
      <p:sp>
        <p:nvSpPr>
          <p:cNvPr id="12" name="Aug Zoom"/>
          <p:cNvSpPr/>
          <p:nvPr/>
        </p:nvSpPr>
        <p:spPr>
          <a:xfrm>
            <a:off x="6181344" y="4617720"/>
            <a:ext cx="2651760" cy="914400"/>
          </a:xfrm>
          <a:prstGeom prst="roundRect">
            <a:avLst>
              <a:gd name="adj" fmla="val 12000"/>
            </a:avLst>
          </a:prstGeom>
          <a:solidFill>
            <a:schemeClr val="tx2"/>
          </a:solidFill>
          <a:ln w="9525">
            <a:solidFill>
              <a:srgbClr val="24396B"/>
            </a:solidFill>
            <a:prstDash val="solid"/>
          </a:ln>
        </p:spPr>
      </p:sp>
      <p:sp>
        <p:nvSpPr>
          <p:cNvPr id="13" name="Text 9"/>
          <p:cNvSpPr txBox="1"/>
          <p:nvPr/>
        </p:nvSpPr>
        <p:spPr>
          <a:xfrm>
            <a:off x="6409944" y="4690872"/>
            <a:ext cx="2286000" cy="365760"/>
          </a:xfrm>
          <a:prstGeom prst="rect">
            <a:avLst/>
          </a:prstGeom>
          <a:noFill/>
          <a:ln/>
        </p:spPr>
        <p:txBody>
          <a:bodyPr wrap="square" lIns="0" tIns="0" rIns="0" bIns="0" rtlCol="0" anchor="t"/>
          <a:lstStyle/>
          <a:p>
            <a:pPr indent="0" marL="0">
              <a:buNone/>
            </a:pPr>
            <a:r>
              <a:rPr lang="en-US" sz="1800" b="1" dirty="0">
                <a:solidFill>
                  <a:schemeClr val="accent1"/>
                </a:solidFill>
              </a:rPr>
              <a:t>Zoom</a:t>
            </a:r>
            <a:endParaRPr lang="en-US" sz="1800" dirty="0"/>
          </a:p>
        </p:txBody>
      </p:sp>
      <p:sp>
        <p:nvSpPr>
          <p:cNvPr id="14" name="Text 10"/>
          <p:cNvSpPr txBox="1"/>
          <p:nvPr/>
        </p:nvSpPr>
        <p:spPr>
          <a:xfrm>
            <a:off x="6409944" y="5074920"/>
            <a:ext cx="2286000" cy="365760"/>
          </a:xfrm>
          <a:prstGeom prst="rect">
            <a:avLst/>
          </a:prstGeom>
          <a:noFill/>
          <a:ln/>
        </p:spPr>
        <p:txBody>
          <a:bodyPr wrap="square" lIns="0" tIns="0" rIns="0" bIns="0" rtlCol="0" anchor="t"/>
          <a:lstStyle/>
          <a:p>
            <a:pPr indent="0" marL="0">
              <a:buNone/>
            </a:pPr>
            <a:r>
              <a:rPr lang="en-US" sz="1400" dirty="0">
                <a:solidFill>
                  <a:schemeClr val="bg2"/>
                </a:solidFill>
              </a:rPr>
              <a:t>±8% height / width</a:t>
            </a:r>
            <a:endParaRPr lang="en-US" sz="1400" dirty="0"/>
          </a:p>
        </p:txBody>
      </p:sp>
      <p:sp>
        <p:nvSpPr>
          <p:cNvPr id="15" name="Aug Contrast"/>
          <p:cNvSpPr/>
          <p:nvPr/>
        </p:nvSpPr>
        <p:spPr>
          <a:xfrm>
            <a:off x="8997696" y="4617720"/>
            <a:ext cx="2651760" cy="914400"/>
          </a:xfrm>
          <a:prstGeom prst="roundRect">
            <a:avLst>
              <a:gd name="adj" fmla="val 12000"/>
            </a:avLst>
          </a:prstGeom>
          <a:solidFill>
            <a:schemeClr val="tx2"/>
          </a:solidFill>
          <a:ln w="9525">
            <a:solidFill>
              <a:srgbClr val="24396B"/>
            </a:solidFill>
            <a:prstDash val="solid"/>
          </a:ln>
        </p:spPr>
      </p:sp>
      <p:sp>
        <p:nvSpPr>
          <p:cNvPr id="16" name="Text 12"/>
          <p:cNvSpPr txBox="1"/>
          <p:nvPr/>
        </p:nvSpPr>
        <p:spPr>
          <a:xfrm>
            <a:off x="9226296" y="4690872"/>
            <a:ext cx="2286000" cy="365760"/>
          </a:xfrm>
          <a:prstGeom prst="rect">
            <a:avLst/>
          </a:prstGeom>
          <a:noFill/>
          <a:ln/>
        </p:spPr>
        <p:txBody>
          <a:bodyPr wrap="square" lIns="0" tIns="0" rIns="0" bIns="0" rtlCol="0" anchor="t"/>
          <a:lstStyle/>
          <a:p>
            <a:pPr indent="0" marL="0">
              <a:buNone/>
            </a:pPr>
            <a:r>
              <a:rPr lang="en-US" sz="1800" b="1" dirty="0">
                <a:solidFill>
                  <a:schemeClr val="accent1"/>
                </a:solidFill>
              </a:rPr>
              <a:t>Contrast</a:t>
            </a:r>
            <a:endParaRPr lang="en-US" sz="1800" dirty="0"/>
          </a:p>
        </p:txBody>
      </p:sp>
      <p:sp>
        <p:nvSpPr>
          <p:cNvPr id="17" name="Text 13"/>
          <p:cNvSpPr txBox="1"/>
          <p:nvPr/>
        </p:nvSpPr>
        <p:spPr>
          <a:xfrm>
            <a:off x="9226296" y="5074920"/>
            <a:ext cx="2286000" cy="365760"/>
          </a:xfrm>
          <a:prstGeom prst="rect">
            <a:avLst/>
          </a:prstGeom>
          <a:noFill/>
          <a:ln/>
        </p:spPr>
        <p:txBody>
          <a:bodyPr wrap="square" lIns="0" tIns="0" rIns="0" bIns="0" rtlCol="0" anchor="t"/>
          <a:lstStyle/>
          <a:p>
            <a:pPr indent="0" marL="0">
              <a:buNone/>
            </a:pPr>
            <a:r>
              <a:rPr lang="en-US" sz="1400" dirty="0">
                <a:solidFill>
                  <a:schemeClr val="bg2"/>
                </a:solidFill>
              </a:rPr>
              <a:t>factor 0.10</a:t>
            </a:r>
            <a:endParaRPr lang="en-US" sz="1400" dirty="0"/>
          </a:p>
        </p:txBody>
      </p:sp>
      <p:sp>
        <p:nvSpPr>
          <p:cNvPr id="18" name="Text 14"/>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500" dirty="0">
                <a:solidFill>
                  <a:schemeClr val="bg1"/>
                </a:solidFill>
              </a:rPr>
              <a:t>Small, label-preserving changes make the model less dependent on exact position and contrast. Horizontal flip was deliberately excluded to keep logo details intact.</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CNN Fundamentals</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CONCEPTS</a:t>
            </a:r>
            <a:endParaRPr lang="en-US" sz="1200" dirty="0"/>
          </a:p>
        </p:txBody>
      </p:sp>
      <p:sp>
        <p:nvSpPr>
          <p:cNvPr id="5" name="Concept 1"/>
          <p:cNvSpPr/>
          <p:nvPr/>
        </p:nvSpPr>
        <p:spPr>
          <a:xfrm>
            <a:off x="548640" y="1600200"/>
            <a:ext cx="2103120" cy="4023360"/>
          </a:xfrm>
          <a:prstGeom prst="roundRect">
            <a:avLst>
              <a:gd name="adj" fmla="val 5217"/>
            </a:avLst>
          </a:prstGeom>
          <a:solidFill>
            <a:schemeClr val="tx2"/>
          </a:solidFill>
          <a:ln w="9525">
            <a:solidFill>
              <a:srgbClr val="24396B"/>
            </a:solidFill>
            <a:prstDash val="solid"/>
          </a:ln>
        </p:spPr>
      </p:sp>
      <p:sp>
        <p:nvSpPr>
          <p:cNvPr id="6" name="Shape 3"/>
          <p:cNvSpPr/>
          <p:nvPr/>
        </p:nvSpPr>
        <p:spPr>
          <a:xfrm>
            <a:off x="822960" y="1828800"/>
            <a:ext cx="594360" cy="594360"/>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53719" y="1959559"/>
            <a:ext cx="332842" cy="332842"/>
          </a:xfrm>
          <a:prstGeom prst="rect">
            <a:avLst/>
          </a:prstGeom>
        </p:spPr>
      </p:pic>
      <p:sp>
        <p:nvSpPr>
          <p:cNvPr id="8" name="Text 4"/>
          <p:cNvSpPr txBox="1"/>
          <p:nvPr/>
        </p:nvSpPr>
        <p:spPr>
          <a:xfrm>
            <a:off x="777240" y="2651760"/>
            <a:ext cx="1691640" cy="640080"/>
          </a:xfrm>
          <a:prstGeom prst="rect">
            <a:avLst/>
          </a:prstGeom>
          <a:noFill/>
          <a:ln/>
        </p:spPr>
        <p:txBody>
          <a:bodyPr wrap="square" lIns="0" tIns="0" rIns="0" bIns="0" rtlCol="0" anchor="t"/>
          <a:lstStyle/>
          <a:p>
            <a:pPr indent="0" marL="0">
              <a:buNone/>
            </a:pPr>
            <a:r>
              <a:rPr lang="en-US" sz="1800" b="1" dirty="0">
                <a:solidFill>
                  <a:schemeClr val="bg1"/>
                </a:solidFill>
              </a:rPr>
              <a:t>Convolution</a:t>
            </a:r>
            <a:endParaRPr lang="en-US" sz="1800" dirty="0"/>
          </a:p>
        </p:txBody>
      </p:sp>
      <p:sp>
        <p:nvSpPr>
          <p:cNvPr id="9" name="Text 5"/>
          <p:cNvSpPr txBox="1"/>
          <p:nvPr/>
        </p:nvSpPr>
        <p:spPr>
          <a:xfrm>
            <a:off x="777240" y="3337560"/>
            <a:ext cx="1691640" cy="2194560"/>
          </a:xfrm>
          <a:prstGeom prst="rect">
            <a:avLst/>
          </a:prstGeom>
          <a:noFill/>
          <a:ln/>
        </p:spPr>
        <p:txBody>
          <a:bodyPr wrap="square" lIns="0" tIns="0" rIns="0" bIns="0" rtlCol="0" anchor="t"/>
          <a:lstStyle/>
          <a:p>
            <a:pPr indent="0" marL="0">
              <a:buNone/>
            </a:pPr>
            <a:r>
              <a:rPr lang="en-US" sz="1600" dirty="0">
                <a:solidFill>
                  <a:schemeClr val="bg2"/>
                </a:solidFill>
              </a:rPr>
              <a:t>Learnable 3×3 filters slide over the image and detect local patterns such as edges and colour boundaries.</a:t>
            </a:r>
            <a:endParaRPr lang="en-US" sz="1600" dirty="0"/>
          </a:p>
        </p:txBody>
      </p:sp>
      <p:sp>
        <p:nvSpPr>
          <p:cNvPr id="10" name="Concept 2"/>
          <p:cNvSpPr/>
          <p:nvPr/>
        </p:nvSpPr>
        <p:spPr>
          <a:xfrm>
            <a:off x="2788920" y="1600200"/>
            <a:ext cx="2103120" cy="4023360"/>
          </a:xfrm>
          <a:prstGeom prst="roundRect">
            <a:avLst>
              <a:gd name="adj" fmla="val 5217"/>
            </a:avLst>
          </a:prstGeom>
          <a:solidFill>
            <a:schemeClr val="tx2"/>
          </a:solidFill>
          <a:ln w="9525">
            <a:solidFill>
              <a:srgbClr val="24396B"/>
            </a:solidFill>
            <a:prstDash val="solid"/>
          </a:ln>
        </p:spPr>
      </p:sp>
      <p:sp>
        <p:nvSpPr>
          <p:cNvPr id="11" name="Shape 7"/>
          <p:cNvSpPr/>
          <p:nvPr/>
        </p:nvSpPr>
        <p:spPr>
          <a:xfrm>
            <a:off x="3063240" y="1828800"/>
            <a:ext cx="594360" cy="594360"/>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3193999" y="1959559"/>
            <a:ext cx="332842" cy="332842"/>
          </a:xfrm>
          <a:prstGeom prst="rect">
            <a:avLst/>
          </a:prstGeom>
        </p:spPr>
      </p:pic>
      <p:sp>
        <p:nvSpPr>
          <p:cNvPr id="13" name="Text 8"/>
          <p:cNvSpPr txBox="1"/>
          <p:nvPr/>
        </p:nvSpPr>
        <p:spPr>
          <a:xfrm>
            <a:off x="3017520" y="2651760"/>
            <a:ext cx="1691640" cy="640080"/>
          </a:xfrm>
          <a:prstGeom prst="rect">
            <a:avLst/>
          </a:prstGeom>
          <a:noFill/>
          <a:ln/>
        </p:spPr>
        <p:txBody>
          <a:bodyPr wrap="square" lIns="0" tIns="0" rIns="0" bIns="0" rtlCol="0" anchor="t"/>
          <a:lstStyle/>
          <a:p>
            <a:pPr indent="0" marL="0">
              <a:buNone/>
            </a:pPr>
            <a:r>
              <a:rPr lang="en-US" sz="1800" b="1" dirty="0">
                <a:solidFill>
                  <a:schemeClr val="bg1"/>
                </a:solidFill>
              </a:rPr>
              <a:t>ReLU</a:t>
            </a:r>
            <a:endParaRPr lang="en-US" sz="1800" dirty="0"/>
          </a:p>
        </p:txBody>
      </p:sp>
      <p:sp>
        <p:nvSpPr>
          <p:cNvPr id="14" name="Text 9"/>
          <p:cNvSpPr txBox="1"/>
          <p:nvPr/>
        </p:nvSpPr>
        <p:spPr>
          <a:xfrm>
            <a:off x="3017520" y="3337560"/>
            <a:ext cx="1691640" cy="2194560"/>
          </a:xfrm>
          <a:prstGeom prst="rect">
            <a:avLst/>
          </a:prstGeom>
          <a:noFill/>
          <a:ln/>
        </p:spPr>
        <p:txBody>
          <a:bodyPr wrap="square" lIns="0" tIns="0" rIns="0" bIns="0" rtlCol="0" anchor="t"/>
          <a:lstStyle/>
          <a:p>
            <a:pPr indent="0" marL="0">
              <a:buNone/>
            </a:pPr>
            <a:r>
              <a:rPr lang="en-US" sz="1600" dirty="0">
                <a:solidFill>
                  <a:schemeClr val="bg2"/>
                </a:solidFill>
              </a:rPr>
              <a:t>Non-linear activation: keeps positive responses so the network can learn complex patterns.</a:t>
            </a:r>
            <a:endParaRPr lang="en-US" sz="1600" dirty="0"/>
          </a:p>
        </p:txBody>
      </p:sp>
      <p:sp>
        <p:nvSpPr>
          <p:cNvPr id="15" name="Concept 3"/>
          <p:cNvSpPr/>
          <p:nvPr/>
        </p:nvSpPr>
        <p:spPr>
          <a:xfrm>
            <a:off x="5029200" y="1600200"/>
            <a:ext cx="2103120" cy="4023360"/>
          </a:xfrm>
          <a:prstGeom prst="roundRect">
            <a:avLst>
              <a:gd name="adj" fmla="val 5217"/>
            </a:avLst>
          </a:prstGeom>
          <a:solidFill>
            <a:schemeClr val="tx2"/>
          </a:solidFill>
          <a:ln w="9525">
            <a:solidFill>
              <a:srgbClr val="24396B"/>
            </a:solidFill>
            <a:prstDash val="solid"/>
          </a:ln>
        </p:spPr>
      </p:sp>
      <p:sp>
        <p:nvSpPr>
          <p:cNvPr id="16" name="Shape 11"/>
          <p:cNvSpPr/>
          <p:nvPr/>
        </p:nvSpPr>
        <p:spPr>
          <a:xfrm>
            <a:off x="5303520" y="1828800"/>
            <a:ext cx="594360" cy="594360"/>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5434279" y="1959559"/>
            <a:ext cx="332842" cy="332842"/>
          </a:xfrm>
          <a:prstGeom prst="rect">
            <a:avLst/>
          </a:prstGeom>
        </p:spPr>
      </p:pic>
      <p:sp>
        <p:nvSpPr>
          <p:cNvPr id="18" name="Text 12"/>
          <p:cNvSpPr txBox="1"/>
          <p:nvPr/>
        </p:nvSpPr>
        <p:spPr>
          <a:xfrm>
            <a:off x="5257800" y="2651760"/>
            <a:ext cx="1691640" cy="640080"/>
          </a:xfrm>
          <a:prstGeom prst="rect">
            <a:avLst/>
          </a:prstGeom>
          <a:noFill/>
          <a:ln/>
        </p:spPr>
        <p:txBody>
          <a:bodyPr wrap="square" lIns="0" tIns="0" rIns="0" bIns="0" rtlCol="0" anchor="t"/>
          <a:lstStyle/>
          <a:p>
            <a:pPr indent="0" marL="0">
              <a:buNone/>
            </a:pPr>
            <a:r>
              <a:rPr lang="en-US" sz="1800" b="1" dirty="0">
                <a:solidFill>
                  <a:schemeClr val="bg1"/>
                </a:solidFill>
              </a:rPr>
              <a:t>Pooling</a:t>
            </a:r>
            <a:endParaRPr lang="en-US" sz="1800" dirty="0"/>
          </a:p>
        </p:txBody>
      </p:sp>
      <p:sp>
        <p:nvSpPr>
          <p:cNvPr id="19" name="Text 13"/>
          <p:cNvSpPr txBox="1"/>
          <p:nvPr/>
        </p:nvSpPr>
        <p:spPr>
          <a:xfrm>
            <a:off x="5257800" y="3337560"/>
            <a:ext cx="1691640" cy="2194560"/>
          </a:xfrm>
          <a:prstGeom prst="rect">
            <a:avLst/>
          </a:prstGeom>
          <a:noFill/>
          <a:ln/>
        </p:spPr>
        <p:txBody>
          <a:bodyPr wrap="square" lIns="0" tIns="0" rIns="0" bIns="0" rtlCol="0" anchor="t"/>
          <a:lstStyle/>
          <a:p>
            <a:pPr indent="0" marL="0">
              <a:buNone/>
            </a:pPr>
            <a:r>
              <a:rPr lang="en-US" sz="1600" dirty="0">
                <a:solidFill>
                  <a:schemeClr val="bg2"/>
                </a:solidFill>
              </a:rPr>
              <a:t>Max pooling halves height and width, keeping the strongest responses and cutting computation.</a:t>
            </a:r>
            <a:endParaRPr lang="en-US" sz="1600" dirty="0"/>
          </a:p>
        </p:txBody>
      </p:sp>
      <p:sp>
        <p:nvSpPr>
          <p:cNvPr id="20" name="Concept 4"/>
          <p:cNvSpPr/>
          <p:nvPr/>
        </p:nvSpPr>
        <p:spPr>
          <a:xfrm>
            <a:off x="7269480" y="1600200"/>
            <a:ext cx="2103120" cy="4023360"/>
          </a:xfrm>
          <a:prstGeom prst="roundRect">
            <a:avLst>
              <a:gd name="adj" fmla="val 5217"/>
            </a:avLst>
          </a:prstGeom>
          <a:solidFill>
            <a:schemeClr val="tx2"/>
          </a:solidFill>
          <a:ln w="9525">
            <a:solidFill>
              <a:srgbClr val="24396B"/>
            </a:solidFill>
            <a:prstDash val="solid"/>
          </a:ln>
        </p:spPr>
      </p:sp>
      <p:sp>
        <p:nvSpPr>
          <p:cNvPr id="21" name="Shape 15"/>
          <p:cNvSpPr/>
          <p:nvPr/>
        </p:nvSpPr>
        <p:spPr>
          <a:xfrm>
            <a:off x="7543800" y="1828800"/>
            <a:ext cx="594360" cy="594360"/>
          </a:xfrm>
          <a:prstGeom prst="ellipse">
            <a:avLst/>
          </a:prstGeom>
          <a:solidFill>
            <a:schemeClr val="accent2"/>
          </a:solidFill>
          <a:ln/>
        </p:spPr>
      </p:sp>
      <p:pic>
        <p:nvPicPr>
          <p:cNvPr id="22" name="Image 3" descr="preencoded.png">    </p:cNvPr>
          <p:cNvPicPr>
            <a:picLocks noChangeAspect="1"/>
          </p:cNvPicPr>
          <p:nvPr/>
        </p:nvPicPr>
        <p:blipFill>
          <a:blip r:embed="rId4"/>
          <a:stretch>
            <a:fillRect/>
          </a:stretch>
        </p:blipFill>
        <p:spPr>
          <a:xfrm>
            <a:off x="7674559" y="1959559"/>
            <a:ext cx="332842" cy="332842"/>
          </a:xfrm>
          <a:prstGeom prst="rect">
            <a:avLst/>
          </a:prstGeom>
        </p:spPr>
      </p:pic>
      <p:sp>
        <p:nvSpPr>
          <p:cNvPr id="23" name="Text 16"/>
          <p:cNvSpPr txBox="1"/>
          <p:nvPr/>
        </p:nvSpPr>
        <p:spPr>
          <a:xfrm>
            <a:off x="7498080" y="2651760"/>
            <a:ext cx="1691640" cy="640080"/>
          </a:xfrm>
          <a:prstGeom prst="rect">
            <a:avLst/>
          </a:prstGeom>
          <a:noFill/>
          <a:ln/>
        </p:spPr>
        <p:txBody>
          <a:bodyPr wrap="square" lIns="0" tIns="0" rIns="0" bIns="0" rtlCol="0" anchor="t"/>
          <a:lstStyle/>
          <a:p>
            <a:pPr indent="0" marL="0">
              <a:buNone/>
            </a:pPr>
            <a:r>
              <a:rPr lang="en-US" sz="1800" b="1" dirty="0">
                <a:solidFill>
                  <a:schemeClr val="bg1"/>
                </a:solidFill>
              </a:rPr>
              <a:t>Feature hierarchy</a:t>
            </a:r>
            <a:endParaRPr lang="en-US" sz="1800" dirty="0"/>
          </a:p>
        </p:txBody>
      </p:sp>
      <p:sp>
        <p:nvSpPr>
          <p:cNvPr id="24" name="Text 17"/>
          <p:cNvSpPr txBox="1"/>
          <p:nvPr/>
        </p:nvSpPr>
        <p:spPr>
          <a:xfrm>
            <a:off x="7498080" y="3337560"/>
            <a:ext cx="1691640" cy="2194560"/>
          </a:xfrm>
          <a:prstGeom prst="rect">
            <a:avLst/>
          </a:prstGeom>
          <a:noFill/>
          <a:ln/>
        </p:spPr>
        <p:txBody>
          <a:bodyPr wrap="square" lIns="0" tIns="0" rIns="0" bIns="0" rtlCol="0" anchor="t"/>
          <a:lstStyle/>
          <a:p>
            <a:pPr indent="0" marL="0">
              <a:buNone/>
            </a:pPr>
            <a:r>
              <a:rPr lang="en-US" sz="1600" dirty="0">
                <a:solidFill>
                  <a:schemeClr val="bg2"/>
                </a:solidFill>
              </a:rPr>
              <a:t>Deeper blocks combine simple patterns into richer crest parts; global average pooling summarises each map.</a:t>
            </a:r>
            <a:endParaRPr lang="en-US" sz="1600" dirty="0"/>
          </a:p>
        </p:txBody>
      </p:sp>
      <p:sp>
        <p:nvSpPr>
          <p:cNvPr id="25" name="Concept 5"/>
          <p:cNvSpPr/>
          <p:nvPr/>
        </p:nvSpPr>
        <p:spPr>
          <a:xfrm>
            <a:off x="9509760" y="1600200"/>
            <a:ext cx="2103120" cy="4023360"/>
          </a:xfrm>
          <a:prstGeom prst="roundRect">
            <a:avLst>
              <a:gd name="adj" fmla="val 5217"/>
            </a:avLst>
          </a:prstGeom>
          <a:solidFill>
            <a:schemeClr val="tx2"/>
          </a:solidFill>
          <a:ln w="9525">
            <a:solidFill>
              <a:srgbClr val="24396B"/>
            </a:solidFill>
            <a:prstDash val="solid"/>
          </a:ln>
        </p:spPr>
      </p:sp>
      <p:sp>
        <p:nvSpPr>
          <p:cNvPr id="26" name="Shape 19"/>
          <p:cNvSpPr/>
          <p:nvPr/>
        </p:nvSpPr>
        <p:spPr>
          <a:xfrm>
            <a:off x="9784080" y="1828800"/>
            <a:ext cx="594360" cy="594360"/>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9914839" y="1959559"/>
            <a:ext cx="332842" cy="332842"/>
          </a:xfrm>
          <a:prstGeom prst="rect">
            <a:avLst/>
          </a:prstGeom>
        </p:spPr>
      </p:pic>
      <p:sp>
        <p:nvSpPr>
          <p:cNvPr id="28" name="Text 20"/>
          <p:cNvSpPr txBox="1"/>
          <p:nvPr/>
        </p:nvSpPr>
        <p:spPr>
          <a:xfrm>
            <a:off x="9738360" y="2651760"/>
            <a:ext cx="1691640" cy="640080"/>
          </a:xfrm>
          <a:prstGeom prst="rect">
            <a:avLst/>
          </a:prstGeom>
          <a:noFill/>
          <a:ln/>
        </p:spPr>
        <p:txBody>
          <a:bodyPr wrap="square" lIns="0" tIns="0" rIns="0" bIns="0" rtlCol="0" anchor="t"/>
          <a:lstStyle/>
          <a:p>
            <a:pPr indent="0" marL="0">
              <a:buNone/>
            </a:pPr>
            <a:r>
              <a:rPr lang="en-US" sz="1800" b="1" dirty="0">
                <a:solidFill>
                  <a:schemeClr val="bg1"/>
                </a:solidFill>
              </a:rPr>
              <a:t>Classification</a:t>
            </a:r>
            <a:endParaRPr lang="en-US" sz="1800" dirty="0"/>
          </a:p>
        </p:txBody>
      </p:sp>
      <p:sp>
        <p:nvSpPr>
          <p:cNvPr id="29" name="Text 21"/>
          <p:cNvSpPr txBox="1"/>
          <p:nvPr/>
        </p:nvSpPr>
        <p:spPr>
          <a:xfrm>
            <a:off x="9738360" y="3337560"/>
            <a:ext cx="1691640" cy="2194560"/>
          </a:xfrm>
          <a:prstGeom prst="rect">
            <a:avLst/>
          </a:prstGeom>
          <a:noFill/>
          <a:ln/>
        </p:spPr>
        <p:txBody>
          <a:bodyPr wrap="square" lIns="0" tIns="0" rIns="0" bIns="0" rtlCol="0" anchor="t"/>
          <a:lstStyle/>
          <a:p>
            <a:pPr indent="0" marL="0">
              <a:buNone/>
            </a:pPr>
            <a:r>
              <a:rPr lang="en-US" sz="1600" dirty="0">
                <a:solidFill>
                  <a:schemeClr val="bg2"/>
                </a:solidFill>
              </a:rPr>
              <a:t>Dense layers + softmax convert the features into a probability for each of the 20 clubs.</a:t>
            </a:r>
            <a:endParaRPr lang="en-US" sz="16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Model Architecture</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MODEL</a:t>
            </a:r>
            <a:endParaRPr lang="en-US" sz="1200" dirty="0"/>
          </a:p>
        </p:txBody>
      </p:sp>
      <p:sp>
        <p:nvSpPr>
          <p:cNvPr id="5" name="Block Input"/>
          <p:cNvSpPr/>
          <p:nvPr/>
        </p:nvSpPr>
        <p:spPr>
          <a:xfrm>
            <a:off x="548640" y="1737360"/>
            <a:ext cx="2011680" cy="1508760"/>
          </a:xfrm>
          <a:prstGeom prst="roundRect">
            <a:avLst>
              <a:gd name="adj" fmla="val 6061"/>
            </a:avLst>
          </a:prstGeom>
          <a:solidFill>
            <a:schemeClr val="tx2"/>
          </a:solidFill>
          <a:ln w="19050">
            <a:solidFill>
              <a:srgbClr val="3B82F6"/>
            </a:solidFill>
            <a:prstDash val="solid"/>
          </a:ln>
        </p:spPr>
      </p:sp>
      <p:sp>
        <p:nvSpPr>
          <p:cNvPr id="6" name="Text 3"/>
          <p:cNvSpPr txBox="1"/>
          <p:nvPr/>
        </p:nvSpPr>
        <p:spPr>
          <a:xfrm>
            <a:off x="658368" y="1828800"/>
            <a:ext cx="1792224" cy="411480"/>
          </a:xfrm>
          <a:prstGeom prst="rect">
            <a:avLst/>
          </a:prstGeom>
          <a:noFill/>
          <a:ln/>
        </p:spPr>
        <p:txBody>
          <a:bodyPr wrap="square" lIns="0" tIns="0" rIns="0" bIns="0" rtlCol="0" anchor="ctr"/>
          <a:lstStyle/>
          <a:p>
            <a:pPr algn="ctr" indent="0" marL="0">
              <a:buNone/>
            </a:pPr>
            <a:r>
              <a:rPr lang="en-US" sz="1600" b="1" dirty="0">
                <a:solidFill>
                  <a:schemeClr val="bg1"/>
                </a:solidFill>
              </a:rPr>
              <a:t>Input</a:t>
            </a:r>
            <a:endParaRPr lang="en-US" sz="1600" dirty="0"/>
          </a:p>
        </p:txBody>
      </p:sp>
      <p:sp>
        <p:nvSpPr>
          <p:cNvPr id="7" name="Text 4"/>
          <p:cNvSpPr txBox="1"/>
          <p:nvPr/>
        </p:nvSpPr>
        <p:spPr>
          <a:xfrm>
            <a:off x="658368" y="2286000"/>
            <a:ext cx="1792224" cy="457200"/>
          </a:xfrm>
          <a:prstGeom prst="rect">
            <a:avLst/>
          </a:prstGeom>
          <a:noFill/>
          <a:ln/>
        </p:spPr>
        <p:txBody>
          <a:bodyPr wrap="square" lIns="0" tIns="0" rIns="0" bIns="0" rtlCol="0" anchor="ctr"/>
          <a:lstStyle/>
          <a:p>
            <a:pPr algn="ctr" indent="0" marL="0">
              <a:buNone/>
            </a:pPr>
            <a:r>
              <a:rPr lang="en-US" sz="1300" dirty="0">
                <a:solidFill>
                  <a:schemeClr val="bg2"/>
                </a:solidFill>
              </a:rPr>
              <a:t>224 × 224 × 3</a:t>
            </a:r>
            <a:endParaRPr lang="en-US" sz="1300" dirty="0"/>
          </a:p>
        </p:txBody>
      </p:sp>
      <p:sp>
        <p:nvSpPr>
          <p:cNvPr id="8" name="Shape 5"/>
          <p:cNvSpPr/>
          <p:nvPr/>
        </p:nvSpPr>
        <p:spPr>
          <a:xfrm>
            <a:off x="2587752" y="2331720"/>
            <a:ext cx="201168" cy="274320"/>
          </a:xfrm>
          <a:prstGeom prst="rightArrow">
            <a:avLst/>
          </a:prstGeom>
          <a:solidFill>
            <a:schemeClr val="accent1"/>
          </a:solidFill>
          <a:ln/>
        </p:spPr>
      </p:sp>
      <p:sp>
        <p:nvSpPr>
          <p:cNvPr id="9" name="Block Augmentation"/>
          <p:cNvSpPr/>
          <p:nvPr/>
        </p:nvSpPr>
        <p:spPr>
          <a:xfrm>
            <a:off x="2811780" y="1737360"/>
            <a:ext cx="2011680" cy="1508760"/>
          </a:xfrm>
          <a:prstGeom prst="roundRect">
            <a:avLst>
              <a:gd name="adj" fmla="val 6061"/>
            </a:avLst>
          </a:prstGeom>
          <a:solidFill>
            <a:schemeClr val="tx2"/>
          </a:solidFill>
          <a:ln w="19050">
            <a:solidFill>
              <a:srgbClr val="3B82F6"/>
            </a:solidFill>
            <a:prstDash val="solid"/>
          </a:ln>
        </p:spPr>
      </p:sp>
      <p:sp>
        <p:nvSpPr>
          <p:cNvPr id="10" name="Text 7"/>
          <p:cNvSpPr txBox="1"/>
          <p:nvPr/>
        </p:nvSpPr>
        <p:spPr>
          <a:xfrm>
            <a:off x="2921508" y="1828800"/>
            <a:ext cx="1792224" cy="411480"/>
          </a:xfrm>
          <a:prstGeom prst="rect">
            <a:avLst/>
          </a:prstGeom>
          <a:noFill/>
          <a:ln/>
        </p:spPr>
        <p:txBody>
          <a:bodyPr wrap="square" lIns="0" tIns="0" rIns="0" bIns="0" rtlCol="0" anchor="ctr"/>
          <a:lstStyle/>
          <a:p>
            <a:pPr algn="ctr" indent="0" marL="0">
              <a:buNone/>
            </a:pPr>
            <a:r>
              <a:rPr lang="en-US" sz="1600" b="1" dirty="0">
                <a:solidFill>
                  <a:schemeClr val="bg1"/>
                </a:solidFill>
              </a:rPr>
              <a:t>Augmentation</a:t>
            </a:r>
            <a:endParaRPr lang="en-US" sz="1600" dirty="0"/>
          </a:p>
        </p:txBody>
      </p:sp>
      <p:sp>
        <p:nvSpPr>
          <p:cNvPr id="11" name="Text 8"/>
          <p:cNvSpPr txBox="1"/>
          <p:nvPr/>
        </p:nvSpPr>
        <p:spPr>
          <a:xfrm>
            <a:off x="2921508" y="2286000"/>
            <a:ext cx="1792224" cy="457200"/>
          </a:xfrm>
          <a:prstGeom prst="rect">
            <a:avLst/>
          </a:prstGeom>
          <a:noFill/>
          <a:ln/>
        </p:spPr>
        <p:txBody>
          <a:bodyPr wrap="square" lIns="0" tIns="0" rIns="0" bIns="0" rtlCol="0" anchor="ctr"/>
          <a:lstStyle/>
          <a:p>
            <a:pPr algn="ctr" indent="0" marL="0">
              <a:buNone/>
            </a:pPr>
            <a:r>
              <a:rPr lang="en-US" sz="1300" dirty="0">
                <a:solidFill>
                  <a:schemeClr val="bg2"/>
                </a:solidFill>
              </a:rPr>
              <a:t>224 × 224 × 3</a:t>
            </a:r>
            <a:endParaRPr lang="en-US" sz="1300" dirty="0"/>
          </a:p>
        </p:txBody>
      </p:sp>
      <p:sp>
        <p:nvSpPr>
          <p:cNvPr id="12" name="Text 9"/>
          <p:cNvSpPr txBox="1"/>
          <p:nvPr/>
        </p:nvSpPr>
        <p:spPr>
          <a:xfrm>
            <a:off x="2921508" y="2788920"/>
            <a:ext cx="1792224" cy="320040"/>
          </a:xfrm>
          <a:prstGeom prst="rect">
            <a:avLst/>
          </a:prstGeom>
          <a:noFill/>
          <a:ln/>
        </p:spPr>
        <p:txBody>
          <a:bodyPr wrap="square" lIns="0" tIns="0" rIns="0" bIns="0" rtlCol="0" anchor="ctr"/>
          <a:lstStyle/>
          <a:p>
            <a:pPr algn="ctr" indent="0" marL="0">
              <a:buNone/>
            </a:pPr>
            <a:r>
              <a:rPr lang="en-US" sz="1200" dirty="0">
                <a:solidFill>
                  <a:schemeClr val="accent1"/>
                </a:solidFill>
              </a:rPr>
              <a:t>0 params</a:t>
            </a:r>
            <a:endParaRPr lang="en-US" sz="1200" dirty="0"/>
          </a:p>
        </p:txBody>
      </p:sp>
      <p:sp>
        <p:nvSpPr>
          <p:cNvPr id="13" name="Shape 10"/>
          <p:cNvSpPr/>
          <p:nvPr/>
        </p:nvSpPr>
        <p:spPr>
          <a:xfrm>
            <a:off x="4850892" y="2331720"/>
            <a:ext cx="201168" cy="274320"/>
          </a:xfrm>
          <a:prstGeom prst="rightArrow">
            <a:avLst/>
          </a:prstGeom>
          <a:solidFill>
            <a:schemeClr val="accent1"/>
          </a:solidFill>
          <a:ln/>
        </p:spPr>
      </p:sp>
      <p:sp>
        <p:nvSpPr>
          <p:cNvPr id="14" name="Block Conv 32 + ReLU"/>
          <p:cNvSpPr/>
          <p:nvPr/>
        </p:nvSpPr>
        <p:spPr>
          <a:xfrm>
            <a:off x="5074920" y="1737360"/>
            <a:ext cx="2011680" cy="1508760"/>
          </a:xfrm>
          <a:prstGeom prst="roundRect">
            <a:avLst>
              <a:gd name="adj" fmla="val 6061"/>
            </a:avLst>
          </a:prstGeom>
          <a:solidFill>
            <a:schemeClr val="tx2"/>
          </a:solidFill>
          <a:ln w="19050">
            <a:solidFill>
              <a:srgbClr val="22C55E"/>
            </a:solidFill>
            <a:prstDash val="solid"/>
          </a:ln>
        </p:spPr>
      </p:sp>
      <p:sp>
        <p:nvSpPr>
          <p:cNvPr id="15" name="Text 12"/>
          <p:cNvSpPr txBox="1"/>
          <p:nvPr/>
        </p:nvSpPr>
        <p:spPr>
          <a:xfrm>
            <a:off x="5184648" y="1828800"/>
            <a:ext cx="1792224" cy="411480"/>
          </a:xfrm>
          <a:prstGeom prst="rect">
            <a:avLst/>
          </a:prstGeom>
          <a:noFill/>
          <a:ln/>
        </p:spPr>
        <p:txBody>
          <a:bodyPr wrap="square" lIns="0" tIns="0" rIns="0" bIns="0" rtlCol="0" anchor="ctr"/>
          <a:lstStyle/>
          <a:p>
            <a:pPr algn="ctr" indent="0" marL="0">
              <a:buNone/>
            </a:pPr>
            <a:r>
              <a:rPr lang="en-US" sz="1600" b="1" dirty="0">
                <a:solidFill>
                  <a:schemeClr val="bg1"/>
                </a:solidFill>
              </a:rPr>
              <a:t>Conv 32 + ReLU</a:t>
            </a:r>
            <a:endParaRPr lang="en-US" sz="1600" dirty="0"/>
          </a:p>
        </p:txBody>
      </p:sp>
      <p:sp>
        <p:nvSpPr>
          <p:cNvPr id="16" name="Text 13"/>
          <p:cNvSpPr txBox="1"/>
          <p:nvPr/>
        </p:nvSpPr>
        <p:spPr>
          <a:xfrm>
            <a:off x="5184648" y="2286000"/>
            <a:ext cx="1792224" cy="457200"/>
          </a:xfrm>
          <a:prstGeom prst="rect">
            <a:avLst/>
          </a:prstGeom>
          <a:noFill/>
          <a:ln/>
        </p:spPr>
        <p:txBody>
          <a:bodyPr wrap="square" lIns="0" tIns="0" rIns="0" bIns="0" rtlCol="0" anchor="ctr"/>
          <a:lstStyle/>
          <a:p>
            <a:pPr algn="ctr" indent="0" marL="0">
              <a:buNone/>
            </a:pPr>
            <a:r>
              <a:rPr lang="en-US" sz="1300" dirty="0">
                <a:solidFill>
                  <a:schemeClr val="bg2"/>
                </a:solidFill>
              </a:rPr>
              <a:t>→ MaxPool 112×112×32</a:t>
            </a:r>
            <a:endParaRPr lang="en-US" sz="1300" dirty="0"/>
          </a:p>
        </p:txBody>
      </p:sp>
      <p:sp>
        <p:nvSpPr>
          <p:cNvPr id="17" name="Text 14"/>
          <p:cNvSpPr txBox="1"/>
          <p:nvPr/>
        </p:nvSpPr>
        <p:spPr>
          <a:xfrm>
            <a:off x="5184648" y="2788920"/>
            <a:ext cx="1792224" cy="320040"/>
          </a:xfrm>
          <a:prstGeom prst="rect">
            <a:avLst/>
          </a:prstGeom>
          <a:noFill/>
          <a:ln/>
        </p:spPr>
        <p:txBody>
          <a:bodyPr wrap="square" lIns="0" tIns="0" rIns="0" bIns="0" rtlCol="0" anchor="ctr"/>
          <a:lstStyle/>
          <a:p>
            <a:pPr algn="ctr" indent="0" marL="0">
              <a:buNone/>
            </a:pPr>
            <a:r>
              <a:rPr lang="en-US" sz="1200" dirty="0">
                <a:solidFill>
                  <a:schemeClr val="accent1"/>
                </a:solidFill>
              </a:rPr>
              <a:t>896 params</a:t>
            </a:r>
            <a:endParaRPr lang="en-US" sz="1200" dirty="0"/>
          </a:p>
        </p:txBody>
      </p:sp>
      <p:sp>
        <p:nvSpPr>
          <p:cNvPr id="18" name="Shape 15"/>
          <p:cNvSpPr/>
          <p:nvPr/>
        </p:nvSpPr>
        <p:spPr>
          <a:xfrm>
            <a:off x="7114032" y="2331720"/>
            <a:ext cx="201168" cy="274320"/>
          </a:xfrm>
          <a:prstGeom prst="rightArrow">
            <a:avLst/>
          </a:prstGeom>
          <a:solidFill>
            <a:schemeClr val="accent1"/>
          </a:solidFill>
          <a:ln/>
        </p:spPr>
      </p:sp>
      <p:sp>
        <p:nvSpPr>
          <p:cNvPr id="19" name="Block Conv 64 + ReLU"/>
          <p:cNvSpPr/>
          <p:nvPr/>
        </p:nvSpPr>
        <p:spPr>
          <a:xfrm>
            <a:off x="7338060" y="1737360"/>
            <a:ext cx="2011680" cy="1508760"/>
          </a:xfrm>
          <a:prstGeom prst="roundRect">
            <a:avLst>
              <a:gd name="adj" fmla="val 6061"/>
            </a:avLst>
          </a:prstGeom>
          <a:solidFill>
            <a:schemeClr val="tx2"/>
          </a:solidFill>
          <a:ln w="19050">
            <a:solidFill>
              <a:srgbClr val="22C55E"/>
            </a:solidFill>
            <a:prstDash val="solid"/>
          </a:ln>
        </p:spPr>
      </p:sp>
      <p:sp>
        <p:nvSpPr>
          <p:cNvPr id="20" name="Text 17"/>
          <p:cNvSpPr txBox="1"/>
          <p:nvPr/>
        </p:nvSpPr>
        <p:spPr>
          <a:xfrm>
            <a:off x="7447788" y="1828800"/>
            <a:ext cx="1792224" cy="411480"/>
          </a:xfrm>
          <a:prstGeom prst="rect">
            <a:avLst/>
          </a:prstGeom>
          <a:noFill/>
          <a:ln/>
        </p:spPr>
        <p:txBody>
          <a:bodyPr wrap="square" lIns="0" tIns="0" rIns="0" bIns="0" rtlCol="0" anchor="ctr"/>
          <a:lstStyle/>
          <a:p>
            <a:pPr algn="ctr" indent="0" marL="0">
              <a:buNone/>
            </a:pPr>
            <a:r>
              <a:rPr lang="en-US" sz="1600" b="1" dirty="0">
                <a:solidFill>
                  <a:schemeClr val="bg1"/>
                </a:solidFill>
              </a:rPr>
              <a:t>Conv 64 + ReLU</a:t>
            </a:r>
            <a:endParaRPr lang="en-US" sz="1600" dirty="0"/>
          </a:p>
        </p:txBody>
      </p:sp>
      <p:sp>
        <p:nvSpPr>
          <p:cNvPr id="21" name="Text 18"/>
          <p:cNvSpPr txBox="1"/>
          <p:nvPr/>
        </p:nvSpPr>
        <p:spPr>
          <a:xfrm>
            <a:off x="7447788" y="2286000"/>
            <a:ext cx="1792224" cy="457200"/>
          </a:xfrm>
          <a:prstGeom prst="rect">
            <a:avLst/>
          </a:prstGeom>
          <a:noFill/>
          <a:ln/>
        </p:spPr>
        <p:txBody>
          <a:bodyPr wrap="square" lIns="0" tIns="0" rIns="0" bIns="0" rtlCol="0" anchor="ctr"/>
          <a:lstStyle/>
          <a:p>
            <a:pPr algn="ctr" indent="0" marL="0">
              <a:buNone/>
            </a:pPr>
            <a:r>
              <a:rPr lang="en-US" sz="1300" dirty="0">
                <a:solidFill>
                  <a:schemeClr val="bg2"/>
                </a:solidFill>
              </a:rPr>
              <a:t>→ MaxPool 56×56×64</a:t>
            </a:r>
            <a:endParaRPr lang="en-US" sz="1300" dirty="0"/>
          </a:p>
        </p:txBody>
      </p:sp>
      <p:sp>
        <p:nvSpPr>
          <p:cNvPr id="22" name="Text 19"/>
          <p:cNvSpPr txBox="1"/>
          <p:nvPr/>
        </p:nvSpPr>
        <p:spPr>
          <a:xfrm>
            <a:off x="7447788" y="2788920"/>
            <a:ext cx="1792224" cy="320040"/>
          </a:xfrm>
          <a:prstGeom prst="rect">
            <a:avLst/>
          </a:prstGeom>
          <a:noFill/>
          <a:ln/>
        </p:spPr>
        <p:txBody>
          <a:bodyPr wrap="square" lIns="0" tIns="0" rIns="0" bIns="0" rtlCol="0" anchor="ctr"/>
          <a:lstStyle/>
          <a:p>
            <a:pPr algn="ctr" indent="0" marL="0">
              <a:buNone/>
            </a:pPr>
            <a:r>
              <a:rPr lang="en-US" sz="1200" dirty="0">
                <a:solidFill>
                  <a:schemeClr val="accent1"/>
                </a:solidFill>
              </a:rPr>
              <a:t>18,496 params</a:t>
            </a:r>
            <a:endParaRPr lang="en-US" sz="1200" dirty="0"/>
          </a:p>
        </p:txBody>
      </p:sp>
      <p:sp>
        <p:nvSpPr>
          <p:cNvPr id="23" name="Shape 20"/>
          <p:cNvSpPr/>
          <p:nvPr/>
        </p:nvSpPr>
        <p:spPr>
          <a:xfrm>
            <a:off x="9377172" y="2331720"/>
            <a:ext cx="201168" cy="274320"/>
          </a:xfrm>
          <a:prstGeom prst="rightArrow">
            <a:avLst/>
          </a:prstGeom>
          <a:solidFill>
            <a:schemeClr val="accent1"/>
          </a:solidFill>
          <a:ln/>
        </p:spPr>
      </p:sp>
      <p:sp>
        <p:nvSpPr>
          <p:cNvPr id="24" name="Block Conv 128 + ReLU"/>
          <p:cNvSpPr/>
          <p:nvPr/>
        </p:nvSpPr>
        <p:spPr>
          <a:xfrm>
            <a:off x="9601200" y="1737360"/>
            <a:ext cx="2011680" cy="1508760"/>
          </a:xfrm>
          <a:prstGeom prst="roundRect">
            <a:avLst>
              <a:gd name="adj" fmla="val 6061"/>
            </a:avLst>
          </a:prstGeom>
          <a:solidFill>
            <a:schemeClr val="tx2"/>
          </a:solidFill>
          <a:ln w="19050">
            <a:solidFill>
              <a:srgbClr val="22C55E"/>
            </a:solidFill>
            <a:prstDash val="solid"/>
          </a:ln>
        </p:spPr>
      </p:sp>
      <p:sp>
        <p:nvSpPr>
          <p:cNvPr id="25" name="Text 22"/>
          <p:cNvSpPr txBox="1"/>
          <p:nvPr/>
        </p:nvSpPr>
        <p:spPr>
          <a:xfrm>
            <a:off x="9710928" y="1828800"/>
            <a:ext cx="1792224" cy="411480"/>
          </a:xfrm>
          <a:prstGeom prst="rect">
            <a:avLst/>
          </a:prstGeom>
          <a:noFill/>
          <a:ln/>
        </p:spPr>
        <p:txBody>
          <a:bodyPr wrap="square" lIns="0" tIns="0" rIns="0" bIns="0" rtlCol="0" anchor="ctr"/>
          <a:lstStyle/>
          <a:p>
            <a:pPr algn="ctr" indent="0" marL="0">
              <a:buNone/>
            </a:pPr>
            <a:r>
              <a:rPr lang="en-US" sz="1600" b="1" dirty="0">
                <a:solidFill>
                  <a:schemeClr val="bg1"/>
                </a:solidFill>
              </a:rPr>
              <a:t>Conv 128 + ReLU</a:t>
            </a:r>
            <a:endParaRPr lang="en-US" sz="1600" dirty="0"/>
          </a:p>
        </p:txBody>
      </p:sp>
      <p:sp>
        <p:nvSpPr>
          <p:cNvPr id="26" name="Text 23"/>
          <p:cNvSpPr txBox="1"/>
          <p:nvPr/>
        </p:nvSpPr>
        <p:spPr>
          <a:xfrm>
            <a:off x="9710928" y="2286000"/>
            <a:ext cx="1792224" cy="457200"/>
          </a:xfrm>
          <a:prstGeom prst="rect">
            <a:avLst/>
          </a:prstGeom>
          <a:noFill/>
          <a:ln/>
        </p:spPr>
        <p:txBody>
          <a:bodyPr wrap="square" lIns="0" tIns="0" rIns="0" bIns="0" rtlCol="0" anchor="ctr"/>
          <a:lstStyle/>
          <a:p>
            <a:pPr algn="ctr" indent="0" marL="0">
              <a:buNone/>
            </a:pPr>
            <a:r>
              <a:rPr lang="en-US" sz="1300" dirty="0">
                <a:solidFill>
                  <a:schemeClr val="bg2"/>
                </a:solidFill>
              </a:rPr>
              <a:t>→ MaxPool 28×28×128</a:t>
            </a:r>
            <a:endParaRPr lang="en-US" sz="1300" dirty="0"/>
          </a:p>
        </p:txBody>
      </p:sp>
      <p:sp>
        <p:nvSpPr>
          <p:cNvPr id="27" name="Text 24"/>
          <p:cNvSpPr txBox="1"/>
          <p:nvPr/>
        </p:nvSpPr>
        <p:spPr>
          <a:xfrm>
            <a:off x="9710928" y="2788920"/>
            <a:ext cx="1792224" cy="320040"/>
          </a:xfrm>
          <a:prstGeom prst="rect">
            <a:avLst/>
          </a:prstGeom>
          <a:noFill/>
          <a:ln/>
        </p:spPr>
        <p:txBody>
          <a:bodyPr wrap="square" lIns="0" tIns="0" rIns="0" bIns="0" rtlCol="0" anchor="ctr"/>
          <a:lstStyle/>
          <a:p>
            <a:pPr algn="ctr" indent="0" marL="0">
              <a:buNone/>
            </a:pPr>
            <a:r>
              <a:rPr lang="en-US" sz="1200" dirty="0">
                <a:solidFill>
                  <a:schemeClr val="accent1"/>
                </a:solidFill>
              </a:rPr>
              <a:t>73,856 params</a:t>
            </a:r>
            <a:endParaRPr lang="en-US" sz="1200" dirty="0"/>
          </a:p>
        </p:txBody>
      </p:sp>
      <p:sp>
        <p:nvSpPr>
          <p:cNvPr id="28" name="Text 25"/>
          <p:cNvSpPr txBox="1"/>
          <p:nvPr/>
        </p:nvSpPr>
        <p:spPr>
          <a:xfrm>
            <a:off x="548640" y="1417320"/>
            <a:ext cx="4572000" cy="274320"/>
          </a:xfrm>
          <a:prstGeom prst="rect">
            <a:avLst/>
          </a:prstGeom>
          <a:noFill/>
          <a:ln/>
        </p:spPr>
        <p:txBody>
          <a:bodyPr wrap="square" lIns="0" tIns="0" rIns="0" bIns="0" rtlCol="0" anchor="t"/>
          <a:lstStyle/>
          <a:p>
            <a:pPr indent="0" marL="0">
              <a:buNone/>
            </a:pPr>
            <a:r>
              <a:rPr lang="en-US" sz="1200" b="1" dirty="0">
                <a:solidFill>
                  <a:schemeClr val="accent2"/>
                </a:solidFill>
              </a:rPr>
              <a:t>FEATURE EXTRACTION</a:t>
            </a:r>
            <a:endParaRPr lang="en-US" sz="1200" dirty="0"/>
          </a:p>
        </p:txBody>
      </p:sp>
      <p:sp>
        <p:nvSpPr>
          <p:cNvPr id="29" name="Text 26"/>
          <p:cNvSpPr txBox="1"/>
          <p:nvPr/>
        </p:nvSpPr>
        <p:spPr>
          <a:xfrm>
            <a:off x="548640" y="3611880"/>
            <a:ext cx="4572000" cy="274320"/>
          </a:xfrm>
          <a:prstGeom prst="rect">
            <a:avLst/>
          </a:prstGeom>
          <a:noFill/>
          <a:ln/>
        </p:spPr>
        <p:txBody>
          <a:bodyPr wrap="square" lIns="0" tIns="0" rIns="0" bIns="0" rtlCol="0" anchor="t"/>
          <a:lstStyle/>
          <a:p>
            <a:pPr indent="0" marL="0">
              <a:buNone/>
            </a:pPr>
            <a:r>
              <a:rPr lang="en-US" sz="1200" b="1" dirty="0">
                <a:solidFill>
                  <a:schemeClr val="accent2"/>
                </a:solidFill>
              </a:rPr>
              <a:t>CLASSIFICATION HEAD</a:t>
            </a:r>
            <a:endParaRPr lang="en-US" sz="1200" dirty="0"/>
          </a:p>
        </p:txBody>
      </p:sp>
      <p:sp>
        <p:nvSpPr>
          <p:cNvPr id="30" name="Block Global Avg Pool"/>
          <p:cNvSpPr/>
          <p:nvPr/>
        </p:nvSpPr>
        <p:spPr>
          <a:xfrm>
            <a:off x="548640" y="3931920"/>
            <a:ext cx="2011680" cy="1508760"/>
          </a:xfrm>
          <a:prstGeom prst="roundRect">
            <a:avLst>
              <a:gd name="adj" fmla="val 6061"/>
            </a:avLst>
          </a:prstGeom>
          <a:solidFill>
            <a:schemeClr val="tx2"/>
          </a:solidFill>
          <a:ln w="19050">
            <a:solidFill>
              <a:srgbClr val="3B82F6"/>
            </a:solidFill>
            <a:prstDash val="solid"/>
          </a:ln>
        </p:spPr>
      </p:sp>
      <p:sp>
        <p:nvSpPr>
          <p:cNvPr id="31" name="Text 28"/>
          <p:cNvSpPr txBox="1"/>
          <p:nvPr/>
        </p:nvSpPr>
        <p:spPr>
          <a:xfrm>
            <a:off x="658368" y="4023360"/>
            <a:ext cx="1792224" cy="411480"/>
          </a:xfrm>
          <a:prstGeom prst="rect">
            <a:avLst/>
          </a:prstGeom>
          <a:noFill/>
          <a:ln/>
        </p:spPr>
        <p:txBody>
          <a:bodyPr wrap="square" lIns="0" tIns="0" rIns="0" bIns="0" rtlCol="0" anchor="ctr"/>
          <a:lstStyle/>
          <a:p>
            <a:pPr algn="ctr" indent="0" marL="0">
              <a:buNone/>
            </a:pPr>
            <a:r>
              <a:rPr lang="en-US" sz="1600" b="1" dirty="0">
                <a:solidFill>
                  <a:schemeClr val="bg1"/>
                </a:solidFill>
              </a:rPr>
              <a:t>Global Avg Pool</a:t>
            </a:r>
            <a:endParaRPr lang="en-US" sz="1600" dirty="0"/>
          </a:p>
        </p:txBody>
      </p:sp>
      <p:sp>
        <p:nvSpPr>
          <p:cNvPr id="32" name="Text 29"/>
          <p:cNvSpPr txBox="1"/>
          <p:nvPr/>
        </p:nvSpPr>
        <p:spPr>
          <a:xfrm>
            <a:off x="658368" y="4480560"/>
            <a:ext cx="1792224" cy="457200"/>
          </a:xfrm>
          <a:prstGeom prst="rect">
            <a:avLst/>
          </a:prstGeom>
          <a:noFill/>
          <a:ln/>
        </p:spPr>
        <p:txBody>
          <a:bodyPr wrap="square" lIns="0" tIns="0" rIns="0" bIns="0" rtlCol="0" anchor="ctr"/>
          <a:lstStyle/>
          <a:p>
            <a:pPr algn="ctr" indent="0" marL="0">
              <a:buNone/>
            </a:pPr>
            <a:r>
              <a:rPr lang="en-US" sz="1300" dirty="0">
                <a:solidFill>
                  <a:schemeClr val="bg2"/>
                </a:solidFill>
              </a:rPr>
              <a:t>28×28×128 → 128</a:t>
            </a:r>
            <a:endParaRPr lang="en-US" sz="1300" dirty="0"/>
          </a:p>
        </p:txBody>
      </p:sp>
      <p:sp>
        <p:nvSpPr>
          <p:cNvPr id="33" name="Text 30"/>
          <p:cNvSpPr txBox="1"/>
          <p:nvPr/>
        </p:nvSpPr>
        <p:spPr>
          <a:xfrm>
            <a:off x="658368" y="4983480"/>
            <a:ext cx="1792224" cy="320040"/>
          </a:xfrm>
          <a:prstGeom prst="rect">
            <a:avLst/>
          </a:prstGeom>
          <a:noFill/>
          <a:ln/>
        </p:spPr>
        <p:txBody>
          <a:bodyPr wrap="square" lIns="0" tIns="0" rIns="0" bIns="0" rtlCol="0" anchor="ctr"/>
          <a:lstStyle/>
          <a:p>
            <a:pPr algn="ctr" indent="0" marL="0">
              <a:buNone/>
            </a:pPr>
            <a:r>
              <a:rPr lang="en-US" sz="1200" dirty="0">
                <a:solidFill>
                  <a:schemeClr val="accent1"/>
                </a:solidFill>
              </a:rPr>
              <a:t>0 params</a:t>
            </a:r>
            <a:endParaRPr lang="en-US" sz="1200" dirty="0"/>
          </a:p>
        </p:txBody>
      </p:sp>
      <p:sp>
        <p:nvSpPr>
          <p:cNvPr id="34" name="Shape 31"/>
          <p:cNvSpPr/>
          <p:nvPr/>
        </p:nvSpPr>
        <p:spPr>
          <a:xfrm>
            <a:off x="2587752" y="4526280"/>
            <a:ext cx="201168" cy="274320"/>
          </a:xfrm>
          <a:prstGeom prst="rightArrow">
            <a:avLst/>
          </a:prstGeom>
          <a:solidFill>
            <a:schemeClr val="accent1"/>
          </a:solidFill>
          <a:ln/>
        </p:spPr>
      </p:sp>
      <p:sp>
        <p:nvSpPr>
          <p:cNvPr id="35" name="Block Dense 128 + ReLU"/>
          <p:cNvSpPr/>
          <p:nvPr/>
        </p:nvSpPr>
        <p:spPr>
          <a:xfrm>
            <a:off x="2811780" y="3931920"/>
            <a:ext cx="2011680" cy="1508760"/>
          </a:xfrm>
          <a:prstGeom prst="roundRect">
            <a:avLst>
              <a:gd name="adj" fmla="val 6061"/>
            </a:avLst>
          </a:prstGeom>
          <a:solidFill>
            <a:schemeClr val="tx2"/>
          </a:solidFill>
          <a:ln w="19050">
            <a:solidFill>
              <a:srgbClr val="3B82F6"/>
            </a:solidFill>
            <a:prstDash val="solid"/>
          </a:ln>
        </p:spPr>
      </p:sp>
      <p:sp>
        <p:nvSpPr>
          <p:cNvPr id="36" name="Text 33"/>
          <p:cNvSpPr txBox="1"/>
          <p:nvPr/>
        </p:nvSpPr>
        <p:spPr>
          <a:xfrm>
            <a:off x="2921508" y="4023360"/>
            <a:ext cx="1792224" cy="411480"/>
          </a:xfrm>
          <a:prstGeom prst="rect">
            <a:avLst/>
          </a:prstGeom>
          <a:noFill/>
          <a:ln/>
        </p:spPr>
        <p:txBody>
          <a:bodyPr wrap="square" lIns="0" tIns="0" rIns="0" bIns="0" rtlCol="0" anchor="ctr"/>
          <a:lstStyle/>
          <a:p>
            <a:pPr algn="ctr" indent="0" marL="0">
              <a:buNone/>
            </a:pPr>
            <a:r>
              <a:rPr lang="en-US" sz="1600" b="1" dirty="0">
                <a:solidFill>
                  <a:schemeClr val="bg1"/>
                </a:solidFill>
              </a:rPr>
              <a:t>Dense 128 + ReLU</a:t>
            </a:r>
            <a:endParaRPr lang="en-US" sz="1600" dirty="0"/>
          </a:p>
        </p:txBody>
      </p:sp>
      <p:sp>
        <p:nvSpPr>
          <p:cNvPr id="37" name="Text 34"/>
          <p:cNvSpPr txBox="1"/>
          <p:nvPr/>
        </p:nvSpPr>
        <p:spPr>
          <a:xfrm>
            <a:off x="2921508" y="4480560"/>
            <a:ext cx="1792224" cy="457200"/>
          </a:xfrm>
          <a:prstGeom prst="rect">
            <a:avLst/>
          </a:prstGeom>
          <a:noFill/>
          <a:ln/>
        </p:spPr>
        <p:txBody>
          <a:bodyPr wrap="square" lIns="0" tIns="0" rIns="0" bIns="0" rtlCol="0" anchor="ctr"/>
          <a:lstStyle/>
          <a:p>
            <a:pPr algn="ctr" indent="0" marL="0">
              <a:buNone/>
            </a:pPr>
            <a:r>
              <a:rPr lang="en-US" sz="1300" dirty="0">
                <a:solidFill>
                  <a:schemeClr val="bg2"/>
                </a:solidFill>
              </a:rPr>
              <a:t>128</a:t>
            </a:r>
            <a:endParaRPr lang="en-US" sz="1300" dirty="0"/>
          </a:p>
        </p:txBody>
      </p:sp>
      <p:sp>
        <p:nvSpPr>
          <p:cNvPr id="38" name="Text 35"/>
          <p:cNvSpPr txBox="1"/>
          <p:nvPr/>
        </p:nvSpPr>
        <p:spPr>
          <a:xfrm>
            <a:off x="2921508" y="4983480"/>
            <a:ext cx="1792224" cy="320040"/>
          </a:xfrm>
          <a:prstGeom prst="rect">
            <a:avLst/>
          </a:prstGeom>
          <a:noFill/>
          <a:ln/>
        </p:spPr>
        <p:txBody>
          <a:bodyPr wrap="square" lIns="0" tIns="0" rIns="0" bIns="0" rtlCol="0" anchor="ctr"/>
          <a:lstStyle/>
          <a:p>
            <a:pPr algn="ctr" indent="0" marL="0">
              <a:buNone/>
            </a:pPr>
            <a:r>
              <a:rPr lang="en-US" sz="1200" dirty="0">
                <a:solidFill>
                  <a:schemeClr val="accent1"/>
                </a:solidFill>
              </a:rPr>
              <a:t>16,512 params</a:t>
            </a:r>
            <a:endParaRPr lang="en-US" sz="1200" dirty="0"/>
          </a:p>
        </p:txBody>
      </p:sp>
      <p:sp>
        <p:nvSpPr>
          <p:cNvPr id="39" name="Shape 36"/>
          <p:cNvSpPr/>
          <p:nvPr/>
        </p:nvSpPr>
        <p:spPr>
          <a:xfrm>
            <a:off x="4850892" y="4526280"/>
            <a:ext cx="201168" cy="274320"/>
          </a:xfrm>
          <a:prstGeom prst="rightArrow">
            <a:avLst/>
          </a:prstGeom>
          <a:solidFill>
            <a:schemeClr val="accent1"/>
          </a:solidFill>
          <a:ln/>
        </p:spPr>
      </p:sp>
      <p:sp>
        <p:nvSpPr>
          <p:cNvPr id="40" name="Block Dropout 0.4"/>
          <p:cNvSpPr/>
          <p:nvPr/>
        </p:nvSpPr>
        <p:spPr>
          <a:xfrm>
            <a:off x="5074920" y="3931920"/>
            <a:ext cx="2011680" cy="1508760"/>
          </a:xfrm>
          <a:prstGeom prst="roundRect">
            <a:avLst>
              <a:gd name="adj" fmla="val 6061"/>
            </a:avLst>
          </a:prstGeom>
          <a:solidFill>
            <a:schemeClr val="tx2"/>
          </a:solidFill>
          <a:ln w="19050">
            <a:solidFill>
              <a:srgbClr val="3B82F6"/>
            </a:solidFill>
            <a:prstDash val="solid"/>
          </a:ln>
        </p:spPr>
      </p:sp>
      <p:sp>
        <p:nvSpPr>
          <p:cNvPr id="41" name="Text 38"/>
          <p:cNvSpPr txBox="1"/>
          <p:nvPr/>
        </p:nvSpPr>
        <p:spPr>
          <a:xfrm>
            <a:off x="5184648" y="4023360"/>
            <a:ext cx="1792224" cy="411480"/>
          </a:xfrm>
          <a:prstGeom prst="rect">
            <a:avLst/>
          </a:prstGeom>
          <a:noFill/>
          <a:ln/>
        </p:spPr>
        <p:txBody>
          <a:bodyPr wrap="square" lIns="0" tIns="0" rIns="0" bIns="0" rtlCol="0" anchor="ctr"/>
          <a:lstStyle/>
          <a:p>
            <a:pPr algn="ctr" indent="0" marL="0">
              <a:buNone/>
            </a:pPr>
            <a:r>
              <a:rPr lang="en-US" sz="1600" b="1" dirty="0">
                <a:solidFill>
                  <a:schemeClr val="bg1"/>
                </a:solidFill>
              </a:rPr>
              <a:t>Dropout 0.4</a:t>
            </a:r>
            <a:endParaRPr lang="en-US" sz="1600" dirty="0"/>
          </a:p>
        </p:txBody>
      </p:sp>
      <p:sp>
        <p:nvSpPr>
          <p:cNvPr id="42" name="Text 39"/>
          <p:cNvSpPr txBox="1"/>
          <p:nvPr/>
        </p:nvSpPr>
        <p:spPr>
          <a:xfrm>
            <a:off x="5184648" y="4480560"/>
            <a:ext cx="1792224" cy="457200"/>
          </a:xfrm>
          <a:prstGeom prst="rect">
            <a:avLst/>
          </a:prstGeom>
          <a:noFill/>
          <a:ln/>
        </p:spPr>
        <p:txBody>
          <a:bodyPr wrap="square" lIns="0" tIns="0" rIns="0" bIns="0" rtlCol="0" anchor="ctr"/>
          <a:lstStyle/>
          <a:p>
            <a:pPr algn="ctr" indent="0" marL="0">
              <a:buNone/>
            </a:pPr>
            <a:r>
              <a:rPr lang="en-US" sz="1300" dirty="0">
                <a:solidFill>
                  <a:schemeClr val="bg2"/>
                </a:solidFill>
              </a:rPr>
              <a:t>128</a:t>
            </a:r>
            <a:endParaRPr lang="en-US" sz="1300" dirty="0"/>
          </a:p>
        </p:txBody>
      </p:sp>
      <p:sp>
        <p:nvSpPr>
          <p:cNvPr id="43" name="Text 40"/>
          <p:cNvSpPr txBox="1"/>
          <p:nvPr/>
        </p:nvSpPr>
        <p:spPr>
          <a:xfrm>
            <a:off x="5184648" y="4983480"/>
            <a:ext cx="1792224" cy="320040"/>
          </a:xfrm>
          <a:prstGeom prst="rect">
            <a:avLst/>
          </a:prstGeom>
          <a:noFill/>
          <a:ln/>
        </p:spPr>
        <p:txBody>
          <a:bodyPr wrap="square" lIns="0" tIns="0" rIns="0" bIns="0" rtlCol="0" anchor="ctr"/>
          <a:lstStyle/>
          <a:p>
            <a:pPr algn="ctr" indent="0" marL="0">
              <a:buNone/>
            </a:pPr>
            <a:r>
              <a:rPr lang="en-US" sz="1200" dirty="0">
                <a:solidFill>
                  <a:schemeClr val="accent1"/>
                </a:solidFill>
              </a:rPr>
              <a:t>0 params</a:t>
            </a:r>
            <a:endParaRPr lang="en-US" sz="1200" dirty="0"/>
          </a:p>
        </p:txBody>
      </p:sp>
      <p:sp>
        <p:nvSpPr>
          <p:cNvPr id="44" name="Shape 41"/>
          <p:cNvSpPr/>
          <p:nvPr/>
        </p:nvSpPr>
        <p:spPr>
          <a:xfrm>
            <a:off x="7114032" y="4526280"/>
            <a:ext cx="201168" cy="274320"/>
          </a:xfrm>
          <a:prstGeom prst="rightArrow">
            <a:avLst/>
          </a:prstGeom>
          <a:solidFill>
            <a:schemeClr val="accent1"/>
          </a:solidFill>
          <a:ln/>
        </p:spPr>
      </p:sp>
      <p:sp>
        <p:nvSpPr>
          <p:cNvPr id="45" name="Block Dense 20 + Softmax"/>
          <p:cNvSpPr/>
          <p:nvPr/>
        </p:nvSpPr>
        <p:spPr>
          <a:xfrm>
            <a:off x="7338060" y="3931920"/>
            <a:ext cx="2011680" cy="1508760"/>
          </a:xfrm>
          <a:prstGeom prst="roundRect">
            <a:avLst>
              <a:gd name="adj" fmla="val 6061"/>
            </a:avLst>
          </a:prstGeom>
          <a:solidFill>
            <a:schemeClr val="tx2"/>
          </a:solidFill>
          <a:ln w="19050">
            <a:solidFill>
              <a:srgbClr val="22C55E"/>
            </a:solidFill>
            <a:prstDash val="solid"/>
          </a:ln>
        </p:spPr>
      </p:sp>
      <p:sp>
        <p:nvSpPr>
          <p:cNvPr id="46" name="Text 43"/>
          <p:cNvSpPr txBox="1"/>
          <p:nvPr/>
        </p:nvSpPr>
        <p:spPr>
          <a:xfrm>
            <a:off x="7447788" y="4023360"/>
            <a:ext cx="1792224" cy="411480"/>
          </a:xfrm>
          <a:prstGeom prst="rect">
            <a:avLst/>
          </a:prstGeom>
          <a:noFill/>
          <a:ln/>
        </p:spPr>
        <p:txBody>
          <a:bodyPr wrap="square" lIns="0" tIns="0" rIns="0" bIns="0" rtlCol="0" anchor="ctr"/>
          <a:lstStyle/>
          <a:p>
            <a:pPr algn="ctr" indent="0" marL="0">
              <a:buNone/>
            </a:pPr>
            <a:r>
              <a:rPr lang="en-US" sz="1600" b="1" dirty="0">
                <a:solidFill>
                  <a:schemeClr val="bg1"/>
                </a:solidFill>
              </a:rPr>
              <a:t>Dense 20 + Softmax</a:t>
            </a:r>
            <a:endParaRPr lang="en-US" sz="1600" dirty="0"/>
          </a:p>
        </p:txBody>
      </p:sp>
      <p:sp>
        <p:nvSpPr>
          <p:cNvPr id="47" name="Text 44"/>
          <p:cNvSpPr txBox="1"/>
          <p:nvPr/>
        </p:nvSpPr>
        <p:spPr>
          <a:xfrm>
            <a:off x="7447788" y="4480560"/>
            <a:ext cx="1792224" cy="457200"/>
          </a:xfrm>
          <a:prstGeom prst="rect">
            <a:avLst/>
          </a:prstGeom>
          <a:noFill/>
          <a:ln/>
        </p:spPr>
        <p:txBody>
          <a:bodyPr wrap="square" lIns="0" tIns="0" rIns="0" bIns="0" rtlCol="0" anchor="ctr"/>
          <a:lstStyle/>
          <a:p>
            <a:pPr algn="ctr" indent="0" marL="0">
              <a:buNone/>
            </a:pPr>
            <a:r>
              <a:rPr lang="en-US" sz="1300" dirty="0">
                <a:solidFill>
                  <a:schemeClr val="bg2"/>
                </a:solidFill>
              </a:rPr>
              <a:t>20 classes</a:t>
            </a:r>
            <a:endParaRPr lang="en-US" sz="1300" dirty="0"/>
          </a:p>
        </p:txBody>
      </p:sp>
      <p:sp>
        <p:nvSpPr>
          <p:cNvPr id="48" name="Text 45"/>
          <p:cNvSpPr txBox="1"/>
          <p:nvPr/>
        </p:nvSpPr>
        <p:spPr>
          <a:xfrm>
            <a:off x="7447788" y="4983480"/>
            <a:ext cx="1792224" cy="320040"/>
          </a:xfrm>
          <a:prstGeom prst="rect">
            <a:avLst/>
          </a:prstGeom>
          <a:noFill/>
          <a:ln/>
        </p:spPr>
        <p:txBody>
          <a:bodyPr wrap="square" lIns="0" tIns="0" rIns="0" bIns="0" rtlCol="0" anchor="ctr"/>
          <a:lstStyle/>
          <a:p>
            <a:pPr algn="ctr" indent="0" marL="0">
              <a:buNone/>
            </a:pPr>
            <a:r>
              <a:rPr lang="en-US" sz="1200" dirty="0">
                <a:solidFill>
                  <a:schemeClr val="accent1"/>
                </a:solidFill>
              </a:rPr>
              <a:t>2,580 params</a:t>
            </a:r>
            <a:endParaRPr lang="en-US" sz="1200" dirty="0"/>
          </a:p>
        </p:txBody>
      </p:sp>
      <p:sp>
        <p:nvSpPr>
          <p:cNvPr id="49" name="Params card"/>
          <p:cNvSpPr/>
          <p:nvPr/>
        </p:nvSpPr>
        <p:spPr>
          <a:xfrm>
            <a:off x="9601200" y="3931920"/>
            <a:ext cx="2011680" cy="1508760"/>
          </a:xfrm>
          <a:prstGeom prst="roundRect">
            <a:avLst>
              <a:gd name="adj" fmla="val 7273"/>
            </a:avLst>
          </a:prstGeom>
          <a:solidFill>
            <a:schemeClr val="tx2"/>
          </a:solidFill>
          <a:ln w="9525">
            <a:solidFill>
              <a:srgbClr val="24396B"/>
            </a:solidFill>
            <a:prstDash val="solid"/>
          </a:ln>
        </p:spPr>
      </p:sp>
      <p:sp>
        <p:nvSpPr>
          <p:cNvPr id="50" name="Text 47"/>
          <p:cNvSpPr txBox="1"/>
          <p:nvPr/>
        </p:nvSpPr>
        <p:spPr>
          <a:xfrm>
            <a:off x="9601200" y="4023360"/>
            <a:ext cx="2011680" cy="640080"/>
          </a:xfrm>
          <a:prstGeom prst="rect">
            <a:avLst/>
          </a:prstGeom>
          <a:noFill/>
          <a:ln/>
        </p:spPr>
        <p:txBody>
          <a:bodyPr wrap="square" lIns="0" tIns="0" rIns="0" bIns="0" rtlCol="0" anchor="ctr"/>
          <a:lstStyle/>
          <a:p>
            <a:pPr algn="ctr" indent="0" marL="0">
              <a:buNone/>
            </a:pPr>
            <a:r>
              <a:rPr lang="en-US" sz="3200" b="1" dirty="0">
                <a:solidFill>
                  <a:schemeClr val="accent1"/>
                </a:solidFill>
                <a:latin typeface="Cambria" pitchFamily="34" charset="0"/>
                <a:ea typeface="Cambria" pitchFamily="34" charset="-122"/>
                <a:cs typeface="Cambria" pitchFamily="34" charset="-120"/>
              </a:rPr>
              <a:t>112,340</a:t>
            </a:r>
            <a:endParaRPr lang="en-US" sz="3200" dirty="0"/>
          </a:p>
        </p:txBody>
      </p:sp>
      <p:sp>
        <p:nvSpPr>
          <p:cNvPr id="51" name="Text 48"/>
          <p:cNvSpPr txBox="1"/>
          <p:nvPr/>
        </p:nvSpPr>
        <p:spPr>
          <a:xfrm>
            <a:off x="9710928" y="4663440"/>
            <a:ext cx="1792224" cy="640080"/>
          </a:xfrm>
          <a:prstGeom prst="rect">
            <a:avLst/>
          </a:prstGeom>
          <a:noFill/>
          <a:ln/>
        </p:spPr>
        <p:txBody>
          <a:bodyPr wrap="square" lIns="0" tIns="0" rIns="0" bIns="0" rtlCol="0" anchor="t"/>
          <a:lstStyle/>
          <a:p>
            <a:pPr algn="ctr" indent="0" marL="0">
              <a:buNone/>
            </a:pPr>
            <a:r>
              <a:rPr lang="en-US" sz="1300" dirty="0">
                <a:solidFill>
                  <a:schemeClr val="bg2"/>
                </a:solidFill>
              </a:rPr>
              <a:t>trainable parameters (438.83 KB)</a:t>
            </a:r>
            <a:endParaRPr lang="en-US" sz="1300" dirty="0"/>
          </a:p>
        </p:txBody>
      </p:sp>
      <p:sp>
        <p:nvSpPr>
          <p:cNvPr id="52" name="Text 49"/>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500" dirty="0">
                <a:solidFill>
                  <a:schemeClr val="bg1"/>
                </a:solidFill>
              </a:rPr>
              <a:t>Output: 20-way softmax, one probability per LaLiga club. Dropout rate 0.4 regularises the 128-unit dense layer.</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Training Configuration</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MODEL</a:t>
            </a:r>
            <a:endParaRPr lang="en-US" sz="1200" dirty="0"/>
          </a:p>
        </p:txBody>
      </p:sp>
      <p:sp>
        <p:nvSpPr>
          <p:cNvPr id="5" name="Config Optimizer"/>
          <p:cNvSpPr/>
          <p:nvPr/>
        </p:nvSpPr>
        <p:spPr>
          <a:xfrm>
            <a:off x="548640" y="1600200"/>
            <a:ext cx="3566160" cy="1188720"/>
          </a:xfrm>
          <a:prstGeom prst="roundRect">
            <a:avLst>
              <a:gd name="adj" fmla="val 9231"/>
            </a:avLst>
          </a:prstGeom>
          <a:solidFill>
            <a:schemeClr val="tx2"/>
          </a:solidFill>
          <a:ln w="9525">
            <a:solidFill>
              <a:srgbClr val="24396B"/>
            </a:solidFill>
            <a:prstDash val="solid"/>
          </a:ln>
        </p:spPr>
      </p:sp>
      <p:sp>
        <p:nvSpPr>
          <p:cNvPr id="6" name="Shape 3"/>
          <p:cNvSpPr/>
          <p:nvPr/>
        </p:nvSpPr>
        <p:spPr>
          <a:xfrm>
            <a:off x="777240" y="1901952"/>
            <a:ext cx="566928" cy="56692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01964" y="2026676"/>
            <a:ext cx="317480" cy="317480"/>
          </a:xfrm>
          <a:prstGeom prst="rect">
            <a:avLst/>
          </a:prstGeom>
        </p:spPr>
      </p:pic>
      <p:sp>
        <p:nvSpPr>
          <p:cNvPr id="8" name="Text 4"/>
          <p:cNvSpPr txBox="1"/>
          <p:nvPr/>
        </p:nvSpPr>
        <p:spPr>
          <a:xfrm>
            <a:off x="1554480" y="1764792"/>
            <a:ext cx="2468880" cy="365760"/>
          </a:xfrm>
          <a:prstGeom prst="rect">
            <a:avLst/>
          </a:prstGeom>
          <a:noFill/>
          <a:ln/>
        </p:spPr>
        <p:txBody>
          <a:bodyPr wrap="square" lIns="0" tIns="0" rIns="0" bIns="0" rtlCol="0" anchor="t"/>
          <a:lstStyle/>
          <a:p>
            <a:pPr indent="0" marL="0">
              <a:buNone/>
            </a:pPr>
            <a:r>
              <a:rPr lang="en-US" sz="1400" dirty="0">
                <a:solidFill>
                  <a:schemeClr val="bg2"/>
                </a:solidFill>
              </a:rPr>
              <a:t>Optimizer</a:t>
            </a:r>
            <a:endParaRPr lang="en-US" sz="1400" dirty="0"/>
          </a:p>
        </p:txBody>
      </p:sp>
      <p:sp>
        <p:nvSpPr>
          <p:cNvPr id="9" name="Text 5"/>
          <p:cNvSpPr txBox="1"/>
          <p:nvPr/>
        </p:nvSpPr>
        <p:spPr>
          <a:xfrm>
            <a:off x="1554480" y="2130552"/>
            <a:ext cx="2468880" cy="548640"/>
          </a:xfrm>
          <a:prstGeom prst="rect">
            <a:avLst/>
          </a:prstGeom>
          <a:noFill/>
          <a:ln/>
        </p:spPr>
        <p:txBody>
          <a:bodyPr wrap="square" lIns="0" tIns="0" rIns="0" bIns="0" rtlCol="0" anchor="t"/>
          <a:lstStyle/>
          <a:p>
            <a:pPr indent="0" marL="0">
              <a:buNone/>
            </a:pPr>
            <a:r>
              <a:rPr lang="en-US" sz="2000" b="1" dirty="0">
                <a:solidFill>
                  <a:schemeClr val="bg1"/>
                </a:solidFill>
              </a:rPr>
              <a:t>Adam</a:t>
            </a:r>
            <a:endParaRPr lang="en-US" sz="2000" dirty="0"/>
          </a:p>
        </p:txBody>
      </p:sp>
      <p:sp>
        <p:nvSpPr>
          <p:cNvPr id="10" name="Config Learning rate"/>
          <p:cNvSpPr/>
          <p:nvPr/>
        </p:nvSpPr>
        <p:spPr>
          <a:xfrm>
            <a:off x="4297680" y="1600200"/>
            <a:ext cx="3566160" cy="1188720"/>
          </a:xfrm>
          <a:prstGeom prst="roundRect">
            <a:avLst>
              <a:gd name="adj" fmla="val 9231"/>
            </a:avLst>
          </a:prstGeom>
          <a:solidFill>
            <a:schemeClr val="tx2"/>
          </a:solidFill>
          <a:ln w="9525">
            <a:solidFill>
              <a:srgbClr val="24396B"/>
            </a:solidFill>
            <a:prstDash val="solid"/>
          </a:ln>
        </p:spPr>
      </p:sp>
      <p:sp>
        <p:nvSpPr>
          <p:cNvPr id="11" name="Shape 7"/>
          <p:cNvSpPr/>
          <p:nvPr/>
        </p:nvSpPr>
        <p:spPr>
          <a:xfrm>
            <a:off x="4526280" y="1901952"/>
            <a:ext cx="566928" cy="566928"/>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4651004" y="2026676"/>
            <a:ext cx="317480" cy="317480"/>
          </a:xfrm>
          <a:prstGeom prst="rect">
            <a:avLst/>
          </a:prstGeom>
        </p:spPr>
      </p:pic>
      <p:sp>
        <p:nvSpPr>
          <p:cNvPr id="13" name="Text 8"/>
          <p:cNvSpPr txBox="1"/>
          <p:nvPr/>
        </p:nvSpPr>
        <p:spPr>
          <a:xfrm>
            <a:off x="5303520" y="1764792"/>
            <a:ext cx="2468880" cy="365760"/>
          </a:xfrm>
          <a:prstGeom prst="rect">
            <a:avLst/>
          </a:prstGeom>
          <a:noFill/>
          <a:ln/>
        </p:spPr>
        <p:txBody>
          <a:bodyPr wrap="square" lIns="0" tIns="0" rIns="0" bIns="0" rtlCol="0" anchor="t"/>
          <a:lstStyle/>
          <a:p>
            <a:pPr indent="0" marL="0">
              <a:buNone/>
            </a:pPr>
            <a:r>
              <a:rPr lang="en-US" sz="1400" dirty="0">
                <a:solidFill>
                  <a:schemeClr val="bg2"/>
                </a:solidFill>
              </a:rPr>
              <a:t>Learning rate</a:t>
            </a:r>
            <a:endParaRPr lang="en-US" sz="1400" dirty="0"/>
          </a:p>
        </p:txBody>
      </p:sp>
      <p:sp>
        <p:nvSpPr>
          <p:cNvPr id="14" name="Text 9"/>
          <p:cNvSpPr txBox="1"/>
          <p:nvPr/>
        </p:nvSpPr>
        <p:spPr>
          <a:xfrm>
            <a:off x="5303520" y="2130552"/>
            <a:ext cx="2468880" cy="548640"/>
          </a:xfrm>
          <a:prstGeom prst="rect">
            <a:avLst/>
          </a:prstGeom>
          <a:noFill/>
          <a:ln/>
        </p:spPr>
        <p:txBody>
          <a:bodyPr wrap="square" lIns="0" tIns="0" rIns="0" bIns="0" rtlCol="0" anchor="t"/>
          <a:lstStyle/>
          <a:p>
            <a:pPr indent="0" marL="0">
              <a:buNone/>
            </a:pPr>
            <a:r>
              <a:rPr lang="en-US" sz="2000" b="1" dirty="0">
                <a:solidFill>
                  <a:schemeClr val="bg1"/>
                </a:solidFill>
              </a:rPr>
              <a:t>1e-3 initial</a:t>
            </a:r>
            <a:endParaRPr lang="en-US" sz="2000" dirty="0"/>
          </a:p>
        </p:txBody>
      </p:sp>
      <p:sp>
        <p:nvSpPr>
          <p:cNvPr id="15" name="Config Loss"/>
          <p:cNvSpPr/>
          <p:nvPr/>
        </p:nvSpPr>
        <p:spPr>
          <a:xfrm>
            <a:off x="8046720" y="1600200"/>
            <a:ext cx="3566160" cy="1188720"/>
          </a:xfrm>
          <a:prstGeom prst="roundRect">
            <a:avLst>
              <a:gd name="adj" fmla="val 9231"/>
            </a:avLst>
          </a:prstGeom>
          <a:solidFill>
            <a:schemeClr val="tx2"/>
          </a:solidFill>
          <a:ln w="9525">
            <a:solidFill>
              <a:srgbClr val="24396B"/>
            </a:solidFill>
            <a:prstDash val="solid"/>
          </a:ln>
        </p:spPr>
      </p:sp>
      <p:sp>
        <p:nvSpPr>
          <p:cNvPr id="16" name="Shape 11"/>
          <p:cNvSpPr/>
          <p:nvPr/>
        </p:nvSpPr>
        <p:spPr>
          <a:xfrm>
            <a:off x="8275320" y="1901952"/>
            <a:ext cx="566928" cy="566928"/>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8400044" y="2026676"/>
            <a:ext cx="317480" cy="317480"/>
          </a:xfrm>
          <a:prstGeom prst="rect">
            <a:avLst/>
          </a:prstGeom>
        </p:spPr>
      </p:pic>
      <p:sp>
        <p:nvSpPr>
          <p:cNvPr id="18" name="Text 12"/>
          <p:cNvSpPr txBox="1"/>
          <p:nvPr/>
        </p:nvSpPr>
        <p:spPr>
          <a:xfrm>
            <a:off x="9052560" y="1764792"/>
            <a:ext cx="2468880" cy="365760"/>
          </a:xfrm>
          <a:prstGeom prst="rect">
            <a:avLst/>
          </a:prstGeom>
          <a:noFill/>
          <a:ln/>
        </p:spPr>
        <p:txBody>
          <a:bodyPr wrap="square" lIns="0" tIns="0" rIns="0" bIns="0" rtlCol="0" anchor="t"/>
          <a:lstStyle/>
          <a:p>
            <a:pPr indent="0" marL="0">
              <a:buNone/>
            </a:pPr>
            <a:r>
              <a:rPr lang="en-US" sz="1400" dirty="0">
                <a:solidFill>
                  <a:schemeClr val="bg2"/>
                </a:solidFill>
              </a:rPr>
              <a:t>Loss</a:t>
            </a:r>
            <a:endParaRPr lang="en-US" sz="1400" dirty="0"/>
          </a:p>
        </p:txBody>
      </p:sp>
      <p:sp>
        <p:nvSpPr>
          <p:cNvPr id="19" name="Text 13"/>
          <p:cNvSpPr txBox="1"/>
          <p:nvPr/>
        </p:nvSpPr>
        <p:spPr>
          <a:xfrm>
            <a:off x="9052560" y="2130552"/>
            <a:ext cx="2468880" cy="548640"/>
          </a:xfrm>
          <a:prstGeom prst="rect">
            <a:avLst/>
          </a:prstGeom>
          <a:noFill/>
          <a:ln/>
        </p:spPr>
        <p:txBody>
          <a:bodyPr wrap="square" lIns="0" tIns="0" rIns="0" bIns="0" rtlCol="0" anchor="t"/>
          <a:lstStyle/>
          <a:p>
            <a:pPr indent="0" marL="0">
              <a:buNone/>
            </a:pPr>
            <a:r>
              <a:rPr lang="en-US" sz="1500" b="1" dirty="0">
                <a:solidFill>
                  <a:schemeClr val="bg1"/>
                </a:solidFill>
              </a:rPr>
              <a:t>Sparse categorical crossentropy</a:t>
            </a:r>
            <a:endParaRPr lang="en-US" sz="1500" dirty="0"/>
          </a:p>
        </p:txBody>
      </p:sp>
      <p:sp>
        <p:nvSpPr>
          <p:cNvPr id="20" name="Config Metric"/>
          <p:cNvSpPr/>
          <p:nvPr/>
        </p:nvSpPr>
        <p:spPr>
          <a:xfrm>
            <a:off x="548640" y="2971800"/>
            <a:ext cx="3566160" cy="1188720"/>
          </a:xfrm>
          <a:prstGeom prst="roundRect">
            <a:avLst>
              <a:gd name="adj" fmla="val 9231"/>
            </a:avLst>
          </a:prstGeom>
          <a:solidFill>
            <a:schemeClr val="tx2"/>
          </a:solidFill>
          <a:ln w="9525">
            <a:solidFill>
              <a:srgbClr val="24396B"/>
            </a:solidFill>
            <a:prstDash val="solid"/>
          </a:ln>
        </p:spPr>
      </p:sp>
      <p:sp>
        <p:nvSpPr>
          <p:cNvPr id="21" name="Shape 15"/>
          <p:cNvSpPr/>
          <p:nvPr/>
        </p:nvSpPr>
        <p:spPr>
          <a:xfrm>
            <a:off x="777240" y="3273552"/>
            <a:ext cx="566928" cy="566928"/>
          </a:xfrm>
          <a:prstGeom prst="ellipse">
            <a:avLst/>
          </a:prstGeom>
          <a:solidFill>
            <a:schemeClr val="accent2"/>
          </a:solidFill>
          <a:ln/>
        </p:spPr>
      </p:sp>
      <p:pic>
        <p:nvPicPr>
          <p:cNvPr id="22" name="Image 3" descr="preencoded.png">    </p:cNvPr>
          <p:cNvPicPr>
            <a:picLocks noChangeAspect="1"/>
          </p:cNvPicPr>
          <p:nvPr/>
        </p:nvPicPr>
        <p:blipFill>
          <a:blip r:embed="rId4"/>
          <a:stretch>
            <a:fillRect/>
          </a:stretch>
        </p:blipFill>
        <p:spPr>
          <a:xfrm>
            <a:off x="901964" y="3398276"/>
            <a:ext cx="317480" cy="317480"/>
          </a:xfrm>
          <a:prstGeom prst="rect">
            <a:avLst/>
          </a:prstGeom>
        </p:spPr>
      </p:pic>
      <p:sp>
        <p:nvSpPr>
          <p:cNvPr id="23" name="Text 16"/>
          <p:cNvSpPr txBox="1"/>
          <p:nvPr/>
        </p:nvSpPr>
        <p:spPr>
          <a:xfrm>
            <a:off x="1554480" y="3136392"/>
            <a:ext cx="2468880" cy="365760"/>
          </a:xfrm>
          <a:prstGeom prst="rect">
            <a:avLst/>
          </a:prstGeom>
          <a:noFill/>
          <a:ln/>
        </p:spPr>
        <p:txBody>
          <a:bodyPr wrap="square" lIns="0" tIns="0" rIns="0" bIns="0" rtlCol="0" anchor="t"/>
          <a:lstStyle/>
          <a:p>
            <a:pPr indent="0" marL="0">
              <a:buNone/>
            </a:pPr>
            <a:r>
              <a:rPr lang="en-US" sz="1400" dirty="0">
                <a:solidFill>
                  <a:schemeClr val="bg2"/>
                </a:solidFill>
              </a:rPr>
              <a:t>Metric</a:t>
            </a:r>
            <a:endParaRPr lang="en-US" sz="1400" dirty="0"/>
          </a:p>
        </p:txBody>
      </p:sp>
      <p:sp>
        <p:nvSpPr>
          <p:cNvPr id="24" name="Text 17"/>
          <p:cNvSpPr txBox="1"/>
          <p:nvPr/>
        </p:nvSpPr>
        <p:spPr>
          <a:xfrm>
            <a:off x="1554480" y="3502152"/>
            <a:ext cx="2468880" cy="548640"/>
          </a:xfrm>
          <a:prstGeom prst="rect">
            <a:avLst/>
          </a:prstGeom>
          <a:noFill/>
          <a:ln/>
        </p:spPr>
        <p:txBody>
          <a:bodyPr wrap="square" lIns="0" tIns="0" rIns="0" bIns="0" rtlCol="0" anchor="t"/>
          <a:lstStyle/>
          <a:p>
            <a:pPr indent="0" marL="0">
              <a:buNone/>
            </a:pPr>
            <a:r>
              <a:rPr lang="en-US" sz="2000" b="1" dirty="0">
                <a:solidFill>
                  <a:schemeClr val="bg1"/>
                </a:solidFill>
              </a:rPr>
              <a:t>Accuracy</a:t>
            </a:r>
            <a:endParaRPr lang="en-US" sz="2000" dirty="0"/>
          </a:p>
        </p:txBody>
      </p:sp>
      <p:sp>
        <p:nvSpPr>
          <p:cNvPr id="25" name="Config Batch size"/>
          <p:cNvSpPr/>
          <p:nvPr/>
        </p:nvSpPr>
        <p:spPr>
          <a:xfrm>
            <a:off x="4297680" y="2971800"/>
            <a:ext cx="3566160" cy="1188720"/>
          </a:xfrm>
          <a:prstGeom prst="roundRect">
            <a:avLst>
              <a:gd name="adj" fmla="val 9231"/>
            </a:avLst>
          </a:prstGeom>
          <a:solidFill>
            <a:schemeClr val="tx2"/>
          </a:solidFill>
          <a:ln w="9525">
            <a:solidFill>
              <a:srgbClr val="24396B"/>
            </a:solidFill>
            <a:prstDash val="solid"/>
          </a:ln>
        </p:spPr>
      </p:sp>
      <p:sp>
        <p:nvSpPr>
          <p:cNvPr id="26" name="Shape 19"/>
          <p:cNvSpPr/>
          <p:nvPr/>
        </p:nvSpPr>
        <p:spPr>
          <a:xfrm>
            <a:off x="4526280" y="3273552"/>
            <a:ext cx="566928" cy="566928"/>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4651004" y="3398276"/>
            <a:ext cx="317480" cy="317480"/>
          </a:xfrm>
          <a:prstGeom prst="rect">
            <a:avLst/>
          </a:prstGeom>
        </p:spPr>
      </p:pic>
      <p:sp>
        <p:nvSpPr>
          <p:cNvPr id="28" name="Text 20"/>
          <p:cNvSpPr txBox="1"/>
          <p:nvPr/>
        </p:nvSpPr>
        <p:spPr>
          <a:xfrm>
            <a:off x="5303520" y="3136392"/>
            <a:ext cx="2468880" cy="365760"/>
          </a:xfrm>
          <a:prstGeom prst="rect">
            <a:avLst/>
          </a:prstGeom>
          <a:noFill/>
          <a:ln/>
        </p:spPr>
        <p:txBody>
          <a:bodyPr wrap="square" lIns="0" tIns="0" rIns="0" bIns="0" rtlCol="0" anchor="t"/>
          <a:lstStyle/>
          <a:p>
            <a:pPr indent="0" marL="0">
              <a:buNone/>
            </a:pPr>
            <a:r>
              <a:rPr lang="en-US" sz="1400" dirty="0">
                <a:solidFill>
                  <a:schemeClr val="bg2"/>
                </a:solidFill>
              </a:rPr>
              <a:t>Batch size</a:t>
            </a:r>
            <a:endParaRPr lang="en-US" sz="1400" dirty="0"/>
          </a:p>
        </p:txBody>
      </p:sp>
      <p:sp>
        <p:nvSpPr>
          <p:cNvPr id="29" name="Text 21"/>
          <p:cNvSpPr txBox="1"/>
          <p:nvPr/>
        </p:nvSpPr>
        <p:spPr>
          <a:xfrm>
            <a:off x="5303520" y="3502152"/>
            <a:ext cx="2468880" cy="548640"/>
          </a:xfrm>
          <a:prstGeom prst="rect">
            <a:avLst/>
          </a:prstGeom>
          <a:noFill/>
          <a:ln/>
        </p:spPr>
        <p:txBody>
          <a:bodyPr wrap="square" lIns="0" tIns="0" rIns="0" bIns="0" rtlCol="0" anchor="t"/>
          <a:lstStyle/>
          <a:p>
            <a:pPr indent="0" marL="0">
              <a:buNone/>
            </a:pPr>
            <a:r>
              <a:rPr lang="en-US" sz="2000" b="1" dirty="0">
                <a:solidFill>
                  <a:schemeClr val="bg1"/>
                </a:solidFill>
              </a:rPr>
              <a:t>32</a:t>
            </a:r>
            <a:endParaRPr lang="en-US" sz="2000" dirty="0"/>
          </a:p>
        </p:txBody>
      </p:sp>
      <p:sp>
        <p:nvSpPr>
          <p:cNvPr id="30" name="Config Epochs"/>
          <p:cNvSpPr/>
          <p:nvPr/>
        </p:nvSpPr>
        <p:spPr>
          <a:xfrm>
            <a:off x="8046720" y="2971800"/>
            <a:ext cx="3566160" cy="1188720"/>
          </a:xfrm>
          <a:prstGeom prst="roundRect">
            <a:avLst>
              <a:gd name="adj" fmla="val 9231"/>
            </a:avLst>
          </a:prstGeom>
          <a:solidFill>
            <a:schemeClr val="tx2"/>
          </a:solidFill>
          <a:ln w="9525">
            <a:solidFill>
              <a:srgbClr val="24396B"/>
            </a:solidFill>
            <a:prstDash val="solid"/>
          </a:ln>
        </p:spPr>
      </p:sp>
      <p:sp>
        <p:nvSpPr>
          <p:cNvPr id="31" name="Shape 23"/>
          <p:cNvSpPr/>
          <p:nvPr/>
        </p:nvSpPr>
        <p:spPr>
          <a:xfrm>
            <a:off x="8275320" y="3273552"/>
            <a:ext cx="566928" cy="566928"/>
          </a:xfrm>
          <a:prstGeom prst="ellipse">
            <a:avLst/>
          </a:prstGeom>
          <a:solidFill>
            <a:schemeClr val="accent2"/>
          </a:solidFill>
          <a:ln/>
        </p:spPr>
      </p:sp>
      <p:pic>
        <p:nvPicPr>
          <p:cNvPr id="32" name="Image 5" descr="preencoded.png">    </p:cNvPr>
          <p:cNvPicPr>
            <a:picLocks noChangeAspect="1"/>
          </p:cNvPicPr>
          <p:nvPr/>
        </p:nvPicPr>
        <p:blipFill>
          <a:blip r:embed="rId6"/>
          <a:stretch>
            <a:fillRect/>
          </a:stretch>
        </p:blipFill>
        <p:spPr>
          <a:xfrm>
            <a:off x="8400044" y="3398276"/>
            <a:ext cx="317480" cy="317480"/>
          </a:xfrm>
          <a:prstGeom prst="rect">
            <a:avLst/>
          </a:prstGeom>
        </p:spPr>
      </p:pic>
      <p:sp>
        <p:nvSpPr>
          <p:cNvPr id="33" name="Text 24"/>
          <p:cNvSpPr txBox="1"/>
          <p:nvPr/>
        </p:nvSpPr>
        <p:spPr>
          <a:xfrm>
            <a:off x="9052560" y="3136392"/>
            <a:ext cx="2468880" cy="365760"/>
          </a:xfrm>
          <a:prstGeom prst="rect">
            <a:avLst/>
          </a:prstGeom>
          <a:noFill/>
          <a:ln/>
        </p:spPr>
        <p:txBody>
          <a:bodyPr wrap="square" lIns="0" tIns="0" rIns="0" bIns="0" rtlCol="0" anchor="t"/>
          <a:lstStyle/>
          <a:p>
            <a:pPr indent="0" marL="0">
              <a:buNone/>
            </a:pPr>
            <a:r>
              <a:rPr lang="en-US" sz="1400" dirty="0">
                <a:solidFill>
                  <a:schemeClr val="bg2"/>
                </a:solidFill>
              </a:rPr>
              <a:t>Epochs</a:t>
            </a:r>
            <a:endParaRPr lang="en-US" sz="1400" dirty="0"/>
          </a:p>
        </p:txBody>
      </p:sp>
      <p:sp>
        <p:nvSpPr>
          <p:cNvPr id="34" name="Text 25"/>
          <p:cNvSpPr txBox="1"/>
          <p:nvPr/>
        </p:nvSpPr>
        <p:spPr>
          <a:xfrm>
            <a:off x="9052560" y="3502152"/>
            <a:ext cx="2468880" cy="548640"/>
          </a:xfrm>
          <a:prstGeom prst="rect">
            <a:avLst/>
          </a:prstGeom>
          <a:noFill/>
          <a:ln/>
        </p:spPr>
        <p:txBody>
          <a:bodyPr wrap="square" lIns="0" tIns="0" rIns="0" bIns="0" rtlCol="0" anchor="t"/>
          <a:lstStyle/>
          <a:p>
            <a:pPr indent="0" marL="0">
              <a:buNone/>
            </a:pPr>
            <a:r>
              <a:rPr lang="en-US" sz="2000" b="1" dirty="0">
                <a:solidFill>
                  <a:schemeClr val="bg1"/>
                </a:solidFill>
              </a:rPr>
              <a:t>Max 30</a:t>
            </a:r>
            <a:endParaRPr lang="en-US" sz="2000" dirty="0"/>
          </a:p>
        </p:txBody>
      </p:sp>
      <p:sp>
        <p:nvSpPr>
          <p:cNvPr id="35" name="Text 26"/>
          <p:cNvSpPr txBox="1"/>
          <p:nvPr/>
        </p:nvSpPr>
        <p:spPr>
          <a:xfrm>
            <a:off x="548640" y="4480560"/>
            <a:ext cx="10972800" cy="365760"/>
          </a:xfrm>
          <a:prstGeom prst="rect">
            <a:avLst/>
          </a:prstGeom>
          <a:noFill/>
          <a:ln/>
        </p:spPr>
        <p:txBody>
          <a:bodyPr wrap="square" lIns="0" tIns="0" rIns="0" bIns="0" rtlCol="0" anchor="t"/>
          <a:lstStyle/>
          <a:p>
            <a:pPr indent="0" marL="0">
              <a:buNone/>
            </a:pPr>
            <a:r>
              <a:rPr lang="en-US" sz="1800" b="1" dirty="0">
                <a:solidFill>
                  <a:schemeClr val="accent1"/>
                </a:solidFill>
              </a:rPr>
              <a:t>Callbacks (all monitor validation loss)</a:t>
            </a:r>
            <a:endParaRPr lang="en-US" sz="1800" dirty="0"/>
          </a:p>
        </p:txBody>
      </p:sp>
      <p:sp>
        <p:nvSpPr>
          <p:cNvPr id="36" name="Callback EarlyStopping"/>
          <p:cNvSpPr/>
          <p:nvPr/>
        </p:nvSpPr>
        <p:spPr>
          <a:xfrm>
            <a:off x="548640" y="4937760"/>
            <a:ext cx="3566160" cy="1097280"/>
          </a:xfrm>
          <a:prstGeom prst="roundRect">
            <a:avLst>
              <a:gd name="adj" fmla="val 10000"/>
            </a:avLst>
          </a:prstGeom>
          <a:solidFill>
            <a:schemeClr val="tx2"/>
          </a:solidFill>
          <a:ln w="9525">
            <a:solidFill>
              <a:srgbClr val="24396B"/>
            </a:solidFill>
            <a:prstDash val="solid"/>
          </a:ln>
        </p:spPr>
      </p:sp>
      <p:sp>
        <p:nvSpPr>
          <p:cNvPr id="37" name="Text 28"/>
          <p:cNvSpPr txBox="1"/>
          <p:nvPr/>
        </p:nvSpPr>
        <p:spPr>
          <a:xfrm>
            <a:off x="777240" y="5029200"/>
            <a:ext cx="3108960" cy="365760"/>
          </a:xfrm>
          <a:prstGeom prst="rect">
            <a:avLst/>
          </a:prstGeom>
          <a:noFill/>
          <a:ln/>
        </p:spPr>
        <p:txBody>
          <a:bodyPr wrap="square" lIns="0" tIns="0" rIns="0" bIns="0" rtlCol="0" anchor="t"/>
          <a:lstStyle/>
          <a:p>
            <a:pPr indent="0" marL="0">
              <a:buNone/>
            </a:pPr>
            <a:r>
              <a:rPr lang="en-US" sz="1600" b="1" dirty="0">
                <a:solidFill>
                  <a:schemeClr val="bg1"/>
                </a:solidFill>
              </a:rPr>
              <a:t>EarlyStopping</a:t>
            </a:r>
            <a:endParaRPr lang="en-US" sz="1600" dirty="0"/>
          </a:p>
        </p:txBody>
      </p:sp>
      <p:sp>
        <p:nvSpPr>
          <p:cNvPr id="38" name="Text 29"/>
          <p:cNvSpPr txBox="1"/>
          <p:nvPr/>
        </p:nvSpPr>
        <p:spPr>
          <a:xfrm>
            <a:off x="777240" y="5440680"/>
            <a:ext cx="3108960" cy="502920"/>
          </a:xfrm>
          <a:prstGeom prst="rect">
            <a:avLst/>
          </a:prstGeom>
          <a:noFill/>
          <a:ln/>
        </p:spPr>
        <p:txBody>
          <a:bodyPr wrap="square" lIns="0" tIns="0" rIns="0" bIns="0" rtlCol="0" anchor="t"/>
          <a:lstStyle/>
          <a:p>
            <a:pPr indent="0" marL="0">
              <a:buNone/>
            </a:pPr>
            <a:r>
              <a:rPr lang="en-US" sz="1300" dirty="0">
                <a:solidFill>
                  <a:schemeClr val="bg2"/>
                </a:solidFill>
              </a:rPr>
              <a:t>patience 6, restore best weights</a:t>
            </a:r>
            <a:endParaRPr lang="en-US" sz="1300" dirty="0"/>
          </a:p>
        </p:txBody>
      </p:sp>
      <p:sp>
        <p:nvSpPr>
          <p:cNvPr id="39" name="Callback ReduceLROnPlateau"/>
          <p:cNvSpPr/>
          <p:nvPr/>
        </p:nvSpPr>
        <p:spPr>
          <a:xfrm>
            <a:off x="4297680" y="4937760"/>
            <a:ext cx="3566160" cy="1097280"/>
          </a:xfrm>
          <a:prstGeom prst="roundRect">
            <a:avLst>
              <a:gd name="adj" fmla="val 10000"/>
            </a:avLst>
          </a:prstGeom>
          <a:solidFill>
            <a:schemeClr val="tx2"/>
          </a:solidFill>
          <a:ln w="9525">
            <a:solidFill>
              <a:srgbClr val="24396B"/>
            </a:solidFill>
            <a:prstDash val="solid"/>
          </a:ln>
        </p:spPr>
      </p:sp>
      <p:sp>
        <p:nvSpPr>
          <p:cNvPr id="40" name="Text 31"/>
          <p:cNvSpPr txBox="1"/>
          <p:nvPr/>
        </p:nvSpPr>
        <p:spPr>
          <a:xfrm>
            <a:off x="4526280" y="5029200"/>
            <a:ext cx="3108960" cy="365760"/>
          </a:xfrm>
          <a:prstGeom prst="rect">
            <a:avLst/>
          </a:prstGeom>
          <a:noFill/>
          <a:ln/>
        </p:spPr>
        <p:txBody>
          <a:bodyPr wrap="square" lIns="0" tIns="0" rIns="0" bIns="0" rtlCol="0" anchor="t"/>
          <a:lstStyle/>
          <a:p>
            <a:pPr indent="0" marL="0">
              <a:buNone/>
            </a:pPr>
            <a:r>
              <a:rPr lang="en-US" sz="1600" b="1" dirty="0">
                <a:solidFill>
                  <a:schemeClr val="bg1"/>
                </a:solidFill>
              </a:rPr>
              <a:t>ReduceLROnPlateau</a:t>
            </a:r>
            <a:endParaRPr lang="en-US" sz="1600" dirty="0"/>
          </a:p>
        </p:txBody>
      </p:sp>
      <p:sp>
        <p:nvSpPr>
          <p:cNvPr id="41" name="Text 32"/>
          <p:cNvSpPr txBox="1"/>
          <p:nvPr/>
        </p:nvSpPr>
        <p:spPr>
          <a:xfrm>
            <a:off x="4526280" y="5440680"/>
            <a:ext cx="3108960" cy="502920"/>
          </a:xfrm>
          <a:prstGeom prst="rect">
            <a:avLst/>
          </a:prstGeom>
          <a:noFill/>
          <a:ln/>
        </p:spPr>
        <p:txBody>
          <a:bodyPr wrap="square" lIns="0" tIns="0" rIns="0" bIns="0" rtlCol="0" anchor="t"/>
          <a:lstStyle/>
          <a:p>
            <a:pPr indent="0" marL="0">
              <a:buNone/>
            </a:pPr>
            <a:r>
              <a:rPr lang="en-US" sz="1300" dirty="0">
                <a:solidFill>
                  <a:schemeClr val="bg2"/>
                </a:solidFill>
              </a:rPr>
              <a:t>factor 0.5, patience 2, min LR 1e-6</a:t>
            </a:r>
            <a:endParaRPr lang="en-US" sz="1300" dirty="0"/>
          </a:p>
        </p:txBody>
      </p:sp>
      <p:sp>
        <p:nvSpPr>
          <p:cNvPr id="42" name="Callback ModelCheckpoint"/>
          <p:cNvSpPr/>
          <p:nvPr/>
        </p:nvSpPr>
        <p:spPr>
          <a:xfrm>
            <a:off x="8046720" y="4937760"/>
            <a:ext cx="3566160" cy="1097280"/>
          </a:xfrm>
          <a:prstGeom prst="roundRect">
            <a:avLst>
              <a:gd name="adj" fmla="val 10000"/>
            </a:avLst>
          </a:prstGeom>
          <a:solidFill>
            <a:schemeClr val="tx2"/>
          </a:solidFill>
          <a:ln w="9525">
            <a:solidFill>
              <a:srgbClr val="24396B"/>
            </a:solidFill>
            <a:prstDash val="solid"/>
          </a:ln>
        </p:spPr>
      </p:sp>
      <p:sp>
        <p:nvSpPr>
          <p:cNvPr id="43" name="Text 34"/>
          <p:cNvSpPr txBox="1"/>
          <p:nvPr/>
        </p:nvSpPr>
        <p:spPr>
          <a:xfrm>
            <a:off x="8275320" y="5029200"/>
            <a:ext cx="3108960" cy="365760"/>
          </a:xfrm>
          <a:prstGeom prst="rect">
            <a:avLst/>
          </a:prstGeom>
          <a:noFill/>
          <a:ln/>
        </p:spPr>
        <p:txBody>
          <a:bodyPr wrap="square" lIns="0" tIns="0" rIns="0" bIns="0" rtlCol="0" anchor="t"/>
          <a:lstStyle/>
          <a:p>
            <a:pPr indent="0" marL="0">
              <a:buNone/>
            </a:pPr>
            <a:r>
              <a:rPr lang="en-US" sz="1600" b="1" dirty="0">
                <a:solidFill>
                  <a:schemeClr val="bg1"/>
                </a:solidFill>
              </a:rPr>
              <a:t>ModelCheckpoint</a:t>
            </a:r>
            <a:endParaRPr lang="en-US" sz="1600" dirty="0"/>
          </a:p>
        </p:txBody>
      </p:sp>
      <p:sp>
        <p:nvSpPr>
          <p:cNvPr id="44" name="Text 35"/>
          <p:cNvSpPr txBox="1"/>
          <p:nvPr/>
        </p:nvSpPr>
        <p:spPr>
          <a:xfrm>
            <a:off x="8275320" y="5440680"/>
            <a:ext cx="3108960" cy="502920"/>
          </a:xfrm>
          <a:prstGeom prst="rect">
            <a:avLst/>
          </a:prstGeom>
          <a:noFill/>
          <a:ln/>
        </p:spPr>
        <p:txBody>
          <a:bodyPr wrap="square" lIns="0" tIns="0" rIns="0" bIns="0" rtlCol="0" anchor="t"/>
          <a:lstStyle/>
          <a:p>
            <a:pPr indent="0" marL="0">
              <a:buNone/>
            </a:pPr>
            <a:r>
              <a:rPr lang="en-US" sz="1300" dirty="0">
                <a:solidFill>
                  <a:schemeClr val="bg2"/>
                </a:solidFill>
              </a:rPr>
              <a:t>save best model: best_laliga_cnn.keras</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Training Performance</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RESULTS</a:t>
            </a:r>
            <a:endParaRPr lang="en-US" sz="1200" dirty="0"/>
          </a:p>
        </p:txBody>
      </p:sp>
      <p:sp>
        <p:nvSpPr>
          <p:cNvPr id="5" name="Accuracy chart card"/>
          <p:cNvSpPr/>
          <p:nvPr/>
        </p:nvSpPr>
        <p:spPr>
          <a:xfrm>
            <a:off x="548640" y="1508760"/>
            <a:ext cx="5486400" cy="3611880"/>
          </a:xfrm>
          <a:prstGeom prst="roundRect">
            <a:avLst>
              <a:gd name="adj" fmla="val 3038"/>
            </a:avLst>
          </a:prstGeom>
          <a:solidFill>
            <a:schemeClr val="tx2"/>
          </a:solidFill>
          <a:ln w="9525">
            <a:solidFill>
              <a:srgbClr val="24396B"/>
            </a:solidFill>
            <a:prstDash val="solid"/>
          </a:ln>
        </p:spPr>
      </p:sp>
      <p:graphicFrame>
        <p:nvGraphicFramePr>
          <p:cNvPr id="6" name="Chart 0" descr=""/>
          <p:cNvGraphicFramePr/>
          <p:nvPr/>
        </p:nvGraphicFramePr>
        <p:xfrm>
          <a:off x="640080" y="1554480"/>
          <a:ext cx="5303520" cy="3520440"/>
        </p:xfrm>
        <a:graphic xmlns:a="http://schemas.openxmlformats.org/drawingml/2006/main">
          <a:graphicData uri="http://schemas.openxmlformats.org/drawingml/2006/chart">
            <c:chart xmlns:c="http://schemas.openxmlformats.org/drawingml/2006/chart" r:id="rId1"/>
          </a:graphicData>
        </a:graphic>
      </p:graphicFrame>
      <p:sp>
        <p:nvSpPr>
          <p:cNvPr id="7" name="Loss chart card"/>
          <p:cNvSpPr/>
          <p:nvPr/>
        </p:nvSpPr>
        <p:spPr>
          <a:xfrm>
            <a:off x="6172200" y="1508760"/>
            <a:ext cx="5486400" cy="3611880"/>
          </a:xfrm>
          <a:prstGeom prst="roundRect">
            <a:avLst>
              <a:gd name="adj" fmla="val 3038"/>
            </a:avLst>
          </a:prstGeom>
          <a:solidFill>
            <a:schemeClr val="tx2"/>
          </a:solidFill>
          <a:ln w="9525">
            <a:solidFill>
              <a:srgbClr val="24396B"/>
            </a:solidFill>
            <a:prstDash val="solid"/>
          </a:ln>
        </p:spPr>
      </p:sp>
      <p:graphicFrame>
        <p:nvGraphicFramePr>
          <p:cNvPr id="8" name="Chart 1" descr=""/>
          <p:cNvGraphicFramePr/>
          <p:nvPr/>
        </p:nvGraphicFramePr>
        <p:xfrm>
          <a:off x="6263640" y="1554480"/>
          <a:ext cx="5303520" cy="3520440"/>
        </p:xfrm>
        <a:graphic xmlns:a="http://schemas.openxmlformats.org/drawingml/2006/main">
          <a:graphicData uri="http://schemas.openxmlformats.org/drawingml/2006/chart">
            <c:chart xmlns:c="http://schemas.openxmlformats.org/drawingml/2006/chart" r:id="rId2"/>
          </a:graphicData>
        </a:graphic>
      </p:graphicFrame>
      <p:sp>
        <p:nvSpPr>
          <p:cNvPr id="9" name="Text 4"/>
          <p:cNvSpPr txBox="1"/>
          <p:nvPr/>
        </p:nvSpPr>
        <p:spPr>
          <a:xfrm>
            <a:off x="548640" y="5303520"/>
            <a:ext cx="1280160"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Epoch 6</a:t>
            </a:r>
            <a:endParaRPr lang="en-US" sz="2000" dirty="0"/>
          </a:p>
        </p:txBody>
      </p:sp>
      <p:sp>
        <p:nvSpPr>
          <p:cNvPr id="10" name="Text 5"/>
          <p:cNvSpPr txBox="1"/>
          <p:nvPr/>
        </p:nvSpPr>
        <p:spPr>
          <a:xfrm>
            <a:off x="1920240" y="5303520"/>
            <a:ext cx="2240280" cy="502920"/>
          </a:xfrm>
          <a:prstGeom prst="rect">
            <a:avLst/>
          </a:prstGeom>
          <a:noFill/>
          <a:ln/>
        </p:spPr>
        <p:txBody>
          <a:bodyPr wrap="square" lIns="0" tIns="0" rIns="0" bIns="0" rtlCol="0" anchor="ctr"/>
          <a:lstStyle/>
          <a:p>
            <a:pPr indent="0" marL="0">
              <a:buNone/>
            </a:pPr>
            <a:r>
              <a:rPr lang="en-US" sz="1300" dirty="0">
                <a:solidFill>
                  <a:schemeClr val="bg2"/>
                </a:solidFill>
              </a:rPr>
              <a:t>validation accuracy reaches 100%</a:t>
            </a:r>
            <a:endParaRPr lang="en-US" sz="1300" dirty="0"/>
          </a:p>
        </p:txBody>
      </p:sp>
      <p:sp>
        <p:nvSpPr>
          <p:cNvPr id="11" name="Text 6"/>
          <p:cNvSpPr txBox="1"/>
          <p:nvPr/>
        </p:nvSpPr>
        <p:spPr>
          <a:xfrm>
            <a:off x="4297680" y="5303520"/>
            <a:ext cx="1280160"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Epoch 27</a:t>
            </a:r>
            <a:endParaRPr lang="en-US" sz="2000" dirty="0"/>
          </a:p>
        </p:txBody>
      </p:sp>
      <p:sp>
        <p:nvSpPr>
          <p:cNvPr id="12" name="Text 7"/>
          <p:cNvSpPr txBox="1"/>
          <p:nvPr/>
        </p:nvSpPr>
        <p:spPr>
          <a:xfrm>
            <a:off x="5669280" y="5303520"/>
            <a:ext cx="2240280" cy="502920"/>
          </a:xfrm>
          <a:prstGeom prst="rect">
            <a:avLst/>
          </a:prstGeom>
          <a:noFill/>
          <a:ln/>
        </p:spPr>
        <p:txBody>
          <a:bodyPr wrap="square" lIns="0" tIns="0" rIns="0" bIns="0" rtlCol="0" anchor="ctr"/>
          <a:lstStyle/>
          <a:p>
            <a:pPr indent="0" marL="0">
              <a:buNone/>
            </a:pPr>
            <a:r>
              <a:rPr lang="en-US" sz="1300" dirty="0">
                <a:solidFill>
                  <a:schemeClr val="bg2"/>
                </a:solidFill>
              </a:rPr>
              <a:t>best validation loss (1.2e-4), weights restored</a:t>
            </a:r>
            <a:endParaRPr lang="en-US" sz="1300" dirty="0"/>
          </a:p>
        </p:txBody>
      </p:sp>
      <p:sp>
        <p:nvSpPr>
          <p:cNvPr id="13" name="Text 8"/>
          <p:cNvSpPr txBox="1"/>
          <p:nvPr/>
        </p:nvSpPr>
        <p:spPr>
          <a:xfrm>
            <a:off x="8046720" y="5303520"/>
            <a:ext cx="1280160" cy="50292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30 / 30</a:t>
            </a:r>
            <a:endParaRPr lang="en-US" sz="2000" dirty="0"/>
          </a:p>
        </p:txBody>
      </p:sp>
      <p:sp>
        <p:nvSpPr>
          <p:cNvPr id="14" name="Text 9"/>
          <p:cNvSpPr txBox="1"/>
          <p:nvPr/>
        </p:nvSpPr>
        <p:spPr>
          <a:xfrm>
            <a:off x="9418320" y="5303520"/>
            <a:ext cx="2240280" cy="502920"/>
          </a:xfrm>
          <a:prstGeom prst="rect">
            <a:avLst/>
          </a:prstGeom>
          <a:noFill/>
          <a:ln/>
        </p:spPr>
        <p:txBody>
          <a:bodyPr wrap="square" lIns="0" tIns="0" rIns="0" bIns="0" rtlCol="0" anchor="ctr"/>
          <a:lstStyle/>
          <a:p>
            <a:pPr indent="0" marL="0">
              <a:buNone/>
            </a:pPr>
            <a:r>
              <a:rPr lang="en-US" sz="1300" dirty="0">
                <a:solidFill>
                  <a:schemeClr val="bg2"/>
                </a:solidFill>
              </a:rPr>
              <a:t>epochs completed; early stopping did not trigger</a:t>
            </a:r>
            <a:endParaRPr lang="en-US" sz="1300" dirty="0"/>
          </a:p>
        </p:txBody>
      </p:sp>
      <p:sp>
        <p:nvSpPr>
          <p:cNvPr id="15" name="Text 10"/>
          <p:cNvSpPr txBox="1"/>
          <p:nvPr/>
        </p:nvSpPr>
        <p:spPr>
          <a:xfrm>
            <a:off x="548640" y="5897880"/>
            <a:ext cx="11064240" cy="365760"/>
          </a:xfrm>
          <a:prstGeom prst="rect">
            <a:avLst/>
          </a:prstGeom>
          <a:noFill/>
          <a:ln/>
        </p:spPr>
        <p:txBody>
          <a:bodyPr wrap="square" lIns="0" tIns="0" rIns="0" bIns="0" rtlCol="0" anchor="t"/>
          <a:lstStyle/>
          <a:p>
            <a:pPr indent="0" marL="0">
              <a:buNone/>
            </a:pPr>
            <a:r>
              <a:rPr lang="en-US" sz="1300" dirty="0">
                <a:solidFill>
                  <a:schemeClr val="bg2"/>
                </a:solidFill>
              </a:rPr>
              <a:t>Training metrics are averaged during each epoch with augmentation and dropout active; validation is measured without them.</a:t>
            </a:r>
            <a:endParaRPr lang="en-US" sz="13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Evaluation Results</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RESULTS</a:t>
            </a:r>
            <a:endParaRPr lang="en-US" sz="1200" dirty="0"/>
          </a:p>
        </p:txBody>
      </p:sp>
      <p:sp>
        <p:nvSpPr>
          <p:cNvPr id="5" name="Metric 1"/>
          <p:cNvSpPr/>
          <p:nvPr/>
        </p:nvSpPr>
        <p:spPr>
          <a:xfrm>
            <a:off x="548640" y="1554480"/>
            <a:ext cx="3840480" cy="978408"/>
          </a:xfrm>
          <a:prstGeom prst="roundRect">
            <a:avLst>
              <a:gd name="adj" fmla="val 11215"/>
            </a:avLst>
          </a:prstGeom>
          <a:solidFill>
            <a:schemeClr val="tx2"/>
          </a:solidFill>
          <a:ln w="9525">
            <a:solidFill>
              <a:srgbClr val="24396B"/>
            </a:solidFill>
            <a:prstDash val="solid"/>
          </a:ln>
        </p:spPr>
      </p:sp>
      <p:sp>
        <p:nvSpPr>
          <p:cNvPr id="6" name="Text 3"/>
          <p:cNvSpPr txBox="1"/>
          <p:nvPr/>
        </p:nvSpPr>
        <p:spPr>
          <a:xfrm>
            <a:off x="731520" y="1600200"/>
            <a:ext cx="1828800" cy="886968"/>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100%</a:t>
            </a:r>
            <a:endParaRPr lang="en-US" sz="3200" dirty="0"/>
          </a:p>
        </p:txBody>
      </p:sp>
      <p:sp>
        <p:nvSpPr>
          <p:cNvPr id="7" name="Text 4"/>
          <p:cNvSpPr txBox="1"/>
          <p:nvPr/>
        </p:nvSpPr>
        <p:spPr>
          <a:xfrm>
            <a:off x="2606040" y="1645920"/>
            <a:ext cx="1691640" cy="795528"/>
          </a:xfrm>
          <a:prstGeom prst="rect">
            <a:avLst/>
          </a:prstGeom>
          <a:noFill/>
          <a:ln/>
        </p:spPr>
        <p:txBody>
          <a:bodyPr wrap="square" lIns="0" tIns="0" rIns="0" bIns="0" rtlCol="0" anchor="ctr"/>
          <a:lstStyle/>
          <a:p>
            <a:pPr indent="0" marL="0">
              <a:buNone/>
            </a:pPr>
            <a:r>
              <a:rPr lang="en-US" sz="1300" dirty="0">
                <a:solidFill>
                  <a:schemeClr val="bg2"/>
                </a:solidFill>
              </a:rPr>
              <a:t>test accuracy (300 / 300)</a:t>
            </a:r>
            <a:endParaRPr lang="en-US" sz="1300" dirty="0"/>
          </a:p>
        </p:txBody>
      </p:sp>
      <p:sp>
        <p:nvSpPr>
          <p:cNvPr id="8" name="Metric 2"/>
          <p:cNvSpPr/>
          <p:nvPr/>
        </p:nvSpPr>
        <p:spPr>
          <a:xfrm>
            <a:off x="548640" y="2670048"/>
            <a:ext cx="3840480" cy="978408"/>
          </a:xfrm>
          <a:prstGeom prst="roundRect">
            <a:avLst>
              <a:gd name="adj" fmla="val 11215"/>
            </a:avLst>
          </a:prstGeom>
          <a:solidFill>
            <a:schemeClr val="tx2"/>
          </a:solidFill>
          <a:ln w="9525">
            <a:solidFill>
              <a:srgbClr val="24396B"/>
            </a:solidFill>
            <a:prstDash val="solid"/>
          </a:ln>
        </p:spPr>
      </p:sp>
      <p:sp>
        <p:nvSpPr>
          <p:cNvPr id="9" name="Text 6"/>
          <p:cNvSpPr txBox="1"/>
          <p:nvPr/>
        </p:nvSpPr>
        <p:spPr>
          <a:xfrm>
            <a:off x="731520" y="2715768"/>
            <a:ext cx="1828800" cy="886968"/>
          </a:xfrm>
          <a:prstGeom prst="rect">
            <a:avLst/>
          </a:prstGeom>
          <a:noFill/>
          <a:ln/>
        </p:spPr>
        <p:txBody>
          <a:bodyPr wrap="square" lIns="0" tIns="0" rIns="0" bIns="0" rtlCol="0" anchor="ctr"/>
          <a:lstStyle/>
          <a:p>
            <a:pPr indent="0" marL="0">
              <a:buNone/>
            </a:pPr>
            <a:r>
              <a:rPr lang="en-US" sz="2600" b="1" dirty="0">
                <a:solidFill>
                  <a:schemeClr val="accent1"/>
                </a:solidFill>
                <a:latin typeface="Cambria" pitchFamily="34" charset="0"/>
                <a:ea typeface="Cambria" pitchFamily="34" charset="-122"/>
                <a:cs typeface="Cambria" pitchFamily="34" charset="-120"/>
              </a:rPr>
              <a:t>0.000125</a:t>
            </a:r>
            <a:endParaRPr lang="en-US" sz="2600" dirty="0"/>
          </a:p>
        </p:txBody>
      </p:sp>
      <p:sp>
        <p:nvSpPr>
          <p:cNvPr id="10" name="Text 7"/>
          <p:cNvSpPr txBox="1"/>
          <p:nvPr/>
        </p:nvSpPr>
        <p:spPr>
          <a:xfrm>
            <a:off x="2606040" y="2761488"/>
            <a:ext cx="1691640" cy="795528"/>
          </a:xfrm>
          <a:prstGeom prst="rect">
            <a:avLst/>
          </a:prstGeom>
          <a:noFill/>
          <a:ln/>
        </p:spPr>
        <p:txBody>
          <a:bodyPr wrap="square" lIns="0" tIns="0" rIns="0" bIns="0" rtlCol="0" anchor="ctr"/>
          <a:lstStyle/>
          <a:p>
            <a:pPr indent="0" marL="0">
              <a:buNone/>
            </a:pPr>
            <a:r>
              <a:rPr lang="en-US" sz="1300" dirty="0">
                <a:solidFill>
                  <a:schemeClr val="bg2"/>
                </a:solidFill>
              </a:rPr>
              <a:t>test loss</a:t>
            </a:r>
            <a:endParaRPr lang="en-US" sz="1300" dirty="0"/>
          </a:p>
        </p:txBody>
      </p:sp>
      <p:sp>
        <p:nvSpPr>
          <p:cNvPr id="11" name="Metric 3"/>
          <p:cNvSpPr/>
          <p:nvPr/>
        </p:nvSpPr>
        <p:spPr>
          <a:xfrm>
            <a:off x="548640" y="3785616"/>
            <a:ext cx="3840480" cy="978408"/>
          </a:xfrm>
          <a:prstGeom prst="roundRect">
            <a:avLst>
              <a:gd name="adj" fmla="val 11215"/>
            </a:avLst>
          </a:prstGeom>
          <a:solidFill>
            <a:schemeClr val="tx2"/>
          </a:solidFill>
          <a:ln w="9525">
            <a:solidFill>
              <a:srgbClr val="24396B"/>
            </a:solidFill>
            <a:prstDash val="solid"/>
          </a:ln>
        </p:spPr>
      </p:sp>
      <p:sp>
        <p:nvSpPr>
          <p:cNvPr id="12" name="Text 9"/>
          <p:cNvSpPr txBox="1"/>
          <p:nvPr/>
        </p:nvSpPr>
        <p:spPr>
          <a:xfrm>
            <a:off x="731520" y="3831336"/>
            <a:ext cx="1828800" cy="886968"/>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1.0000</a:t>
            </a:r>
            <a:endParaRPr lang="en-US" sz="3200" dirty="0"/>
          </a:p>
        </p:txBody>
      </p:sp>
      <p:sp>
        <p:nvSpPr>
          <p:cNvPr id="13" name="Text 10"/>
          <p:cNvSpPr txBox="1"/>
          <p:nvPr/>
        </p:nvSpPr>
        <p:spPr>
          <a:xfrm>
            <a:off x="2606040" y="3877056"/>
            <a:ext cx="1691640" cy="795528"/>
          </a:xfrm>
          <a:prstGeom prst="rect">
            <a:avLst/>
          </a:prstGeom>
          <a:noFill/>
          <a:ln/>
        </p:spPr>
        <p:txBody>
          <a:bodyPr wrap="square" lIns="0" tIns="0" rIns="0" bIns="0" rtlCol="0" anchor="ctr"/>
          <a:lstStyle/>
          <a:p>
            <a:pPr indent="0" marL="0">
              <a:buNone/>
            </a:pPr>
            <a:r>
              <a:rPr lang="en-US" sz="1300" dirty="0">
                <a:solidFill>
                  <a:schemeClr val="bg2"/>
                </a:solidFill>
              </a:rPr>
              <a:t>macro precision, recall, F1</a:t>
            </a:r>
            <a:endParaRPr lang="en-US" sz="1300" dirty="0"/>
          </a:p>
        </p:txBody>
      </p:sp>
      <p:sp>
        <p:nvSpPr>
          <p:cNvPr id="14" name="Metric 4"/>
          <p:cNvSpPr/>
          <p:nvPr/>
        </p:nvSpPr>
        <p:spPr>
          <a:xfrm>
            <a:off x="548640" y="4901184"/>
            <a:ext cx="3840480" cy="978408"/>
          </a:xfrm>
          <a:prstGeom prst="roundRect">
            <a:avLst>
              <a:gd name="adj" fmla="val 11215"/>
            </a:avLst>
          </a:prstGeom>
          <a:solidFill>
            <a:schemeClr val="tx2"/>
          </a:solidFill>
          <a:ln w="9525">
            <a:solidFill>
              <a:srgbClr val="24396B"/>
            </a:solidFill>
            <a:prstDash val="solid"/>
          </a:ln>
        </p:spPr>
      </p:sp>
      <p:sp>
        <p:nvSpPr>
          <p:cNvPr id="15" name="Text 12"/>
          <p:cNvSpPr txBox="1"/>
          <p:nvPr/>
        </p:nvSpPr>
        <p:spPr>
          <a:xfrm>
            <a:off x="731520" y="4946904"/>
            <a:ext cx="1828800" cy="886968"/>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15</a:t>
            </a:r>
            <a:endParaRPr lang="en-US" sz="3200" dirty="0"/>
          </a:p>
        </p:txBody>
      </p:sp>
      <p:sp>
        <p:nvSpPr>
          <p:cNvPr id="16" name="Text 13"/>
          <p:cNvSpPr txBox="1"/>
          <p:nvPr/>
        </p:nvSpPr>
        <p:spPr>
          <a:xfrm>
            <a:off x="2606040" y="4992624"/>
            <a:ext cx="1691640" cy="795528"/>
          </a:xfrm>
          <a:prstGeom prst="rect">
            <a:avLst/>
          </a:prstGeom>
          <a:noFill/>
          <a:ln/>
        </p:spPr>
        <p:txBody>
          <a:bodyPr wrap="square" lIns="0" tIns="0" rIns="0" bIns="0" rtlCol="0" anchor="ctr"/>
          <a:lstStyle/>
          <a:p>
            <a:pPr indent="0" marL="0">
              <a:buNone/>
            </a:pPr>
            <a:r>
              <a:rPr lang="en-US" sz="1300" dirty="0">
                <a:solidFill>
                  <a:schemeClr val="bg2"/>
                </a:solidFill>
              </a:rPr>
              <a:t>test images per class</a:t>
            </a:r>
            <a:endParaRPr lang="en-US" sz="1300" dirty="0"/>
          </a:p>
        </p:txBody>
      </p:sp>
      <p:sp>
        <p:nvSpPr>
          <p:cNvPr id="17" name="Text 14"/>
          <p:cNvSpPr txBox="1"/>
          <p:nvPr/>
        </p:nvSpPr>
        <p:spPr>
          <a:xfrm>
            <a:off x="548640" y="5989320"/>
            <a:ext cx="4023360" cy="365760"/>
          </a:xfrm>
          <a:prstGeom prst="rect">
            <a:avLst/>
          </a:prstGeom>
          <a:noFill/>
          <a:ln/>
        </p:spPr>
        <p:txBody>
          <a:bodyPr wrap="square" lIns="0" tIns="0" rIns="0" bIns="0" rtlCol="0" anchor="t"/>
          <a:lstStyle/>
          <a:p>
            <a:pPr indent="0" marL="0">
              <a:buNone/>
            </a:pPr>
            <a:r>
              <a:rPr lang="en-US" sz="1100" dirty="0">
                <a:solidFill>
                  <a:schemeClr val="bg2"/>
                </a:solidFill>
              </a:rPr>
              <a:t>Precision = correct share of predicted-X; recall = share of true-X found; F1 = their harmonic mean.</a:t>
            </a:r>
            <a:endParaRPr lang="en-US" sz="1100" dirty="0"/>
          </a:p>
        </p:txBody>
      </p:sp>
      <p:sp>
        <p:nvSpPr>
          <p:cNvPr id="18" name="Confusion matrix card"/>
          <p:cNvSpPr/>
          <p:nvPr/>
        </p:nvSpPr>
        <p:spPr>
          <a:xfrm>
            <a:off x="4663440" y="1554480"/>
            <a:ext cx="6995160" cy="4754880"/>
          </a:xfrm>
          <a:prstGeom prst="roundRect">
            <a:avLst>
              <a:gd name="adj" fmla="val 2308"/>
            </a:avLst>
          </a:prstGeom>
          <a:solidFill>
            <a:schemeClr val="tx2"/>
          </a:solidFill>
          <a:ln w="9525">
            <a:solidFill>
              <a:srgbClr val="24396B"/>
            </a:solidFill>
            <a:prstDash val="solid"/>
          </a:ln>
        </p:spPr>
      </p:sp>
      <p:pic>
        <p:nvPicPr>
          <p:cNvPr id="19" name="Image 0" descr="/home/claude/deck/c12_0.png">    </p:cNvPr>
          <p:cNvPicPr>
            <a:picLocks noChangeAspect="1"/>
          </p:cNvPicPr>
          <p:nvPr/>
        </p:nvPicPr>
        <p:blipFill>
          <a:blip r:embed="rId1"/>
          <a:stretch>
            <a:fillRect/>
          </a:stretch>
        </p:blipFill>
        <p:spPr>
          <a:xfrm>
            <a:off x="5753319" y="1645920"/>
            <a:ext cx="4815401" cy="4572000"/>
          </a:xfrm>
          <a:prstGeom prst="rect">
            <a:avLst/>
          </a:prstGeom>
        </p:spPr>
      </p:pic>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Model Predictions on Uploaded Images</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RESULTS</a:t>
            </a:r>
            <a:endParaRPr lang="en-US" sz="1200" dirty="0"/>
          </a:p>
        </p:txBody>
      </p:sp>
      <p:sp>
        <p:nvSpPr>
          <p:cNvPr id="5" name="Prediction card Leganes"/>
          <p:cNvSpPr/>
          <p:nvPr/>
        </p:nvSpPr>
        <p:spPr>
          <a:xfrm>
            <a:off x="548640" y="1508760"/>
            <a:ext cx="2651760" cy="3291840"/>
          </a:xfrm>
          <a:prstGeom prst="roundRect">
            <a:avLst>
              <a:gd name="adj" fmla="val 4138"/>
            </a:avLst>
          </a:prstGeom>
          <a:solidFill>
            <a:schemeClr val="tx2"/>
          </a:solidFill>
          <a:ln w="9525">
            <a:solidFill>
              <a:srgbClr val="24396B"/>
            </a:solidFill>
            <a:prstDash val="solid"/>
          </a:ln>
        </p:spPr>
      </p:sp>
      <p:pic>
        <p:nvPicPr>
          <p:cNvPr id="6" name="Image 0" descr="/home/claude/deck/c14_0.png">    </p:cNvPr>
          <p:cNvPicPr>
            <a:picLocks noChangeAspect="1"/>
          </p:cNvPicPr>
          <p:nvPr/>
        </p:nvPicPr>
        <p:blipFill>
          <a:blip r:embed="rId1"/>
          <a:stretch>
            <a:fillRect/>
          </a:stretch>
        </p:blipFill>
        <p:spPr>
          <a:xfrm>
            <a:off x="880197" y="1600200"/>
            <a:ext cx="1988645" cy="1920240"/>
          </a:xfrm>
          <a:prstGeom prst="rect">
            <a:avLst/>
          </a:prstGeom>
        </p:spPr>
      </p:pic>
      <p:sp>
        <p:nvSpPr>
          <p:cNvPr id="7" name="Text 3"/>
          <p:cNvSpPr txBox="1"/>
          <p:nvPr/>
        </p:nvSpPr>
        <p:spPr>
          <a:xfrm>
            <a:off x="685800" y="3611880"/>
            <a:ext cx="2377440" cy="365760"/>
          </a:xfrm>
          <a:prstGeom prst="rect">
            <a:avLst/>
          </a:prstGeom>
          <a:noFill/>
          <a:ln/>
        </p:spPr>
        <p:txBody>
          <a:bodyPr wrap="square" lIns="0" tIns="0" rIns="0" bIns="0" rtlCol="0" anchor="t"/>
          <a:lstStyle/>
          <a:p>
            <a:pPr algn="ctr" indent="0" marL="0">
              <a:buNone/>
            </a:pPr>
            <a:r>
              <a:rPr lang="en-US" sz="1800" b="1" dirty="0">
                <a:solidFill>
                  <a:schemeClr val="bg1"/>
                </a:solidFill>
              </a:rPr>
              <a:t>Leganes</a:t>
            </a:r>
            <a:endParaRPr lang="en-US" sz="1800" dirty="0"/>
          </a:p>
        </p:txBody>
      </p:sp>
      <p:sp>
        <p:nvSpPr>
          <p:cNvPr id="8" name="Text 4"/>
          <p:cNvSpPr txBox="1"/>
          <p:nvPr/>
        </p:nvSpPr>
        <p:spPr>
          <a:xfrm>
            <a:off x="685800" y="3977640"/>
            <a:ext cx="2377440" cy="320040"/>
          </a:xfrm>
          <a:prstGeom prst="rect">
            <a:avLst/>
          </a:prstGeom>
          <a:noFill/>
          <a:ln/>
        </p:spPr>
        <p:txBody>
          <a:bodyPr wrap="square" lIns="0" tIns="0" rIns="0" bIns="0" rtlCol="0" anchor="t"/>
          <a:lstStyle/>
          <a:p>
            <a:pPr algn="ctr" indent="0" marL="0">
              <a:buNone/>
            </a:pPr>
            <a:r>
              <a:rPr lang="en-US" sz="1400" dirty="0">
                <a:solidFill>
                  <a:schemeClr val="accent1"/>
                </a:solidFill>
              </a:rPr>
              <a:t>softmax 100.00%</a:t>
            </a:r>
            <a:endParaRPr lang="en-US" sz="1400" dirty="0"/>
          </a:p>
        </p:txBody>
      </p:sp>
      <p:sp>
        <p:nvSpPr>
          <p:cNvPr id="9" name="Text 5"/>
          <p:cNvSpPr txBox="1"/>
          <p:nvPr/>
        </p:nvSpPr>
        <p:spPr>
          <a:xfrm>
            <a:off x="685800" y="4343400"/>
            <a:ext cx="2377440" cy="274320"/>
          </a:xfrm>
          <a:prstGeom prst="rect">
            <a:avLst/>
          </a:prstGeom>
          <a:noFill/>
          <a:ln/>
        </p:spPr>
        <p:txBody>
          <a:bodyPr wrap="square" lIns="0" tIns="0" rIns="0" bIns="0" rtlCol="0" anchor="t"/>
          <a:lstStyle/>
          <a:p>
            <a:pPr algn="ctr" indent="0" marL="0">
              <a:buNone/>
            </a:pPr>
            <a:r>
              <a:rPr lang="en-US" sz="1200" dirty="0">
                <a:solidFill>
                  <a:schemeClr val="bg2"/>
                </a:solidFill>
              </a:rPr>
              <a:t>uploaded as img12.jpg</a:t>
            </a:r>
            <a:endParaRPr lang="en-US" sz="1200" dirty="0"/>
          </a:p>
        </p:txBody>
      </p:sp>
      <p:sp>
        <p:nvSpPr>
          <p:cNvPr id="10" name="Prediction card Athletic Bilbao"/>
          <p:cNvSpPr/>
          <p:nvPr/>
        </p:nvSpPr>
        <p:spPr>
          <a:xfrm>
            <a:off x="3364992" y="1508760"/>
            <a:ext cx="2651760" cy="3291840"/>
          </a:xfrm>
          <a:prstGeom prst="roundRect">
            <a:avLst>
              <a:gd name="adj" fmla="val 4138"/>
            </a:avLst>
          </a:prstGeom>
          <a:solidFill>
            <a:schemeClr val="tx2"/>
          </a:solidFill>
          <a:ln w="9525">
            <a:solidFill>
              <a:srgbClr val="24396B"/>
            </a:solidFill>
            <a:prstDash val="solid"/>
          </a:ln>
        </p:spPr>
      </p:sp>
      <p:pic>
        <p:nvPicPr>
          <p:cNvPr id="11" name="Image 1" descr="/home/claude/deck/c16_0.png">    </p:cNvPr>
          <p:cNvPicPr>
            <a:picLocks noChangeAspect="1"/>
          </p:cNvPicPr>
          <p:nvPr/>
        </p:nvPicPr>
        <p:blipFill>
          <a:blip r:embed="rId2"/>
          <a:stretch>
            <a:fillRect/>
          </a:stretch>
        </p:blipFill>
        <p:spPr>
          <a:xfrm>
            <a:off x="3883652" y="1600200"/>
            <a:ext cx="1614441" cy="1920240"/>
          </a:xfrm>
          <a:prstGeom prst="rect">
            <a:avLst/>
          </a:prstGeom>
        </p:spPr>
      </p:pic>
      <p:sp>
        <p:nvSpPr>
          <p:cNvPr id="12" name="Text 7"/>
          <p:cNvSpPr txBox="1"/>
          <p:nvPr/>
        </p:nvSpPr>
        <p:spPr>
          <a:xfrm>
            <a:off x="3502152" y="3611880"/>
            <a:ext cx="2377440" cy="365760"/>
          </a:xfrm>
          <a:prstGeom prst="rect">
            <a:avLst/>
          </a:prstGeom>
          <a:noFill/>
          <a:ln/>
        </p:spPr>
        <p:txBody>
          <a:bodyPr wrap="square" lIns="0" tIns="0" rIns="0" bIns="0" rtlCol="0" anchor="t"/>
          <a:lstStyle/>
          <a:p>
            <a:pPr algn="ctr" indent="0" marL="0">
              <a:buNone/>
            </a:pPr>
            <a:r>
              <a:rPr lang="en-US" sz="1800" b="1" dirty="0">
                <a:solidFill>
                  <a:schemeClr val="bg1"/>
                </a:solidFill>
              </a:rPr>
              <a:t>Athletic Bilbao</a:t>
            </a:r>
            <a:endParaRPr lang="en-US" sz="1800" dirty="0"/>
          </a:p>
        </p:txBody>
      </p:sp>
      <p:sp>
        <p:nvSpPr>
          <p:cNvPr id="13" name="Text 8"/>
          <p:cNvSpPr txBox="1"/>
          <p:nvPr/>
        </p:nvSpPr>
        <p:spPr>
          <a:xfrm>
            <a:off x="3502152" y="3977640"/>
            <a:ext cx="2377440" cy="320040"/>
          </a:xfrm>
          <a:prstGeom prst="rect">
            <a:avLst/>
          </a:prstGeom>
          <a:noFill/>
          <a:ln/>
        </p:spPr>
        <p:txBody>
          <a:bodyPr wrap="square" lIns="0" tIns="0" rIns="0" bIns="0" rtlCol="0" anchor="t"/>
          <a:lstStyle/>
          <a:p>
            <a:pPr algn="ctr" indent="0" marL="0">
              <a:buNone/>
            </a:pPr>
            <a:r>
              <a:rPr lang="en-US" sz="1400" dirty="0">
                <a:solidFill>
                  <a:schemeClr val="accent1"/>
                </a:solidFill>
              </a:rPr>
              <a:t>softmax 100.00%</a:t>
            </a:r>
            <a:endParaRPr lang="en-US" sz="1400" dirty="0"/>
          </a:p>
        </p:txBody>
      </p:sp>
      <p:sp>
        <p:nvSpPr>
          <p:cNvPr id="14" name="Text 9"/>
          <p:cNvSpPr txBox="1"/>
          <p:nvPr/>
        </p:nvSpPr>
        <p:spPr>
          <a:xfrm>
            <a:off x="3502152" y="4343400"/>
            <a:ext cx="2377440" cy="274320"/>
          </a:xfrm>
          <a:prstGeom prst="rect">
            <a:avLst/>
          </a:prstGeom>
          <a:noFill/>
          <a:ln/>
        </p:spPr>
        <p:txBody>
          <a:bodyPr wrap="square" lIns="0" tIns="0" rIns="0" bIns="0" rtlCol="0" anchor="t"/>
          <a:lstStyle/>
          <a:p>
            <a:pPr algn="ctr" indent="0" marL="0">
              <a:buNone/>
            </a:pPr>
            <a:r>
              <a:rPr lang="en-US" sz="1200" dirty="0">
                <a:solidFill>
                  <a:schemeClr val="bg2"/>
                </a:solidFill>
              </a:rPr>
              <a:t>uploaded as img1.jpg</a:t>
            </a:r>
            <a:endParaRPr lang="en-US" sz="1200" dirty="0"/>
          </a:p>
        </p:txBody>
      </p:sp>
      <p:sp>
        <p:nvSpPr>
          <p:cNvPr id="15" name="Prediction card Barcelona"/>
          <p:cNvSpPr/>
          <p:nvPr/>
        </p:nvSpPr>
        <p:spPr>
          <a:xfrm>
            <a:off x="6181344" y="1508760"/>
            <a:ext cx="2651760" cy="3291840"/>
          </a:xfrm>
          <a:prstGeom prst="roundRect">
            <a:avLst>
              <a:gd name="adj" fmla="val 4138"/>
            </a:avLst>
          </a:prstGeom>
          <a:solidFill>
            <a:schemeClr val="tx2"/>
          </a:solidFill>
          <a:ln w="9525">
            <a:solidFill>
              <a:srgbClr val="24396B"/>
            </a:solidFill>
            <a:prstDash val="solid"/>
          </a:ln>
        </p:spPr>
      </p:sp>
      <p:pic>
        <p:nvPicPr>
          <p:cNvPr id="16" name="Image 2" descr="/home/claude/deck/c18_0.png">    </p:cNvPr>
          <p:cNvPicPr>
            <a:picLocks noChangeAspect="1"/>
          </p:cNvPicPr>
          <p:nvPr/>
        </p:nvPicPr>
        <p:blipFill>
          <a:blip r:embed="rId3"/>
          <a:stretch>
            <a:fillRect/>
          </a:stretch>
        </p:blipFill>
        <p:spPr>
          <a:xfrm>
            <a:off x="6610063" y="1600200"/>
            <a:ext cx="1794323" cy="1920240"/>
          </a:xfrm>
          <a:prstGeom prst="rect">
            <a:avLst/>
          </a:prstGeom>
        </p:spPr>
      </p:pic>
      <p:sp>
        <p:nvSpPr>
          <p:cNvPr id="17" name="Text 11"/>
          <p:cNvSpPr txBox="1"/>
          <p:nvPr/>
        </p:nvSpPr>
        <p:spPr>
          <a:xfrm>
            <a:off x="6318504" y="3611880"/>
            <a:ext cx="2377440" cy="365760"/>
          </a:xfrm>
          <a:prstGeom prst="rect">
            <a:avLst/>
          </a:prstGeom>
          <a:noFill/>
          <a:ln/>
        </p:spPr>
        <p:txBody>
          <a:bodyPr wrap="square" lIns="0" tIns="0" rIns="0" bIns="0" rtlCol="0" anchor="t"/>
          <a:lstStyle/>
          <a:p>
            <a:pPr algn="ctr" indent="0" marL="0">
              <a:buNone/>
            </a:pPr>
            <a:r>
              <a:rPr lang="en-US" sz="1800" b="1" dirty="0">
                <a:solidFill>
                  <a:schemeClr val="bg1"/>
                </a:solidFill>
              </a:rPr>
              <a:t>Barcelona</a:t>
            </a:r>
            <a:endParaRPr lang="en-US" sz="1800" dirty="0"/>
          </a:p>
        </p:txBody>
      </p:sp>
      <p:sp>
        <p:nvSpPr>
          <p:cNvPr id="18" name="Text 12"/>
          <p:cNvSpPr txBox="1"/>
          <p:nvPr/>
        </p:nvSpPr>
        <p:spPr>
          <a:xfrm>
            <a:off x="6318504" y="3977640"/>
            <a:ext cx="2377440" cy="320040"/>
          </a:xfrm>
          <a:prstGeom prst="rect">
            <a:avLst/>
          </a:prstGeom>
          <a:noFill/>
          <a:ln/>
        </p:spPr>
        <p:txBody>
          <a:bodyPr wrap="square" lIns="0" tIns="0" rIns="0" bIns="0" rtlCol="0" anchor="t"/>
          <a:lstStyle/>
          <a:p>
            <a:pPr algn="ctr" indent="0" marL="0">
              <a:buNone/>
            </a:pPr>
            <a:r>
              <a:rPr lang="en-US" sz="1400" dirty="0">
                <a:solidFill>
                  <a:schemeClr val="accent1"/>
                </a:solidFill>
              </a:rPr>
              <a:t>softmax 99.98%</a:t>
            </a:r>
            <a:endParaRPr lang="en-US" sz="1400" dirty="0"/>
          </a:p>
        </p:txBody>
      </p:sp>
      <p:sp>
        <p:nvSpPr>
          <p:cNvPr id="19" name="Text 13"/>
          <p:cNvSpPr txBox="1"/>
          <p:nvPr/>
        </p:nvSpPr>
        <p:spPr>
          <a:xfrm>
            <a:off x="6318504" y="4343400"/>
            <a:ext cx="2377440" cy="274320"/>
          </a:xfrm>
          <a:prstGeom prst="rect">
            <a:avLst/>
          </a:prstGeom>
          <a:noFill/>
          <a:ln/>
        </p:spPr>
        <p:txBody>
          <a:bodyPr wrap="square" lIns="0" tIns="0" rIns="0" bIns="0" rtlCol="0" anchor="t"/>
          <a:lstStyle/>
          <a:p>
            <a:pPr algn="ctr" indent="0" marL="0">
              <a:buNone/>
            </a:pPr>
            <a:r>
              <a:rPr lang="en-US" sz="1200" dirty="0">
                <a:solidFill>
                  <a:schemeClr val="bg2"/>
                </a:solidFill>
              </a:rPr>
              <a:t>uploaded as img13.jpg</a:t>
            </a:r>
            <a:endParaRPr lang="en-US" sz="1200" dirty="0"/>
          </a:p>
        </p:txBody>
      </p:sp>
      <p:sp>
        <p:nvSpPr>
          <p:cNvPr id="20" name="Prediction card Real Madrid"/>
          <p:cNvSpPr/>
          <p:nvPr/>
        </p:nvSpPr>
        <p:spPr>
          <a:xfrm>
            <a:off x="8997696" y="1508760"/>
            <a:ext cx="2651760" cy="3291840"/>
          </a:xfrm>
          <a:prstGeom prst="roundRect">
            <a:avLst>
              <a:gd name="adj" fmla="val 4138"/>
            </a:avLst>
          </a:prstGeom>
          <a:solidFill>
            <a:schemeClr val="tx2"/>
          </a:solidFill>
          <a:ln w="9525">
            <a:solidFill>
              <a:srgbClr val="24396B"/>
            </a:solidFill>
            <a:prstDash val="solid"/>
          </a:ln>
        </p:spPr>
      </p:sp>
      <p:pic>
        <p:nvPicPr>
          <p:cNvPr id="21" name="Image 3" descr="/home/claude/deck/c20_0.png">    </p:cNvPr>
          <p:cNvPicPr>
            <a:picLocks noChangeAspect="1"/>
          </p:cNvPicPr>
          <p:nvPr/>
        </p:nvPicPr>
        <p:blipFill>
          <a:blip r:embed="rId4"/>
          <a:stretch>
            <a:fillRect/>
          </a:stretch>
        </p:blipFill>
        <p:spPr>
          <a:xfrm>
            <a:off x="9633279" y="1600200"/>
            <a:ext cx="1380594" cy="1920240"/>
          </a:xfrm>
          <a:prstGeom prst="rect">
            <a:avLst/>
          </a:prstGeom>
        </p:spPr>
      </p:pic>
      <p:sp>
        <p:nvSpPr>
          <p:cNvPr id="22" name="Text 15"/>
          <p:cNvSpPr txBox="1"/>
          <p:nvPr/>
        </p:nvSpPr>
        <p:spPr>
          <a:xfrm>
            <a:off x="9134856" y="3611880"/>
            <a:ext cx="2377440" cy="365760"/>
          </a:xfrm>
          <a:prstGeom prst="rect">
            <a:avLst/>
          </a:prstGeom>
          <a:noFill/>
          <a:ln/>
        </p:spPr>
        <p:txBody>
          <a:bodyPr wrap="square" lIns="0" tIns="0" rIns="0" bIns="0" rtlCol="0" anchor="t"/>
          <a:lstStyle/>
          <a:p>
            <a:pPr algn="ctr" indent="0" marL="0">
              <a:buNone/>
            </a:pPr>
            <a:r>
              <a:rPr lang="en-US" sz="1800" b="1" dirty="0">
                <a:solidFill>
                  <a:schemeClr val="bg1"/>
                </a:solidFill>
              </a:rPr>
              <a:t>Real Madrid</a:t>
            </a:r>
            <a:endParaRPr lang="en-US" sz="1800" dirty="0"/>
          </a:p>
        </p:txBody>
      </p:sp>
      <p:sp>
        <p:nvSpPr>
          <p:cNvPr id="23" name="Text 16"/>
          <p:cNvSpPr txBox="1"/>
          <p:nvPr/>
        </p:nvSpPr>
        <p:spPr>
          <a:xfrm>
            <a:off x="9134856" y="3977640"/>
            <a:ext cx="2377440" cy="320040"/>
          </a:xfrm>
          <a:prstGeom prst="rect">
            <a:avLst/>
          </a:prstGeom>
          <a:noFill/>
          <a:ln/>
        </p:spPr>
        <p:txBody>
          <a:bodyPr wrap="square" lIns="0" tIns="0" rIns="0" bIns="0" rtlCol="0" anchor="t"/>
          <a:lstStyle/>
          <a:p>
            <a:pPr algn="ctr" indent="0" marL="0">
              <a:buNone/>
            </a:pPr>
            <a:r>
              <a:rPr lang="en-US" sz="1400" dirty="0">
                <a:solidFill>
                  <a:schemeClr val="accent1"/>
                </a:solidFill>
              </a:rPr>
              <a:t>softmax 100.00%</a:t>
            </a:r>
            <a:endParaRPr lang="en-US" sz="1400" dirty="0"/>
          </a:p>
        </p:txBody>
      </p:sp>
      <p:sp>
        <p:nvSpPr>
          <p:cNvPr id="24" name="Text 17"/>
          <p:cNvSpPr txBox="1"/>
          <p:nvPr/>
        </p:nvSpPr>
        <p:spPr>
          <a:xfrm>
            <a:off x="9134856" y="4343400"/>
            <a:ext cx="2377440" cy="274320"/>
          </a:xfrm>
          <a:prstGeom prst="rect">
            <a:avLst/>
          </a:prstGeom>
          <a:noFill/>
          <a:ln/>
        </p:spPr>
        <p:txBody>
          <a:bodyPr wrap="square" lIns="0" tIns="0" rIns="0" bIns="0" rtlCol="0" anchor="t"/>
          <a:lstStyle/>
          <a:p>
            <a:pPr algn="ctr" indent="0" marL="0">
              <a:buNone/>
            </a:pPr>
            <a:r>
              <a:rPr lang="en-US" sz="1200" dirty="0">
                <a:solidFill>
                  <a:schemeClr val="bg2"/>
                </a:solidFill>
              </a:rPr>
              <a:t>uploaded as img18.jpg</a:t>
            </a:r>
            <a:endParaRPr lang="en-US" sz="1200" dirty="0"/>
          </a:p>
        </p:txBody>
      </p:sp>
      <p:sp>
        <p:nvSpPr>
          <p:cNvPr id="25" name="Caveat card"/>
          <p:cNvSpPr/>
          <p:nvPr/>
        </p:nvSpPr>
        <p:spPr>
          <a:xfrm>
            <a:off x="548640" y="5029200"/>
            <a:ext cx="11109960" cy="1234440"/>
          </a:xfrm>
          <a:prstGeom prst="roundRect">
            <a:avLst>
              <a:gd name="adj" fmla="val 8889"/>
            </a:avLst>
          </a:prstGeom>
          <a:solidFill>
            <a:schemeClr val="tx2"/>
          </a:solidFill>
          <a:ln w="9525">
            <a:solidFill>
              <a:srgbClr val="24396B"/>
            </a:solidFill>
            <a:prstDash val="solid"/>
          </a:ln>
        </p:spPr>
      </p:sp>
      <p:sp>
        <p:nvSpPr>
          <p:cNvPr id="26" name="Shape 19"/>
          <p:cNvSpPr/>
          <p:nvPr/>
        </p:nvSpPr>
        <p:spPr>
          <a:xfrm>
            <a:off x="777240" y="5376672"/>
            <a:ext cx="502920" cy="502920"/>
          </a:xfrm>
          <a:prstGeom prst="ellipse">
            <a:avLst/>
          </a:prstGeom>
          <a:solidFill>
            <a:schemeClr val="accent3"/>
          </a:solidFill>
          <a:ln/>
        </p:spPr>
      </p:sp>
      <p:pic>
        <p:nvPicPr>
          <p:cNvPr id="27" name="Image 4" descr="preencoded.png">    </p:cNvPr>
          <p:cNvPicPr>
            <a:picLocks noChangeAspect="1"/>
          </p:cNvPicPr>
          <p:nvPr/>
        </p:nvPicPr>
        <p:blipFill>
          <a:blip r:embed="rId5"/>
          <a:stretch>
            <a:fillRect/>
          </a:stretch>
        </p:blipFill>
        <p:spPr>
          <a:xfrm>
            <a:off x="887882" y="5487314"/>
            <a:ext cx="281635" cy="281635"/>
          </a:xfrm>
          <a:prstGeom prst="rect">
            <a:avLst/>
          </a:prstGeom>
        </p:spPr>
      </p:pic>
      <p:sp>
        <p:nvSpPr>
          <p:cNvPr id="28" name="Text 20"/>
          <p:cNvSpPr txBox="1"/>
          <p:nvPr/>
        </p:nvSpPr>
        <p:spPr>
          <a:xfrm>
            <a:off x="1508760" y="5120640"/>
            <a:ext cx="9966960" cy="1051560"/>
          </a:xfrm>
          <a:prstGeom prst="rect">
            <a:avLst/>
          </a:prstGeom>
          <a:noFill/>
          <a:ln/>
        </p:spPr>
        <p:txBody>
          <a:bodyPr wrap="square" lIns="0" tIns="0" rIns="0" bIns="0" rtlCol="0" anchor="ctr"/>
          <a:lstStyle/>
          <a:p>
            <a:pPr indent="0" marL="0">
              <a:buNone/>
            </a:pPr>
            <a:r>
              <a:rPr lang="en-US" sz="1500" b="1" dirty="0">
                <a:solidFill>
                  <a:schemeClr val="accent3"/>
                </a:solidFill>
              </a:rPr>
              <a:t>How to read these: </a:t>
            </a:r>
            <a:pPr indent="0" marL="0">
              <a:buNone/>
            </a:pPr>
            <a:r>
              <a:rPr lang="en-US" sz="1500" dirty="0">
                <a:solidFill>
                  <a:schemeClr val="bg1"/>
                </a:solidFill>
              </a:rPr>
              <a:t>each prediction matches the crest shown, but the notebook stores no labels or file origin. The files use the dataset's naming and visual style, so treat this as a demo, not independent external testing.</a:t>
            </a:r>
            <a:endParaRPr lang="en-US" sz="15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Challenges and Limitations</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CRITICAL VIEW</a:t>
            </a:r>
            <a:endParaRPr lang="en-US" sz="1200" dirty="0"/>
          </a:p>
        </p:txBody>
      </p:sp>
      <p:sp>
        <p:nvSpPr>
          <p:cNvPr id="5" name="Confirmed card"/>
          <p:cNvSpPr/>
          <p:nvPr/>
        </p:nvSpPr>
        <p:spPr>
          <a:xfrm>
            <a:off x="548640" y="1554480"/>
            <a:ext cx="5440680" cy="4663440"/>
          </a:xfrm>
          <a:prstGeom prst="roundRect">
            <a:avLst>
              <a:gd name="adj" fmla="val 2353"/>
            </a:avLst>
          </a:prstGeom>
          <a:solidFill>
            <a:schemeClr val="tx2"/>
          </a:solidFill>
          <a:ln w="9525">
            <a:solidFill>
              <a:srgbClr val="24396B"/>
            </a:solidFill>
            <a:prstDash val="solid"/>
          </a:ln>
        </p:spPr>
      </p:sp>
      <p:sp>
        <p:nvSpPr>
          <p:cNvPr id="6" name="Text 3"/>
          <p:cNvSpPr txBox="1"/>
          <p:nvPr/>
        </p:nvSpPr>
        <p:spPr>
          <a:xfrm>
            <a:off x="822960" y="1737360"/>
            <a:ext cx="4937760" cy="411480"/>
          </a:xfrm>
          <a:prstGeom prst="rect">
            <a:avLst/>
          </a:prstGeom>
          <a:noFill/>
          <a:ln/>
        </p:spPr>
        <p:txBody>
          <a:bodyPr wrap="square" lIns="0" tIns="0" rIns="0" bIns="0" rtlCol="0" anchor="t"/>
          <a:lstStyle/>
          <a:p>
            <a:pPr indent="0" marL="0">
              <a:buNone/>
            </a:pPr>
            <a:r>
              <a:rPr lang="en-US" sz="2000" b="1" dirty="0">
                <a:solidFill>
                  <a:schemeClr val="accent1"/>
                </a:solidFill>
              </a:rPr>
              <a:t>Confirmed in the notebook</a:t>
            </a:r>
            <a:endParaRPr lang="en-US" sz="2000" dirty="0"/>
          </a:p>
        </p:txBody>
      </p:sp>
      <p:sp>
        <p:nvSpPr>
          <p:cNvPr id="7" name="Text 4"/>
          <p:cNvSpPr txBox="1"/>
          <p:nvPr/>
        </p:nvSpPr>
        <p:spPr>
          <a:xfrm>
            <a:off x="822960" y="2286000"/>
            <a:ext cx="4937760" cy="38404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1 exact duplicate found and removed before splitting</a:t>
            </a:r>
            <a:endParaRPr lang="en-US" sz="1700" dirty="0"/>
          </a:p>
          <a:p>
            <a:pPr marL="342900" indent="-342900">
              <a:spcAft>
                <a:spcPts val="800"/>
              </a:spcAft>
              <a:buSzPct val="100000"/>
              <a:buChar char="•"/>
            </a:pPr>
            <a:r>
              <a:rPr lang="en-US" sz="1700" dirty="0">
                <a:solidFill>
                  <a:schemeClr val="bg1"/>
                </a:solidFill>
              </a:rPr>
              <a:t>Only exact (hash) duplicates were checked, not near-duplicates</a:t>
            </a:r>
            <a:endParaRPr lang="en-US" sz="1700" dirty="0"/>
          </a:p>
          <a:p>
            <a:pPr marL="342900" indent="-342900">
              <a:spcAft>
                <a:spcPts val="800"/>
              </a:spcAft>
              <a:buSzPct val="100000"/>
              <a:buChar char="•"/>
            </a:pPr>
            <a:r>
              <a:rPr lang="en-US" sz="1700" dirty="0">
                <a:solidFill>
                  <a:schemeClr val="bg1"/>
                </a:solidFill>
              </a:rPr>
              <a:t>Validation accuracy 100% from epoch 6; test accuracy 100%</a:t>
            </a:r>
            <a:endParaRPr lang="en-US" sz="1700" dirty="0"/>
          </a:p>
          <a:p>
            <a:pPr marL="342900" indent="-342900">
              <a:spcAft>
                <a:spcPts val="800"/>
              </a:spcAft>
              <a:buSzPct val="100000"/>
              <a:buChar char="•"/>
            </a:pPr>
            <a:r>
              <a:rPr lang="en-US" sz="1700" dirty="0">
                <a:solidFill>
                  <a:schemeClr val="bg1"/>
                </a:solidFill>
              </a:rPr>
              <a:t>Test set is small: 300 images, 15 per class</a:t>
            </a:r>
            <a:endParaRPr lang="en-US" sz="1700" dirty="0"/>
          </a:p>
          <a:p>
            <a:pPr marL="342900" indent="-342900">
              <a:spcAft>
                <a:spcPts val="800"/>
              </a:spcAft>
              <a:buSzPct val="100000"/>
              <a:buChar char="•"/>
            </a:pPr>
            <a:r>
              <a:rPr lang="en-US" sz="1700" dirty="0">
                <a:solidFill>
                  <a:schemeClr val="bg1"/>
                </a:solidFill>
              </a:rPr>
              <a:t>Uploaded-image tests lack stored labels and origin</a:t>
            </a:r>
            <a:endParaRPr lang="en-US" sz="1700" dirty="0"/>
          </a:p>
          <a:p>
            <a:pPr marL="342900" indent="-342900">
              <a:spcAft>
                <a:spcPts val="800"/>
              </a:spcAft>
              <a:buSzPct val="100000"/>
              <a:buChar char="•"/>
            </a:pPr>
            <a:r>
              <a:rPr lang="en-US" sz="1700" dirty="0">
                <a:solidFill>
                  <a:schemeClr val="bg1"/>
                </a:solidFill>
              </a:rPr>
              <a:t>No deployment or application is included</a:t>
            </a:r>
            <a:endParaRPr lang="en-US" sz="1700" dirty="0"/>
          </a:p>
        </p:txBody>
      </p:sp>
      <p:sp>
        <p:nvSpPr>
          <p:cNvPr id="8" name="Concerns card"/>
          <p:cNvSpPr/>
          <p:nvPr/>
        </p:nvSpPr>
        <p:spPr>
          <a:xfrm>
            <a:off x="6217920" y="1554480"/>
            <a:ext cx="5440680" cy="4663440"/>
          </a:xfrm>
          <a:prstGeom prst="roundRect">
            <a:avLst>
              <a:gd name="adj" fmla="val 2353"/>
            </a:avLst>
          </a:prstGeom>
          <a:solidFill>
            <a:schemeClr val="tx2"/>
          </a:solidFill>
          <a:ln w="9525">
            <a:solidFill>
              <a:srgbClr val="24396B"/>
            </a:solidFill>
            <a:prstDash val="solid"/>
          </a:ln>
        </p:spPr>
      </p:sp>
      <p:sp>
        <p:nvSpPr>
          <p:cNvPr id="9" name="Text 6"/>
          <p:cNvSpPr txBox="1"/>
          <p:nvPr/>
        </p:nvSpPr>
        <p:spPr>
          <a:xfrm>
            <a:off x="6492240" y="1737360"/>
            <a:ext cx="4937760" cy="411480"/>
          </a:xfrm>
          <a:prstGeom prst="rect">
            <a:avLst/>
          </a:prstGeom>
          <a:noFill/>
          <a:ln/>
        </p:spPr>
        <p:txBody>
          <a:bodyPr wrap="square" lIns="0" tIns="0" rIns="0" bIns="0" rtlCol="0" anchor="t"/>
          <a:lstStyle/>
          <a:p>
            <a:pPr indent="0" marL="0">
              <a:buNone/>
            </a:pPr>
            <a:r>
              <a:rPr lang="en-US" sz="2000" b="1" dirty="0">
                <a:solidFill>
                  <a:schemeClr val="accent3"/>
                </a:solidFill>
              </a:rPr>
              <a:t>Potential concerns (not measured)</a:t>
            </a:r>
            <a:endParaRPr lang="en-US" sz="2000" dirty="0"/>
          </a:p>
        </p:txBody>
      </p:sp>
      <p:sp>
        <p:nvSpPr>
          <p:cNvPr id="10" name="Text 7"/>
          <p:cNvSpPr txBox="1"/>
          <p:nvPr/>
        </p:nvSpPr>
        <p:spPr>
          <a:xfrm>
            <a:off x="6492240" y="2286000"/>
            <a:ext cx="4937760" cy="38404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Samples show rotated, black-filled, inverted variants, so near-identical images may sit in both train and test</a:t>
            </a:r>
            <a:endParaRPr lang="en-US" sz="1700" dirty="0"/>
          </a:p>
          <a:p>
            <a:pPr marL="342900" indent="-342900">
              <a:spcAft>
                <a:spcPts val="800"/>
              </a:spcAft>
              <a:buSzPct val="100000"/>
              <a:buChar char="•"/>
            </a:pPr>
            <a:r>
              <a:rPr lang="en-US" sz="1700" dirty="0">
                <a:solidFill>
                  <a:schemeClr val="bg1"/>
                </a:solidFill>
              </a:rPr>
              <a:t>If so, 100% may overstate performance on genuinely new images</a:t>
            </a:r>
            <a:endParaRPr lang="en-US" sz="1700" dirty="0"/>
          </a:p>
          <a:p>
            <a:pPr marL="342900" indent="-342900">
              <a:spcAft>
                <a:spcPts val="800"/>
              </a:spcAft>
              <a:buSzPct val="100000"/>
              <a:buChar char="•"/>
            </a:pPr>
            <a:r>
              <a:rPr lang="en-US" sz="1700" dirty="0">
                <a:solidFill>
                  <a:schemeClr val="bg1"/>
                </a:solidFill>
              </a:rPr>
              <a:t>Crests with other backgrounds, resolutions or designs are untested</a:t>
            </a:r>
            <a:endParaRPr lang="en-US" sz="1700" dirty="0"/>
          </a:p>
          <a:p>
            <a:pPr marL="342900" indent="-342900">
              <a:spcAft>
                <a:spcPts val="800"/>
              </a:spcAft>
              <a:buSzPct val="100000"/>
              <a:buChar char="•"/>
            </a:pPr>
            <a:r>
              <a:rPr lang="en-US" sz="1700" dirty="0">
                <a:solidFill>
                  <a:schemeClr val="bg1"/>
                </a:solidFill>
              </a:rPr>
              <a:t>Softmax scores of ~100% are not a guarantee of correctness</a:t>
            </a:r>
            <a:endParaRPr lang="en-US" sz="17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Future Improvements</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PROPOSED WORK</a:t>
            </a:r>
            <a:endParaRPr lang="en-US" sz="1200" dirty="0"/>
          </a:p>
        </p:txBody>
      </p:sp>
      <p:sp>
        <p:nvSpPr>
          <p:cNvPr id="5" name="Future 1"/>
          <p:cNvSpPr/>
          <p:nvPr/>
        </p:nvSpPr>
        <p:spPr>
          <a:xfrm>
            <a:off x="548640" y="1508760"/>
            <a:ext cx="11109960" cy="841248"/>
          </a:xfrm>
          <a:prstGeom prst="roundRect">
            <a:avLst>
              <a:gd name="adj" fmla="val 13043"/>
            </a:avLst>
          </a:prstGeom>
          <a:solidFill>
            <a:schemeClr val="tx2"/>
          </a:solidFill>
          <a:ln w="9525">
            <a:solidFill>
              <a:srgbClr val="24396B"/>
            </a:solidFill>
            <a:prstDash val="solid"/>
          </a:ln>
        </p:spPr>
      </p:sp>
      <p:sp>
        <p:nvSpPr>
          <p:cNvPr id="6" name="Shape 3"/>
          <p:cNvSpPr/>
          <p:nvPr/>
        </p:nvSpPr>
        <p:spPr>
          <a:xfrm>
            <a:off x="777240" y="1645920"/>
            <a:ext cx="566928" cy="566928"/>
          </a:xfrm>
          <a:prstGeom prst="ellipse">
            <a:avLst/>
          </a:prstGeom>
          <a:solidFill>
            <a:schemeClr val="accent1"/>
          </a:solidFill>
          <a:ln/>
        </p:spPr>
      </p:sp>
      <p:pic>
        <p:nvPicPr>
          <p:cNvPr id="7" name="Image 0" descr="preencoded.png">    </p:cNvPr>
          <p:cNvPicPr>
            <a:picLocks noChangeAspect="1"/>
          </p:cNvPicPr>
          <p:nvPr/>
        </p:nvPicPr>
        <p:blipFill>
          <a:blip r:embed="rId1"/>
          <a:stretch>
            <a:fillRect/>
          </a:stretch>
        </p:blipFill>
        <p:spPr>
          <a:xfrm>
            <a:off x="901964" y="1770644"/>
            <a:ext cx="317480" cy="317480"/>
          </a:xfrm>
          <a:prstGeom prst="rect">
            <a:avLst/>
          </a:prstGeom>
        </p:spPr>
      </p:pic>
      <p:sp>
        <p:nvSpPr>
          <p:cNvPr id="8" name="Text 4"/>
          <p:cNvSpPr txBox="1"/>
          <p:nvPr/>
        </p:nvSpPr>
        <p:spPr>
          <a:xfrm>
            <a:off x="1645920" y="1600200"/>
            <a:ext cx="3840480" cy="658368"/>
          </a:xfrm>
          <a:prstGeom prst="rect">
            <a:avLst/>
          </a:prstGeom>
          <a:noFill/>
          <a:ln/>
        </p:spPr>
        <p:txBody>
          <a:bodyPr wrap="square" lIns="0" tIns="0" rIns="0" bIns="0" rtlCol="0" anchor="ctr"/>
          <a:lstStyle/>
          <a:p>
            <a:pPr indent="0" marL="0">
              <a:buNone/>
            </a:pPr>
            <a:r>
              <a:rPr lang="en-US" sz="1800" b="1" dirty="0">
                <a:solidFill>
                  <a:schemeClr val="bg1"/>
                </a:solidFill>
              </a:rPr>
              <a:t>Test on diverse external images</a:t>
            </a:r>
            <a:endParaRPr lang="en-US" sz="1800" dirty="0"/>
          </a:p>
        </p:txBody>
      </p:sp>
      <p:sp>
        <p:nvSpPr>
          <p:cNvPr id="9" name="Text 5"/>
          <p:cNvSpPr txBox="1"/>
          <p:nvPr/>
        </p:nvSpPr>
        <p:spPr>
          <a:xfrm>
            <a:off x="5577840" y="1600200"/>
            <a:ext cx="5852160" cy="658368"/>
          </a:xfrm>
          <a:prstGeom prst="rect">
            <a:avLst/>
          </a:prstGeom>
          <a:noFill/>
          <a:ln/>
        </p:spPr>
        <p:txBody>
          <a:bodyPr wrap="square" lIns="0" tIns="0" rIns="0" bIns="0" rtlCol="0" anchor="ctr"/>
          <a:lstStyle/>
          <a:p>
            <a:pPr indent="0" marL="0">
              <a:buNone/>
            </a:pPr>
            <a:r>
              <a:rPr lang="en-US" sz="1400" dirty="0">
                <a:solidFill>
                  <a:schemeClr val="bg2"/>
                </a:solidFill>
              </a:rPr>
              <a:t>Crests from other sources, with varied backgrounds, resolutions and designs</a:t>
            </a:r>
            <a:endParaRPr lang="en-US" sz="1400" dirty="0"/>
          </a:p>
        </p:txBody>
      </p:sp>
      <p:sp>
        <p:nvSpPr>
          <p:cNvPr id="10" name="Future 2"/>
          <p:cNvSpPr/>
          <p:nvPr/>
        </p:nvSpPr>
        <p:spPr>
          <a:xfrm>
            <a:off x="548640" y="2459736"/>
            <a:ext cx="11109960" cy="841248"/>
          </a:xfrm>
          <a:prstGeom prst="roundRect">
            <a:avLst>
              <a:gd name="adj" fmla="val 13043"/>
            </a:avLst>
          </a:prstGeom>
          <a:solidFill>
            <a:schemeClr val="tx2"/>
          </a:solidFill>
          <a:ln w="9525">
            <a:solidFill>
              <a:srgbClr val="24396B"/>
            </a:solidFill>
            <a:prstDash val="solid"/>
          </a:ln>
        </p:spPr>
      </p:sp>
      <p:sp>
        <p:nvSpPr>
          <p:cNvPr id="11" name="Shape 7"/>
          <p:cNvSpPr/>
          <p:nvPr/>
        </p:nvSpPr>
        <p:spPr>
          <a:xfrm>
            <a:off x="777240" y="2596896"/>
            <a:ext cx="566928" cy="566928"/>
          </a:xfrm>
          <a:prstGeom prst="ellipse">
            <a:avLst/>
          </a:prstGeom>
          <a:solidFill>
            <a:schemeClr val="accent2"/>
          </a:solidFill>
          <a:ln/>
        </p:spPr>
      </p:sp>
      <p:pic>
        <p:nvPicPr>
          <p:cNvPr id="12" name="Image 1" descr="preencoded.png">    </p:cNvPr>
          <p:cNvPicPr>
            <a:picLocks noChangeAspect="1"/>
          </p:cNvPicPr>
          <p:nvPr/>
        </p:nvPicPr>
        <p:blipFill>
          <a:blip r:embed="rId2"/>
          <a:stretch>
            <a:fillRect/>
          </a:stretch>
        </p:blipFill>
        <p:spPr>
          <a:xfrm>
            <a:off x="901964" y="2721620"/>
            <a:ext cx="317480" cy="317480"/>
          </a:xfrm>
          <a:prstGeom prst="rect">
            <a:avLst/>
          </a:prstGeom>
        </p:spPr>
      </p:pic>
      <p:sp>
        <p:nvSpPr>
          <p:cNvPr id="13" name="Text 8"/>
          <p:cNvSpPr txBox="1"/>
          <p:nvPr/>
        </p:nvSpPr>
        <p:spPr>
          <a:xfrm>
            <a:off x="1645920" y="2551176"/>
            <a:ext cx="3840480" cy="658368"/>
          </a:xfrm>
          <a:prstGeom prst="rect">
            <a:avLst/>
          </a:prstGeom>
          <a:noFill/>
          <a:ln/>
        </p:spPr>
        <p:txBody>
          <a:bodyPr wrap="square" lIns="0" tIns="0" rIns="0" bIns="0" rtlCol="0" anchor="ctr"/>
          <a:lstStyle/>
          <a:p>
            <a:pPr indent="0" marL="0">
              <a:buNone/>
            </a:pPr>
            <a:r>
              <a:rPr lang="en-US" sz="1800" b="1" dirty="0">
                <a:solidFill>
                  <a:schemeClr val="bg1"/>
                </a:solidFill>
              </a:rPr>
              <a:t>Investigate near-duplicates</a:t>
            </a:r>
            <a:endParaRPr lang="en-US" sz="1800" dirty="0"/>
          </a:p>
        </p:txBody>
      </p:sp>
      <p:sp>
        <p:nvSpPr>
          <p:cNvPr id="14" name="Text 9"/>
          <p:cNvSpPr txBox="1"/>
          <p:nvPr/>
        </p:nvSpPr>
        <p:spPr>
          <a:xfrm>
            <a:off x="5577840" y="2551176"/>
            <a:ext cx="5852160" cy="658368"/>
          </a:xfrm>
          <a:prstGeom prst="rect">
            <a:avLst/>
          </a:prstGeom>
          <a:noFill/>
          <a:ln/>
        </p:spPr>
        <p:txBody>
          <a:bodyPr wrap="square" lIns="0" tIns="0" rIns="0" bIns="0" rtlCol="0" anchor="ctr"/>
          <a:lstStyle/>
          <a:p>
            <a:pPr indent="0" marL="0">
              <a:buNone/>
            </a:pPr>
            <a:r>
              <a:rPr lang="en-US" sz="1400" dirty="0">
                <a:solidFill>
                  <a:schemeClr val="bg2"/>
                </a:solidFill>
              </a:rPr>
              <a:t>Find perceptually similar images across train, validation and test</a:t>
            </a:r>
            <a:endParaRPr lang="en-US" sz="1400" dirty="0"/>
          </a:p>
        </p:txBody>
      </p:sp>
      <p:sp>
        <p:nvSpPr>
          <p:cNvPr id="15" name="Future 3"/>
          <p:cNvSpPr/>
          <p:nvPr/>
        </p:nvSpPr>
        <p:spPr>
          <a:xfrm>
            <a:off x="548640" y="3410712"/>
            <a:ext cx="11109960" cy="841248"/>
          </a:xfrm>
          <a:prstGeom prst="roundRect">
            <a:avLst>
              <a:gd name="adj" fmla="val 13043"/>
            </a:avLst>
          </a:prstGeom>
          <a:solidFill>
            <a:schemeClr val="tx2"/>
          </a:solidFill>
          <a:ln w="9525">
            <a:solidFill>
              <a:srgbClr val="24396B"/>
            </a:solidFill>
            <a:prstDash val="solid"/>
          </a:ln>
        </p:spPr>
      </p:sp>
      <p:sp>
        <p:nvSpPr>
          <p:cNvPr id="16" name="Shape 11"/>
          <p:cNvSpPr/>
          <p:nvPr/>
        </p:nvSpPr>
        <p:spPr>
          <a:xfrm>
            <a:off x="777240" y="3547872"/>
            <a:ext cx="566928" cy="566928"/>
          </a:xfrm>
          <a:prstGeom prst="ellipse">
            <a:avLst/>
          </a:prstGeom>
          <a:solidFill>
            <a:schemeClr val="accent1"/>
          </a:solidFill>
          <a:ln/>
        </p:spPr>
      </p:sp>
      <p:pic>
        <p:nvPicPr>
          <p:cNvPr id="17" name="Image 2" descr="preencoded.png">    </p:cNvPr>
          <p:cNvPicPr>
            <a:picLocks noChangeAspect="1"/>
          </p:cNvPicPr>
          <p:nvPr/>
        </p:nvPicPr>
        <p:blipFill>
          <a:blip r:embed="rId3"/>
          <a:stretch>
            <a:fillRect/>
          </a:stretch>
        </p:blipFill>
        <p:spPr>
          <a:xfrm>
            <a:off x="901964" y="3672596"/>
            <a:ext cx="317480" cy="317480"/>
          </a:xfrm>
          <a:prstGeom prst="rect">
            <a:avLst/>
          </a:prstGeom>
        </p:spPr>
      </p:pic>
      <p:sp>
        <p:nvSpPr>
          <p:cNvPr id="18" name="Text 12"/>
          <p:cNvSpPr txBox="1"/>
          <p:nvPr/>
        </p:nvSpPr>
        <p:spPr>
          <a:xfrm>
            <a:off x="1645920" y="3502152"/>
            <a:ext cx="3840480" cy="658368"/>
          </a:xfrm>
          <a:prstGeom prst="rect">
            <a:avLst/>
          </a:prstGeom>
          <a:noFill/>
          <a:ln/>
        </p:spPr>
        <p:txBody>
          <a:bodyPr wrap="square" lIns="0" tIns="0" rIns="0" bIns="0" rtlCol="0" anchor="ctr"/>
          <a:lstStyle/>
          <a:p>
            <a:pPr indent="0" marL="0">
              <a:buNone/>
            </a:pPr>
            <a:r>
              <a:rPr lang="en-US" sz="1800" b="1" dirty="0">
                <a:solidFill>
                  <a:schemeClr val="bg1"/>
                </a:solidFill>
              </a:rPr>
              <a:t>Grouped dataset splitting</a:t>
            </a:r>
            <a:endParaRPr lang="en-US" sz="1800" dirty="0"/>
          </a:p>
        </p:txBody>
      </p:sp>
      <p:sp>
        <p:nvSpPr>
          <p:cNvPr id="19" name="Text 13"/>
          <p:cNvSpPr txBox="1"/>
          <p:nvPr/>
        </p:nvSpPr>
        <p:spPr>
          <a:xfrm>
            <a:off x="5577840" y="3502152"/>
            <a:ext cx="5852160" cy="658368"/>
          </a:xfrm>
          <a:prstGeom prst="rect">
            <a:avLst/>
          </a:prstGeom>
          <a:noFill/>
          <a:ln/>
        </p:spPr>
        <p:txBody>
          <a:bodyPr wrap="square" lIns="0" tIns="0" rIns="0" bIns="0" rtlCol="0" anchor="ctr"/>
          <a:lstStyle/>
          <a:p>
            <a:pPr indent="0" marL="0">
              <a:buNone/>
            </a:pPr>
            <a:r>
              <a:rPr lang="en-US" sz="1400" dirty="0">
                <a:solidFill>
                  <a:schemeClr val="bg2"/>
                </a:solidFill>
              </a:rPr>
              <a:t>Group near-duplicates before splitting for a stricter evaluation</a:t>
            </a:r>
            <a:endParaRPr lang="en-US" sz="1400" dirty="0"/>
          </a:p>
        </p:txBody>
      </p:sp>
      <p:sp>
        <p:nvSpPr>
          <p:cNvPr id="20" name="Future 4"/>
          <p:cNvSpPr/>
          <p:nvPr/>
        </p:nvSpPr>
        <p:spPr>
          <a:xfrm>
            <a:off x="548640" y="4361688"/>
            <a:ext cx="11109960" cy="841248"/>
          </a:xfrm>
          <a:prstGeom prst="roundRect">
            <a:avLst>
              <a:gd name="adj" fmla="val 13043"/>
            </a:avLst>
          </a:prstGeom>
          <a:solidFill>
            <a:schemeClr val="tx2"/>
          </a:solidFill>
          <a:ln w="9525">
            <a:solidFill>
              <a:srgbClr val="24396B"/>
            </a:solidFill>
            <a:prstDash val="solid"/>
          </a:ln>
        </p:spPr>
      </p:sp>
      <p:sp>
        <p:nvSpPr>
          <p:cNvPr id="21" name="Shape 15"/>
          <p:cNvSpPr/>
          <p:nvPr/>
        </p:nvSpPr>
        <p:spPr>
          <a:xfrm>
            <a:off x="777240" y="4498848"/>
            <a:ext cx="566928" cy="566928"/>
          </a:xfrm>
          <a:prstGeom prst="ellipse">
            <a:avLst/>
          </a:prstGeom>
          <a:solidFill>
            <a:schemeClr val="accent2"/>
          </a:solidFill>
          <a:ln/>
        </p:spPr>
      </p:sp>
      <p:pic>
        <p:nvPicPr>
          <p:cNvPr id="22" name="Image 3" descr="preencoded.png">    </p:cNvPr>
          <p:cNvPicPr>
            <a:picLocks noChangeAspect="1"/>
          </p:cNvPicPr>
          <p:nvPr/>
        </p:nvPicPr>
        <p:blipFill>
          <a:blip r:embed="rId4"/>
          <a:stretch>
            <a:fillRect/>
          </a:stretch>
        </p:blipFill>
        <p:spPr>
          <a:xfrm>
            <a:off x="901964" y="4623572"/>
            <a:ext cx="317480" cy="317480"/>
          </a:xfrm>
          <a:prstGeom prst="rect">
            <a:avLst/>
          </a:prstGeom>
        </p:spPr>
      </p:pic>
      <p:sp>
        <p:nvSpPr>
          <p:cNvPr id="23" name="Text 16"/>
          <p:cNvSpPr txBox="1"/>
          <p:nvPr/>
        </p:nvSpPr>
        <p:spPr>
          <a:xfrm>
            <a:off x="1645920" y="4453128"/>
            <a:ext cx="3840480" cy="658368"/>
          </a:xfrm>
          <a:prstGeom prst="rect">
            <a:avLst/>
          </a:prstGeom>
          <a:noFill/>
          <a:ln/>
        </p:spPr>
        <p:txBody>
          <a:bodyPr wrap="square" lIns="0" tIns="0" rIns="0" bIns="0" rtlCol="0" anchor="ctr"/>
          <a:lstStyle/>
          <a:p>
            <a:pPr indent="0" marL="0">
              <a:buNone/>
            </a:pPr>
            <a:r>
              <a:rPr lang="en-US" sz="1800" b="1" dirty="0">
                <a:solidFill>
                  <a:schemeClr val="bg1"/>
                </a:solidFill>
              </a:rPr>
              <a:t>Transfer learning</a:t>
            </a:r>
            <a:endParaRPr lang="en-US" sz="1800" dirty="0"/>
          </a:p>
        </p:txBody>
      </p:sp>
      <p:sp>
        <p:nvSpPr>
          <p:cNvPr id="24" name="Text 17"/>
          <p:cNvSpPr txBox="1"/>
          <p:nvPr/>
        </p:nvSpPr>
        <p:spPr>
          <a:xfrm>
            <a:off x="5577840" y="4453128"/>
            <a:ext cx="5852160" cy="658368"/>
          </a:xfrm>
          <a:prstGeom prst="rect">
            <a:avLst/>
          </a:prstGeom>
          <a:noFill/>
          <a:ln/>
        </p:spPr>
        <p:txBody>
          <a:bodyPr wrap="square" lIns="0" tIns="0" rIns="0" bIns="0" rtlCol="0" anchor="ctr"/>
          <a:lstStyle/>
          <a:p>
            <a:pPr indent="0" marL="0">
              <a:buNone/>
            </a:pPr>
            <a:r>
              <a:rPr lang="en-US" sz="1400" dirty="0">
                <a:solidFill>
                  <a:schemeClr val="bg2"/>
                </a:solidFill>
              </a:rPr>
              <a:t>Try a pretrained CNN if external performance needs improvement</a:t>
            </a:r>
            <a:endParaRPr lang="en-US" sz="1400" dirty="0"/>
          </a:p>
        </p:txBody>
      </p:sp>
      <p:sp>
        <p:nvSpPr>
          <p:cNvPr id="25" name="Future 5"/>
          <p:cNvSpPr/>
          <p:nvPr/>
        </p:nvSpPr>
        <p:spPr>
          <a:xfrm>
            <a:off x="548640" y="5312664"/>
            <a:ext cx="11109960" cy="841248"/>
          </a:xfrm>
          <a:prstGeom prst="roundRect">
            <a:avLst>
              <a:gd name="adj" fmla="val 13043"/>
            </a:avLst>
          </a:prstGeom>
          <a:solidFill>
            <a:schemeClr val="tx2"/>
          </a:solidFill>
          <a:ln w="9525">
            <a:solidFill>
              <a:srgbClr val="24396B"/>
            </a:solidFill>
            <a:prstDash val="solid"/>
          </a:ln>
        </p:spPr>
      </p:sp>
      <p:sp>
        <p:nvSpPr>
          <p:cNvPr id="26" name="Shape 19"/>
          <p:cNvSpPr/>
          <p:nvPr/>
        </p:nvSpPr>
        <p:spPr>
          <a:xfrm>
            <a:off x="777240" y="5449824"/>
            <a:ext cx="566928" cy="566928"/>
          </a:xfrm>
          <a:prstGeom prst="ellipse">
            <a:avLst/>
          </a:prstGeom>
          <a:solidFill>
            <a:schemeClr val="accent1"/>
          </a:solidFill>
          <a:ln/>
        </p:spPr>
      </p:sp>
      <p:pic>
        <p:nvPicPr>
          <p:cNvPr id="27" name="Image 4" descr="preencoded.png">    </p:cNvPr>
          <p:cNvPicPr>
            <a:picLocks noChangeAspect="1"/>
          </p:cNvPicPr>
          <p:nvPr/>
        </p:nvPicPr>
        <p:blipFill>
          <a:blip r:embed="rId5"/>
          <a:stretch>
            <a:fillRect/>
          </a:stretch>
        </p:blipFill>
        <p:spPr>
          <a:xfrm>
            <a:off x="901964" y="5574548"/>
            <a:ext cx="317480" cy="317480"/>
          </a:xfrm>
          <a:prstGeom prst="rect">
            <a:avLst/>
          </a:prstGeom>
        </p:spPr>
      </p:pic>
      <p:sp>
        <p:nvSpPr>
          <p:cNvPr id="28" name="Text 20"/>
          <p:cNvSpPr txBox="1"/>
          <p:nvPr/>
        </p:nvSpPr>
        <p:spPr>
          <a:xfrm>
            <a:off x="1645920" y="5404104"/>
            <a:ext cx="3840480" cy="658368"/>
          </a:xfrm>
          <a:prstGeom prst="rect">
            <a:avLst/>
          </a:prstGeom>
          <a:noFill/>
          <a:ln/>
        </p:spPr>
        <p:txBody>
          <a:bodyPr wrap="square" lIns="0" tIns="0" rIns="0" bIns="0" rtlCol="0" anchor="ctr"/>
          <a:lstStyle/>
          <a:p>
            <a:pPr indent="0" marL="0">
              <a:buNone/>
            </a:pPr>
            <a:r>
              <a:rPr lang="en-US" sz="1800" b="1" dirty="0">
                <a:solidFill>
                  <a:schemeClr val="bg1"/>
                </a:solidFill>
              </a:rPr>
              <a:t>Interactive application</a:t>
            </a:r>
            <a:endParaRPr lang="en-US" sz="1800" dirty="0"/>
          </a:p>
        </p:txBody>
      </p:sp>
      <p:sp>
        <p:nvSpPr>
          <p:cNvPr id="29" name="Text 21"/>
          <p:cNvSpPr txBox="1"/>
          <p:nvPr/>
        </p:nvSpPr>
        <p:spPr>
          <a:xfrm>
            <a:off x="5577840" y="5404104"/>
            <a:ext cx="5852160" cy="658368"/>
          </a:xfrm>
          <a:prstGeom prst="rect">
            <a:avLst/>
          </a:prstGeom>
          <a:noFill/>
          <a:ln/>
        </p:spPr>
        <p:txBody>
          <a:bodyPr wrap="square" lIns="0" tIns="0" rIns="0" bIns="0" rtlCol="0" anchor="ctr"/>
          <a:lstStyle/>
          <a:p>
            <a:pPr indent="0" marL="0">
              <a:buNone/>
            </a:pPr>
            <a:r>
              <a:rPr lang="en-US" sz="1400" dirty="0">
                <a:solidFill>
                  <a:schemeClr val="bg2"/>
                </a:solidFill>
              </a:rPr>
              <a:t>A simple app for uploading a logo and viewing top predictions</a:t>
            </a:r>
            <a:endParaRPr lang="en-US" sz="1400" dirty="0"/>
          </a:p>
        </p:txBody>
      </p:sp>
      <p:sp>
        <p:nvSpPr>
          <p:cNvPr id="30" name="Text 22"/>
          <p:cNvSpPr txBox="1"/>
          <p:nvPr/>
        </p:nvSpPr>
        <p:spPr>
          <a:xfrm>
            <a:off x="548640" y="6172200"/>
            <a:ext cx="10972800" cy="228600"/>
          </a:xfrm>
          <a:prstGeom prst="rect">
            <a:avLst/>
          </a:prstGeom>
          <a:noFill/>
          <a:ln/>
        </p:spPr>
        <p:txBody>
          <a:bodyPr wrap="square" lIns="0" tIns="0" rIns="0" bIns="0" rtlCol="0" anchor="t"/>
          <a:lstStyle/>
          <a:p>
            <a:pPr indent="0" marL="0">
              <a:buNone/>
            </a:pPr>
            <a:r>
              <a:rPr lang="en-US" sz="1100" dirty="0">
                <a:solidFill>
                  <a:schemeClr val="bg2"/>
                </a:solidFill>
              </a:rPr>
              <a:t>Proposed work only; none of it is implemented in the notebook.</a:t>
            </a:r>
            <a:endParaRPr lang="en-US" sz="11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566928"/>
            <a:ext cx="11064240" cy="685800"/>
          </a:xfrm>
          <a:prstGeom prst="rect">
            <a:avLst/>
          </a:prstGeom>
          <a:noFill/>
          <a:ln/>
        </p:spPr>
        <p:txBody>
          <a:bodyPr wrap="square" lIns="0" tIns="0" rIns="0" bIns="0" rtlCol="0" anchor="ctr"/>
          <a:lstStyle/>
          <a:p>
            <a:pPr algn="l" indent="0" marL="0">
              <a:buNone/>
            </a:pPr>
            <a:r>
              <a:rPr lang="en-US" sz="3200" b="1" dirty="0">
                <a:solidFill>
                  <a:schemeClr val="bg1"/>
                </a:solidFill>
              </a:rPr>
              <a:t>Conclusion</a:t>
            </a:r>
            <a:endParaRPr lang="en-US" sz="3200" dirty="0"/>
          </a:p>
        </p:txBody>
      </p:sp>
      <p:sp>
        <p:nvSpPr>
          <p:cNvPr id="3" name="Section tag"/>
          <p:cNvSpPr txBox="1"/>
          <p:nvPr/>
        </p:nvSpPr>
        <p:spPr>
          <a:xfrm>
            <a:off x="548640" y="292608"/>
            <a:ext cx="7315200" cy="256032"/>
          </a:xfrm>
          <a:prstGeom prst="rect">
            <a:avLst/>
          </a:prstGeom>
          <a:noFill/>
          <a:ln/>
        </p:spPr>
        <p:txBody>
          <a:bodyPr wrap="square" lIns="0" tIns="0" rIns="0" bIns="0" rtlCol="0" anchor="ctr"/>
          <a:lstStyle/>
          <a:p>
            <a:pPr indent="0" marL="0">
              <a:buNone/>
            </a:pPr>
            <a:r>
              <a:rPr lang="en-US" sz="1200" b="1" spc="400" kern="0" dirty="0">
                <a:solidFill>
                  <a:schemeClr val="accent1"/>
                </a:solidFill>
              </a:rPr>
              <a:t>SUMMARY</a:t>
            </a:r>
            <a:endParaRPr lang="en-US" sz="1200" dirty="0"/>
          </a:p>
        </p:txBody>
      </p:sp>
      <p:sp>
        <p:nvSpPr>
          <p:cNvPr id="5" name="Summary Built"/>
          <p:cNvSpPr/>
          <p:nvPr/>
        </p:nvSpPr>
        <p:spPr>
          <a:xfrm>
            <a:off x="548640" y="1554480"/>
            <a:ext cx="3566160" cy="3657600"/>
          </a:xfrm>
          <a:prstGeom prst="roundRect">
            <a:avLst>
              <a:gd name="adj" fmla="val 3077"/>
            </a:avLst>
          </a:prstGeom>
          <a:solidFill>
            <a:schemeClr val="tx2"/>
          </a:solidFill>
          <a:ln w="9525">
            <a:solidFill>
              <a:srgbClr val="24396B"/>
            </a:solidFill>
            <a:prstDash val="solid"/>
          </a:ln>
        </p:spPr>
      </p:sp>
      <p:sp>
        <p:nvSpPr>
          <p:cNvPr id="6" name="Shape 3"/>
          <p:cNvSpPr/>
          <p:nvPr/>
        </p:nvSpPr>
        <p:spPr>
          <a:xfrm>
            <a:off x="822960" y="1783080"/>
            <a:ext cx="594360" cy="594360"/>
          </a:xfrm>
          <a:prstGeom prst="ellipse">
            <a:avLst/>
          </a:prstGeom>
          <a:solidFill>
            <a:schemeClr val="accent2"/>
          </a:solidFill>
          <a:ln/>
        </p:spPr>
      </p:sp>
      <p:pic>
        <p:nvPicPr>
          <p:cNvPr id="7" name="Image 0" descr="preencoded.png">    </p:cNvPr>
          <p:cNvPicPr>
            <a:picLocks noChangeAspect="1"/>
          </p:cNvPicPr>
          <p:nvPr/>
        </p:nvPicPr>
        <p:blipFill>
          <a:blip r:embed="rId1"/>
          <a:stretch>
            <a:fillRect/>
          </a:stretch>
        </p:blipFill>
        <p:spPr>
          <a:xfrm>
            <a:off x="953719" y="1913839"/>
            <a:ext cx="332842" cy="332842"/>
          </a:xfrm>
          <a:prstGeom prst="rect">
            <a:avLst/>
          </a:prstGeom>
        </p:spPr>
      </p:pic>
      <p:sp>
        <p:nvSpPr>
          <p:cNvPr id="8" name="Text 4"/>
          <p:cNvSpPr txBox="1"/>
          <p:nvPr/>
        </p:nvSpPr>
        <p:spPr>
          <a:xfrm>
            <a:off x="1600200" y="1783080"/>
            <a:ext cx="2286000" cy="594360"/>
          </a:xfrm>
          <a:prstGeom prst="rect">
            <a:avLst/>
          </a:prstGeom>
          <a:noFill/>
          <a:ln/>
        </p:spPr>
        <p:txBody>
          <a:bodyPr wrap="square" lIns="0" tIns="0" rIns="0" bIns="0" rtlCol="0" anchor="ctr"/>
          <a:lstStyle/>
          <a:p>
            <a:pPr indent="0" marL="0">
              <a:buNone/>
            </a:pPr>
            <a:r>
              <a:rPr lang="en-US" sz="2400" b="1" dirty="0">
                <a:solidFill>
                  <a:schemeClr val="bg1"/>
                </a:solidFill>
              </a:rPr>
              <a:t>Built</a:t>
            </a:r>
            <a:endParaRPr lang="en-US" sz="2400" dirty="0"/>
          </a:p>
        </p:txBody>
      </p:sp>
      <p:sp>
        <p:nvSpPr>
          <p:cNvPr id="9" name="Text 5"/>
          <p:cNvSpPr txBox="1"/>
          <p:nvPr/>
        </p:nvSpPr>
        <p:spPr>
          <a:xfrm>
            <a:off x="822960" y="2651760"/>
            <a:ext cx="306324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Custom CNN: 3 conv blocks + dense head</a:t>
            </a:r>
            <a:endParaRPr lang="en-US" sz="1700" dirty="0"/>
          </a:p>
          <a:p>
            <a:pPr marL="342900" indent="-342900">
              <a:spcAft>
                <a:spcPts val="800"/>
              </a:spcAft>
              <a:buSzPct val="100000"/>
              <a:buChar char="•"/>
            </a:pPr>
            <a:r>
              <a:rPr lang="en-US" sz="1700" dirty="0">
                <a:solidFill>
                  <a:schemeClr val="bg1"/>
                </a:solidFill>
              </a:rPr>
              <a:t>112,340 parameters, 20-class softmax</a:t>
            </a:r>
            <a:endParaRPr lang="en-US" sz="1700" dirty="0"/>
          </a:p>
          <a:p>
            <a:pPr marL="342900" indent="-342900">
              <a:spcAft>
                <a:spcPts val="800"/>
              </a:spcAft>
              <a:buSzPct val="100000"/>
              <a:buChar char="•"/>
            </a:pPr>
            <a:r>
              <a:rPr lang="en-US" sz="1700" dirty="0">
                <a:solidFill>
                  <a:schemeClr val="bg1"/>
                </a:solidFill>
              </a:rPr>
              <a:t>Augmentation, 3 callbacks, 30 epochs</a:t>
            </a:r>
            <a:endParaRPr lang="en-US" sz="1700" dirty="0"/>
          </a:p>
        </p:txBody>
      </p:sp>
      <p:sp>
        <p:nvSpPr>
          <p:cNvPr id="10" name="Summary Verified"/>
          <p:cNvSpPr/>
          <p:nvPr/>
        </p:nvSpPr>
        <p:spPr>
          <a:xfrm>
            <a:off x="4297680" y="1554480"/>
            <a:ext cx="3566160" cy="3657600"/>
          </a:xfrm>
          <a:prstGeom prst="roundRect">
            <a:avLst>
              <a:gd name="adj" fmla="val 3077"/>
            </a:avLst>
          </a:prstGeom>
          <a:solidFill>
            <a:schemeClr val="tx2"/>
          </a:solidFill>
          <a:ln w="9525">
            <a:solidFill>
              <a:srgbClr val="24396B"/>
            </a:solidFill>
            <a:prstDash val="solid"/>
          </a:ln>
        </p:spPr>
      </p:sp>
      <p:sp>
        <p:nvSpPr>
          <p:cNvPr id="11" name="Shape 7"/>
          <p:cNvSpPr/>
          <p:nvPr/>
        </p:nvSpPr>
        <p:spPr>
          <a:xfrm>
            <a:off x="4572000" y="1783080"/>
            <a:ext cx="594360" cy="594360"/>
          </a:xfrm>
          <a:prstGeom prst="ellipse">
            <a:avLst/>
          </a:prstGeom>
          <a:solidFill>
            <a:schemeClr val="accent1"/>
          </a:solidFill>
          <a:ln/>
        </p:spPr>
      </p:sp>
      <p:pic>
        <p:nvPicPr>
          <p:cNvPr id="12" name="Image 1" descr="preencoded.png">    </p:cNvPr>
          <p:cNvPicPr>
            <a:picLocks noChangeAspect="1"/>
          </p:cNvPicPr>
          <p:nvPr/>
        </p:nvPicPr>
        <p:blipFill>
          <a:blip r:embed="rId2"/>
          <a:stretch>
            <a:fillRect/>
          </a:stretch>
        </p:blipFill>
        <p:spPr>
          <a:xfrm>
            <a:off x="4702759" y="1913839"/>
            <a:ext cx="332842" cy="332842"/>
          </a:xfrm>
          <a:prstGeom prst="rect">
            <a:avLst/>
          </a:prstGeom>
        </p:spPr>
      </p:pic>
      <p:sp>
        <p:nvSpPr>
          <p:cNvPr id="13" name="Text 8"/>
          <p:cNvSpPr txBox="1"/>
          <p:nvPr/>
        </p:nvSpPr>
        <p:spPr>
          <a:xfrm>
            <a:off x="5349240" y="1783080"/>
            <a:ext cx="2286000" cy="594360"/>
          </a:xfrm>
          <a:prstGeom prst="rect">
            <a:avLst/>
          </a:prstGeom>
          <a:noFill/>
          <a:ln/>
        </p:spPr>
        <p:txBody>
          <a:bodyPr wrap="square" lIns="0" tIns="0" rIns="0" bIns="0" rtlCol="0" anchor="ctr"/>
          <a:lstStyle/>
          <a:p>
            <a:pPr indent="0" marL="0">
              <a:buNone/>
            </a:pPr>
            <a:r>
              <a:rPr lang="en-US" sz="2400" b="1" dirty="0">
                <a:solidFill>
                  <a:schemeClr val="bg1"/>
                </a:solidFill>
              </a:rPr>
              <a:t>Verified</a:t>
            </a:r>
            <a:endParaRPr lang="en-US" sz="2400" dirty="0"/>
          </a:p>
        </p:txBody>
      </p:sp>
      <p:sp>
        <p:nvSpPr>
          <p:cNvPr id="14" name="Text 9"/>
          <p:cNvSpPr txBox="1"/>
          <p:nvPr/>
        </p:nvSpPr>
        <p:spPr>
          <a:xfrm>
            <a:off x="4572000" y="2651760"/>
            <a:ext cx="306324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Test accuracy 100% (300 / 300)</a:t>
            </a:r>
            <a:endParaRPr lang="en-US" sz="1700" dirty="0"/>
          </a:p>
          <a:p>
            <a:pPr marL="342900" indent="-342900">
              <a:spcAft>
                <a:spcPts val="800"/>
              </a:spcAft>
              <a:buSzPct val="100000"/>
              <a:buChar char="•"/>
            </a:pPr>
            <a:r>
              <a:rPr lang="en-US" sz="1700" dirty="0">
                <a:solidFill>
                  <a:schemeClr val="bg1"/>
                </a:solidFill>
              </a:rPr>
              <a:t>Test loss 0.000125</a:t>
            </a:r>
            <a:endParaRPr lang="en-US" sz="1700" dirty="0"/>
          </a:p>
          <a:p>
            <a:pPr marL="342900" indent="-342900">
              <a:spcAft>
                <a:spcPts val="800"/>
              </a:spcAft>
              <a:buSzPct val="100000"/>
              <a:buChar char="•"/>
            </a:pPr>
            <a:r>
              <a:rPr lang="en-US" sz="1700" dirty="0">
                <a:solidFill>
                  <a:schemeClr val="bg1"/>
                </a:solidFill>
              </a:rPr>
              <a:t>Perfect precision, recall, F1 on this split</a:t>
            </a:r>
            <a:endParaRPr lang="en-US" sz="1700" dirty="0"/>
          </a:p>
        </p:txBody>
      </p:sp>
      <p:sp>
        <p:nvSpPr>
          <p:cNvPr id="15" name="Summary Next"/>
          <p:cNvSpPr/>
          <p:nvPr/>
        </p:nvSpPr>
        <p:spPr>
          <a:xfrm>
            <a:off x="8046720" y="1554480"/>
            <a:ext cx="3566160" cy="3657600"/>
          </a:xfrm>
          <a:prstGeom prst="roundRect">
            <a:avLst>
              <a:gd name="adj" fmla="val 3077"/>
            </a:avLst>
          </a:prstGeom>
          <a:solidFill>
            <a:schemeClr val="tx2"/>
          </a:solidFill>
          <a:ln w="9525">
            <a:solidFill>
              <a:srgbClr val="24396B"/>
            </a:solidFill>
            <a:prstDash val="solid"/>
          </a:ln>
        </p:spPr>
      </p:sp>
      <p:sp>
        <p:nvSpPr>
          <p:cNvPr id="16" name="Shape 11"/>
          <p:cNvSpPr/>
          <p:nvPr/>
        </p:nvSpPr>
        <p:spPr>
          <a:xfrm>
            <a:off x="8321040" y="1783080"/>
            <a:ext cx="594360" cy="594360"/>
          </a:xfrm>
          <a:prstGeom prst="ellipse">
            <a:avLst/>
          </a:prstGeom>
          <a:solidFill>
            <a:schemeClr val="accent3"/>
          </a:solidFill>
          <a:ln/>
        </p:spPr>
      </p:sp>
      <p:pic>
        <p:nvPicPr>
          <p:cNvPr id="17" name="Image 2" descr="preencoded.png">    </p:cNvPr>
          <p:cNvPicPr>
            <a:picLocks noChangeAspect="1"/>
          </p:cNvPicPr>
          <p:nvPr/>
        </p:nvPicPr>
        <p:blipFill>
          <a:blip r:embed="rId3"/>
          <a:stretch>
            <a:fillRect/>
          </a:stretch>
        </p:blipFill>
        <p:spPr>
          <a:xfrm>
            <a:off x="8451799" y="1913839"/>
            <a:ext cx="332842" cy="332842"/>
          </a:xfrm>
          <a:prstGeom prst="rect">
            <a:avLst/>
          </a:prstGeom>
        </p:spPr>
      </p:pic>
      <p:sp>
        <p:nvSpPr>
          <p:cNvPr id="18" name="Text 12"/>
          <p:cNvSpPr txBox="1"/>
          <p:nvPr/>
        </p:nvSpPr>
        <p:spPr>
          <a:xfrm>
            <a:off x="9098280" y="1783080"/>
            <a:ext cx="2286000" cy="594360"/>
          </a:xfrm>
          <a:prstGeom prst="rect">
            <a:avLst/>
          </a:prstGeom>
          <a:noFill/>
          <a:ln/>
        </p:spPr>
        <p:txBody>
          <a:bodyPr wrap="square" lIns="0" tIns="0" rIns="0" bIns="0" rtlCol="0" anchor="ctr"/>
          <a:lstStyle/>
          <a:p>
            <a:pPr indent="0" marL="0">
              <a:buNone/>
            </a:pPr>
            <a:r>
              <a:rPr lang="en-US" sz="2400" b="1" dirty="0">
                <a:solidFill>
                  <a:schemeClr val="bg1"/>
                </a:solidFill>
              </a:rPr>
              <a:t>Next</a:t>
            </a:r>
            <a:endParaRPr lang="en-US" sz="2400" dirty="0"/>
          </a:p>
        </p:txBody>
      </p:sp>
      <p:sp>
        <p:nvSpPr>
          <p:cNvPr id="19" name="Text 13"/>
          <p:cNvSpPr txBox="1"/>
          <p:nvPr/>
        </p:nvSpPr>
        <p:spPr>
          <a:xfrm>
            <a:off x="8321040" y="2651760"/>
            <a:ext cx="306324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Test on truly external crests</a:t>
            </a:r>
            <a:endParaRPr lang="en-US" sz="1700" dirty="0"/>
          </a:p>
          <a:p>
            <a:pPr marL="342900" indent="-342900">
              <a:spcAft>
                <a:spcPts val="800"/>
              </a:spcAft>
              <a:buSzPct val="100000"/>
              <a:buChar char="•"/>
            </a:pPr>
            <a:r>
              <a:rPr lang="en-US" sz="1700" dirty="0">
                <a:solidFill>
                  <a:schemeClr val="bg1"/>
                </a:solidFill>
              </a:rPr>
              <a:t>Check near-duplicates across splits</a:t>
            </a:r>
            <a:endParaRPr lang="en-US" sz="1700" dirty="0"/>
          </a:p>
          <a:p>
            <a:pPr marL="342900" indent="-342900">
              <a:spcAft>
                <a:spcPts val="800"/>
              </a:spcAft>
              <a:buSzPct val="100000"/>
              <a:buChar char="•"/>
            </a:pPr>
            <a:r>
              <a:rPr lang="en-US" sz="1700" dirty="0">
                <a:solidFill>
                  <a:schemeClr val="bg1"/>
                </a:solidFill>
              </a:rPr>
              <a:t>Use grouped splits, then try transfer learning</a:t>
            </a:r>
            <a:endParaRPr lang="en-US" sz="1700" dirty="0"/>
          </a:p>
        </p:txBody>
      </p:sp>
      <p:sp>
        <p:nvSpPr>
          <p:cNvPr id="20" name="Text 14"/>
          <p:cNvSpPr txBox="1"/>
          <p:nvPr/>
        </p:nvSpPr>
        <p:spPr>
          <a:xfrm>
            <a:off x="548640" y="5440680"/>
            <a:ext cx="11064240" cy="731520"/>
          </a:xfrm>
          <a:prstGeom prst="rect">
            <a:avLst/>
          </a:prstGeom>
          <a:noFill/>
          <a:ln/>
        </p:spPr>
        <p:txBody>
          <a:bodyPr wrap="square" lIns="0" tIns="0" rIns="0" bIns="0" rtlCol="0" anchor="ctr"/>
          <a:lstStyle/>
          <a:p>
            <a:pPr indent="0" marL="0">
              <a:buNone/>
            </a:pPr>
            <a:r>
              <a:rPr lang="en-US" sz="1800" b="1" dirty="0">
                <a:solidFill>
                  <a:schemeClr val="accent1"/>
                </a:solidFill>
              </a:rPr>
              <a:t>Key lesson: </a:t>
            </a:r>
            <a:pPr indent="0" marL="0">
              <a:buNone/>
            </a:pPr>
            <a:r>
              <a:rPr lang="en-US" sz="1800" dirty="0">
                <a:solidFill>
                  <a:schemeClr val="bg1"/>
                </a:solidFill>
              </a:rPr>
              <a:t>a perfect test score confirms the pipeline works on this split. It does not prove the model will recognise every unseen crest.</a:t>
            </a:r>
            <a:endParaRPr lang="en-US" sz="1800" dirty="0"/>
          </a:p>
        </p:txBody>
      </p:sp>
      <p:sp>
        <p:nvSpPr>
          <p:cNvPr id="25" name="Slide Number Placeholder 0"/>
          <p:cNvSpPr>
            <a:spLocks noGrp="1"/>
          </p:cNvSpPr>
          <p:nvPr>
            <p:ph type="sldNum" sz="quarter" idx="4294967295"/>
          </p:nvPr>
        </p:nvSpPr>
        <p:spPr>
          <a:xfrm>
            <a:off x="1115568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9D6F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270248" y="822960"/>
            <a:ext cx="3657600" cy="3657600"/>
          </a:xfrm>
          <a:prstGeom prst="ellipse">
            <a:avLst/>
          </a:prstGeom>
          <a:ln w="25400">
            <a:solidFill>
              <a:srgbClr val="24396B"/>
            </a:solidFill>
            <a:prstDash val="solid"/>
          </a:ln>
        </p:spPr>
      </p:sp>
      <p:sp>
        <p:nvSpPr>
          <p:cNvPr id="3" name="Shape 1"/>
          <p:cNvSpPr/>
          <p:nvPr/>
        </p:nvSpPr>
        <p:spPr>
          <a:xfrm>
            <a:off x="0" y="2651760"/>
            <a:ext cx="12188952" cy="0"/>
          </a:xfrm>
          <a:prstGeom prst="line">
            <a:avLst/>
          </a:prstGeom>
          <a:noFill/>
          <a:ln w="25400">
            <a:solidFill>
              <a:srgbClr val="24396B"/>
            </a:solidFill>
            <a:prstDash val="solid"/>
          </a:ln>
        </p:spPr>
      </p:sp>
      <p:sp>
        <p:nvSpPr>
          <p:cNvPr id="4" name="Shape 2"/>
          <p:cNvSpPr/>
          <p:nvPr/>
        </p:nvSpPr>
        <p:spPr>
          <a:xfrm>
            <a:off x="5559552" y="2103120"/>
            <a:ext cx="1097280" cy="1097280"/>
          </a:xfrm>
          <a:prstGeom prst="ellipse">
            <a:avLst/>
          </a:prstGeom>
          <a:solidFill>
            <a:srgbClr val="22C55E"/>
          </a:solidFill>
          <a:ln/>
        </p:spPr>
      </p:sp>
      <p:pic>
        <p:nvPicPr>
          <p:cNvPr id="5" name="Image 0" descr="preencoded.png">    </p:cNvPr>
          <p:cNvPicPr>
            <a:picLocks noChangeAspect="1"/>
          </p:cNvPicPr>
          <p:nvPr/>
        </p:nvPicPr>
        <p:blipFill>
          <a:blip r:embed="rId1"/>
          <a:stretch>
            <a:fillRect/>
          </a:stretch>
        </p:blipFill>
        <p:spPr>
          <a:xfrm>
            <a:off x="5833872" y="2377440"/>
            <a:ext cx="548640" cy="548640"/>
          </a:xfrm>
          <a:prstGeom prst="rect">
            <a:avLst/>
          </a:prstGeom>
        </p:spPr>
      </p:pic>
      <p:sp>
        <p:nvSpPr>
          <p:cNvPr id="6" name="Text 3"/>
          <p:cNvSpPr txBox="1"/>
          <p:nvPr/>
        </p:nvSpPr>
        <p:spPr>
          <a:xfrm>
            <a:off x="0" y="4480560"/>
            <a:ext cx="12188952" cy="822960"/>
          </a:xfrm>
          <a:prstGeom prst="rect">
            <a:avLst/>
          </a:prstGeom>
          <a:noFill/>
          <a:ln/>
        </p:spPr>
        <p:txBody>
          <a:bodyPr wrap="square" lIns="0" tIns="0" rIns="0" bIns="0" rtlCol="0" anchor="ctr"/>
          <a:lstStyle/>
          <a:p>
            <a:pPr algn="ctr" indent="0" marL="0">
              <a:buNone/>
            </a:pPr>
            <a:r>
              <a:rPr lang="en-US" sz="4800" b="1" dirty="0">
                <a:solidFill>
                  <a:schemeClr val="bg1"/>
                </a:solidFill>
                <a:latin typeface="Cambria" pitchFamily="34" charset="0"/>
                <a:ea typeface="Cambria" pitchFamily="34" charset="-122"/>
                <a:cs typeface="Cambria" pitchFamily="34" charset="-120"/>
              </a:rPr>
              <a:t>Thank You</a:t>
            </a:r>
            <a:endParaRPr lang="en-US" sz="4800" dirty="0"/>
          </a:p>
        </p:txBody>
      </p:sp>
      <p:sp>
        <p:nvSpPr>
          <p:cNvPr id="7" name="Text 4"/>
          <p:cNvSpPr txBox="1"/>
          <p:nvPr/>
        </p:nvSpPr>
        <p:spPr>
          <a:xfrm>
            <a:off x="0" y="5303520"/>
            <a:ext cx="12188952" cy="457200"/>
          </a:xfrm>
          <a:prstGeom prst="rect">
            <a:avLst/>
          </a:prstGeom>
          <a:noFill/>
          <a:ln/>
        </p:spPr>
        <p:txBody>
          <a:bodyPr wrap="square" lIns="0" tIns="0" rIns="0" bIns="0" rtlCol="0" anchor="ctr"/>
          <a:lstStyle/>
          <a:p>
            <a:pPr algn="ctr" indent="0" marL="0">
              <a:buNone/>
            </a:pPr>
            <a:r>
              <a:rPr lang="en-US" sz="2200" dirty="0">
                <a:solidFill>
                  <a:schemeClr val="bg2"/>
                </a:solidFill>
              </a:rPr>
              <a:t>Questions &amp; Discussion</a:t>
            </a:r>
            <a:endParaRPr lang="en-US" sz="2200" dirty="0"/>
          </a:p>
        </p:txBody>
      </p:sp>
      <p:sp>
        <p:nvSpPr>
          <p:cNvPr id="8" name="Text 5"/>
          <p:cNvSpPr txBox="1"/>
          <p:nvPr/>
        </p:nvSpPr>
        <p:spPr>
          <a:xfrm>
            <a:off x="0" y="5943600"/>
            <a:ext cx="12188952" cy="365760"/>
          </a:xfrm>
          <a:prstGeom prst="rect">
            <a:avLst/>
          </a:prstGeom>
          <a:noFill/>
          <a:ln/>
        </p:spPr>
        <p:txBody>
          <a:bodyPr wrap="square" lIns="0" tIns="0" rIns="0" bIns="0" rtlCol="0" anchor="ctr"/>
          <a:lstStyle/>
          <a:p>
            <a:pPr algn="ctr" indent="0" marL="0">
              <a:buNone/>
            </a:pPr>
            <a:r>
              <a:rPr lang="en-US" sz="1400" dirty="0">
                <a:solidFill>
                  <a:schemeClr val="accent1"/>
                </a:solidFill>
              </a:rPr>
              <a:t>LaLigaVision  |  CNN-Based Football Club Logo Classification</a:t>
            </a:r>
            <a:endParaRPr lang="en-US" sz="1400" dirty="0"/>
          </a:p>
        </p:txBody>
      </p:sp>
    </p:spTree>
  </p:cSld>
  <p:clrMapOvr>
    <a:masterClrMapping/>
  </p:clrMapOvr>
</p:sld>
</file>

<file path=ppt/theme/theme1.xml><?xml version="1.0" encoding="utf-8"?>
<a:theme xmlns:a="http://schemas.openxmlformats.org/drawingml/2006/main" name="LaLigaVision">
  <a:themeElements>
    <a:clrScheme name="LaLigaVision">
      <a:dk1>
        <a:srgbClr val="0B1530"/>
      </a:dk1>
      <a:lt1>
        <a:srgbClr val="FFFFFF"/>
      </a:lt1>
      <a:dk2>
        <a:srgbClr val="14234A"/>
      </a:dk2>
      <a:lt2>
        <a:srgbClr val="C9D6F2"/>
      </a:lt2>
      <a:accent1>
        <a:srgbClr val="22C55E"/>
      </a:accent1>
      <a:accent2>
        <a:srgbClr val="3B82F6"/>
      </a:accent2>
      <a:accent3>
        <a:srgbClr val="F59E0B"/>
      </a:accent3>
      <a:accent4>
        <a:srgbClr val="EF4444"/>
      </a:accent4>
      <a:accent5>
        <a:srgbClr val="8B5CF6"/>
      </a:accent5>
      <a:accent6>
        <a:srgbClr val="06B6D4"/>
      </a:accent6>
      <a:hlink>
        <a:srgbClr val="3B82F6"/>
      </a:hlink>
      <a:folHlink>
        <a:srgbClr val="8B5CF6"/>
      </a:folHlink>
    </a:clrScheme>
    <a:fontScheme name="LaLigaVis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LaLigaVision — CNN-Based Football Club Logo Classification</dc:title>
  <dc:subject>PptxGenJS Presentation</dc:subject>
  <dc:creator>LaLigaVision Project</dc:creator>
  <cp:lastModifiedBy>LaLigaVision Project</cp:lastModifiedBy>
  <cp:revision>1</cp:revision>
  <dcterms:created xsi:type="dcterms:W3CDTF">2026-10-20T11:59:24Z</dcterms:created>
  <dcterms:modified xsi:type="dcterms:W3CDTF">2026-10-20T11:59:24Z</dcterms:modified>
</cp:coreProperties>
</file>